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3749040"/>
            <a:ext cx="4937760" cy="4937760"/>
          </a:xfrm>
          <a:prstGeom prst="ellipse">
            <a:avLst/>
          </a:prstGeom>
          <a:solidFill>
            <a:srgbClr val="138A72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051560"/>
            <a:ext cx="1280160" cy="457200"/>
          </a:xfrm>
          <a:prstGeom prst="roundRect">
            <a:avLst>
              <a:gd name="adj" fmla="val 14000"/>
            </a:avLst>
          </a:prstGeom>
          <a:solidFill>
            <a:srgbClr val="E07B3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051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051560"/>
            <a:ext cx="1280160" cy="457200"/>
          </a:xfrm>
          <a:prstGeom prst="roundRect">
            <a:avLst>
              <a:gd name="adj" fmla="val 14000"/>
            </a:avLst>
          </a:prstGeom>
          <a:solidFill>
            <a:srgbClr val="138A72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051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03320" y="1051560"/>
            <a:ext cx="1280160" cy="457200"/>
          </a:xfrm>
          <a:prstGeom prst="roundRect">
            <a:avLst>
              <a:gd name="adj" fmla="val 14000"/>
            </a:avLst>
          </a:prstGeom>
          <a:solidFill>
            <a:srgbClr val="7B5EA7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1051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Recurrent Neural Networks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822960" y="30632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RNN, LSTM &amp; GRU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868680" y="4206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sequence models — from intuition to the gate equations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79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visual guide  •  40+ slides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19072"/>
            <a:ext cx="457200" cy="45720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sequences?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197510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and the limits of feedforward nets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424160" y="1682496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5DA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40080" y="2487168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2651760"/>
            <a:ext cx="457200" cy="45720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2578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Recurrent Neural Networks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00200" y="29077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unrolling, BPTT &amp; the gradient problem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424160" y="261518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5DA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0080" y="3419856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584448"/>
            <a:ext cx="457200" cy="457200"/>
          </a:xfrm>
          <a:prstGeom prst="ellipse">
            <a:avLst/>
          </a:prstGeom>
          <a:solidFill>
            <a:srgbClr val="138A72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584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351129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Short-Term Memory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00200" y="3840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 state and its three gates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424160" y="354787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5DA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640080" y="4352544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68680" y="4517136"/>
            <a:ext cx="457200" cy="457200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517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00200" y="44439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Gated Recurrent Unit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600200" y="477316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lighter gating: update &amp; reset gates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424160" y="44805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5DA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640080" y="5285232"/>
            <a:ext cx="10881360" cy="786384"/>
          </a:xfrm>
          <a:prstGeom prst="roundRect">
            <a:avLst>
              <a:gd name="adj" fmla="val 10465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8680" y="54498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449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600200" y="5376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&amp; applications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600200" y="570585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which, plus practical tips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424160" y="541324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D5DA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3840480" cy="3840480"/>
          </a:xfrm>
          <a:prstGeom prst="ellipse">
            <a:avLst/>
          </a:prstGeom>
          <a:solidFill>
            <a:srgbClr val="E07B3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297680"/>
            <a:ext cx="4206240" cy="4206240"/>
          </a:xfrm>
          <a:prstGeom prst="ellipse">
            <a:avLst/>
          </a:prstGeom>
          <a:solidFill>
            <a:srgbClr val="E07B39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Sequences?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39776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for models that remember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data is everywhere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47088"/>
            <a:ext cx="731520" cy="731520"/>
          </a:xfrm>
          <a:prstGeom prst="ellipse">
            <a:avLst/>
          </a:prstGeom>
          <a:solidFill>
            <a:srgbClr val="E07B39">
              <a:alpha val="1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4708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18653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28800" y="226771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clouds are in the ___ ”  — order and context decide the next word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2120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847088"/>
            <a:ext cx="731520" cy="731520"/>
          </a:xfrm>
          <a:prstGeom prst="ellipse">
            <a:avLst/>
          </a:prstGeom>
          <a:solidFill>
            <a:srgbClr val="E07B39">
              <a:alpha val="16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4708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♪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0" y="18653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 &amp; audio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0" y="226771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waveform is a signal that unfolds over time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2120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995928"/>
            <a:ext cx="731520" cy="731520"/>
          </a:xfrm>
          <a:prstGeom prst="ellipse">
            <a:avLst/>
          </a:prstGeom>
          <a:solidFill>
            <a:srgbClr val="E07B39">
              <a:alpha val="1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9959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∿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401421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series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828800" y="441655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prices, weather, sensor readings, ECG signals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3703320"/>
            <a:ext cx="521208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995928"/>
            <a:ext cx="731520" cy="731520"/>
          </a:xfrm>
          <a:prstGeom prst="ellipse">
            <a:avLst/>
          </a:prstGeom>
          <a:solidFill>
            <a:srgbClr val="E07B39">
              <a:alpha val="1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9959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▶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15200" y="401421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15200" y="441655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of frames where each depends on the last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thread: the order of inputs carries meaning, and each element depends on what came before.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a plain feedforward network?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Feedforward / CNN limits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input and output — but sequences vary in length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memory: each input is processed independently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share what it learns across positions in the sequence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order is ignored — “dog bites man” = “man bites dog”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8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actually need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variable-length input and output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 that carries context forward in time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same weights across every time step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to order and long-range dependencies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This is exactly what a Recurrent Neural Network is designed to do.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3840480" cy="3840480"/>
          </a:xfrm>
          <a:prstGeom prst="ellipse">
            <a:avLst/>
          </a:prstGeom>
          <a:solidFill>
            <a:srgbClr val="E07B3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297680"/>
            <a:ext cx="4206240" cy="4206240"/>
          </a:xfrm>
          <a:prstGeom prst="ellipse">
            <a:avLst/>
          </a:prstGeom>
          <a:solidFill>
            <a:srgbClr val="E07B39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Recurrent Neural Networks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39776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that lets information persist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idea: a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RNN processes a sequence one element at a time.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step it combines the current input with a hidden state — its memory of everything seen so far.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weights are reused at every time step (weight sharing).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state is fed back into the network — the “recurrent” loop.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55280" y="2560320"/>
            <a:ext cx="1645920" cy="1097280"/>
          </a:xfrm>
          <a:prstGeom prst="roundRect">
            <a:avLst>
              <a:gd name="adj" fmla="val 5833"/>
            </a:avLst>
          </a:prstGeom>
          <a:solidFill>
            <a:srgbClr val="E07B39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0" y="25603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01200" y="2834640"/>
            <a:ext cx="1005840" cy="0"/>
          </a:xfrm>
          <a:prstGeom prst="line">
            <a:avLst/>
          </a:prstGeom>
          <a:noFill/>
          <a:ln w="25400">
            <a:solidFill>
              <a:srgbClr val="5B668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0" y="2834640"/>
            <a:ext cx="0" cy="914400"/>
          </a:xfrm>
          <a:prstGeom prst="line">
            <a:avLst/>
          </a:prstGeom>
          <a:noFill/>
          <a:ln w="25400">
            <a:solidFill>
              <a:srgbClr val="5B668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3749040"/>
            <a:ext cx="1828800" cy="0"/>
          </a:xfrm>
          <a:prstGeom prst="line">
            <a:avLst/>
          </a:prstGeom>
          <a:noFill/>
          <a:ln w="2540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778240" y="3749040"/>
            <a:ext cx="0" cy="-91440"/>
          </a:xfrm>
          <a:prstGeom prst="line">
            <a:avLst/>
          </a:prstGeom>
          <a:noFill/>
          <a:ln w="25400">
            <a:solidFill>
              <a:srgbClr val="5B66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0" y="3108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(memory)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78240" y="5029200"/>
            <a:ext cx="0" cy="-822960"/>
          </a:xfrm>
          <a:prstGeom prst="line">
            <a:avLst/>
          </a:prstGeom>
          <a:noFill/>
          <a:ln w="25400">
            <a:solidFill>
              <a:srgbClr val="E07B3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863840" y="5074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xₜ  input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78240" y="1737360"/>
            <a:ext cx="0" cy="822960"/>
          </a:xfrm>
          <a:prstGeom prst="line">
            <a:avLst/>
          </a:prstGeom>
          <a:noFill/>
          <a:ln w="25400">
            <a:solidFill>
              <a:srgbClr val="E07B39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86384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yₜ  output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Unrolling the loop through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cell, drawn once per time step — reveals how information flows left to right.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" y="33832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6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" y="3611880"/>
            <a:ext cx="228600" cy="0"/>
          </a:xfrm>
          <a:prstGeom prst="line">
            <a:avLst/>
          </a:prstGeom>
          <a:noFill/>
          <a:ln w="2540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234440" y="3108960"/>
            <a:ext cx="1371600" cy="1005840"/>
          </a:xfrm>
          <a:prstGeom prst="roundRect">
            <a:avLst>
              <a:gd name="adj" fmla="val 6364"/>
            </a:avLst>
          </a:prstGeom>
          <a:solidFill>
            <a:srgbClr val="E07B39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310896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06040" y="3611880"/>
            <a:ext cx="960120" cy="0"/>
          </a:xfrm>
          <a:prstGeom prst="line">
            <a:avLst/>
          </a:prstGeom>
          <a:noFill/>
          <a:ln w="3175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606040" y="322783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417320" y="4754880"/>
            <a:ext cx="1005840" cy="502920"/>
          </a:xfrm>
          <a:prstGeom prst="roundRect">
            <a:avLst>
              <a:gd name="adj" fmla="val 1272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47548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xₜ₋₁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20240" y="4754880"/>
            <a:ext cx="0" cy="-64008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417320" y="1965960"/>
            <a:ext cx="1005840" cy="502920"/>
          </a:xfrm>
          <a:prstGeom prst="roundRect">
            <a:avLst>
              <a:gd name="adj" fmla="val 12727"/>
            </a:avLst>
          </a:prstGeom>
          <a:solidFill>
            <a:srgbClr val="E07B39"/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19659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yₜ₋₁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920240" y="3108960"/>
            <a:ext cx="0" cy="-502920"/>
          </a:xfrm>
          <a:prstGeom prst="line">
            <a:avLst/>
          </a:prstGeom>
          <a:noFill/>
          <a:ln w="25400">
            <a:solidFill>
              <a:srgbClr val="E07B3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566160" y="3108960"/>
            <a:ext cx="1371600" cy="1005840"/>
          </a:xfrm>
          <a:prstGeom prst="roundRect">
            <a:avLst>
              <a:gd name="adj" fmla="val 6364"/>
            </a:avLst>
          </a:prstGeom>
          <a:solidFill>
            <a:srgbClr val="E07B39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310896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937760" y="3611880"/>
            <a:ext cx="960120" cy="0"/>
          </a:xfrm>
          <a:prstGeom prst="line">
            <a:avLst/>
          </a:prstGeom>
          <a:noFill/>
          <a:ln w="3175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937760" y="322783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49040" y="4754880"/>
            <a:ext cx="1005840" cy="502920"/>
          </a:xfrm>
          <a:prstGeom prst="roundRect">
            <a:avLst>
              <a:gd name="adj" fmla="val 12727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3749040" y="47548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51960" y="4754880"/>
            <a:ext cx="0" cy="-64008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749040" y="1965960"/>
            <a:ext cx="1005840" cy="502920"/>
          </a:xfrm>
          <a:prstGeom prst="roundRect">
            <a:avLst>
              <a:gd name="adj" fmla="val 12727"/>
            </a:avLst>
          </a:prstGeom>
          <a:solidFill>
            <a:srgbClr val="E07B39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0" y="19659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yₜ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251960" y="3108960"/>
            <a:ext cx="0" cy="-502920"/>
          </a:xfrm>
          <a:prstGeom prst="line">
            <a:avLst/>
          </a:prstGeom>
          <a:noFill/>
          <a:ln w="25400">
            <a:solidFill>
              <a:srgbClr val="E07B3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897880" y="3108960"/>
            <a:ext cx="1371600" cy="1005840"/>
          </a:xfrm>
          <a:prstGeom prst="roundRect">
            <a:avLst>
              <a:gd name="adj" fmla="val 6364"/>
            </a:avLst>
          </a:prstGeom>
          <a:solidFill>
            <a:srgbClr val="E07B39"/>
          </a:solidFill>
          <a:ln/>
        </p:spPr>
      </p:sp>
      <p:sp>
        <p:nvSpPr>
          <p:cNvPr id="28" name="Text 26"/>
          <p:cNvSpPr/>
          <p:nvPr/>
        </p:nvSpPr>
        <p:spPr>
          <a:xfrm>
            <a:off x="5897880" y="310896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080760" y="4754880"/>
            <a:ext cx="1005840" cy="502920"/>
          </a:xfrm>
          <a:prstGeom prst="roundRect">
            <a:avLst>
              <a:gd name="adj" fmla="val 12727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080760" y="47548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xₜ₊₁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83680" y="4754880"/>
            <a:ext cx="0" cy="-64008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080760" y="1965960"/>
            <a:ext cx="1005840" cy="502920"/>
          </a:xfrm>
          <a:prstGeom prst="roundRect">
            <a:avLst>
              <a:gd name="adj" fmla="val 12727"/>
            </a:avLst>
          </a:prstGeom>
          <a:solidFill>
            <a:srgbClr val="E07B39"/>
          </a:solidFill>
          <a:ln/>
        </p:spPr>
      </p:sp>
      <p:sp>
        <p:nvSpPr>
          <p:cNvPr id="33" name="Text 31"/>
          <p:cNvSpPr/>
          <p:nvPr/>
        </p:nvSpPr>
        <p:spPr>
          <a:xfrm>
            <a:off x="6080760" y="19659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yₜ₊₁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83680" y="3108960"/>
            <a:ext cx="0" cy="-502920"/>
          </a:xfrm>
          <a:prstGeom prst="line">
            <a:avLst/>
          </a:prstGeom>
          <a:noFill/>
          <a:ln w="25400">
            <a:solidFill>
              <a:srgbClr val="E07B3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269480" y="3611880"/>
            <a:ext cx="457200" cy="0"/>
          </a:xfrm>
          <a:prstGeom prst="line">
            <a:avLst/>
          </a:prstGeom>
          <a:noFill/>
          <a:ln w="2540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7726680" y="3337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B66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“A” shares the same weights. The horizontal arrows carry the hidden state — the network's memory.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math of a vanilla RNN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time step t, two equations are computed: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 w="15875">
            <a:solidFill>
              <a:srgbClr val="E07B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48840"/>
            <a:ext cx="10241280" cy="651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hₜ  =  tanh( W𝐡𝐡 · hₜ₋₁  +  W𝐱𝐡 · xₜ  +  b𝐡 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727198"/>
            <a:ext cx="10241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state: blends previous memory hₜ₋₁ with the new input xₜ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 w="15875">
            <a:solidFill>
              <a:srgbClr val="E07B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429000"/>
            <a:ext cx="10241280" cy="651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yₜ  =  W𝐡𝐲 · hₜ  +  b𝐲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4007358"/>
            <a:ext cx="10241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read-out from the current hidden state (a softmax is often applied on top)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4754880"/>
            <a:ext cx="10515600" cy="1417320"/>
          </a:xfrm>
          <a:prstGeom prst="roundRect">
            <a:avLst>
              <a:gd name="adj" fmla="val 5806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48646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521208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 hidden state / memory     </a:t>
            </a:r>
            <a:pPr indent="0" marL="0">
              <a:buNone/>
            </a:pPr>
            <a:r>
              <a:rPr lang="en-US" sz="13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xₜ  input at step t     </a:t>
            </a:r>
            <a:pPr indent="0" marL="0">
              <a:buNone/>
            </a:pPr>
            <a:r>
              <a:rPr lang="en-US" sz="13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 shared weight matrices     </a:t>
            </a:r>
            <a:pPr indent="0" marL="0">
              <a:buNone/>
            </a:pPr>
            <a:r>
              <a:rPr lang="en-US" sz="13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  squashes values to (−1, 1)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framework, many shapes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7472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→ One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in, fixed out (plain net)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Image classification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600200"/>
            <a:ext cx="347472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→ Many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2240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input, a sequence out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8056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Image captioning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600200"/>
            <a:ext cx="3474720" cy="1965960"/>
          </a:xfrm>
          <a:prstGeom prst="roundRect">
            <a:avLst>
              <a:gd name="adj" fmla="val 4186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8388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→ One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83880" y="2240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in, one output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8388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Sentiment analysis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77440" y="3794760"/>
            <a:ext cx="34747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06040" y="3977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→ Many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44348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in and out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606040" y="5212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Machine translation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0760" y="3794760"/>
            <a:ext cx="34747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9360" y="3977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 Many → Many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44348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sequence labeling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09360" y="5212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Video frame tagging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Backpropagation Through Time (BPTT)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577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train an RNN we unroll it across all time steps into one big computational graph.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at each step is summed, then gradients flow backward through the entire unrolled network.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weights are shared, the gradient for each weight is the sum of its contributions at every time step.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ordinary backprop — just applied to the time-unrolled graph.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grows with sequence length, so long sequences are often truncated (truncated BPTT).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0" y="2286000"/>
            <a:ext cx="1097280" cy="822960"/>
          </a:xfrm>
          <a:prstGeom prst="roundRect">
            <a:avLst>
              <a:gd name="adj" fmla="val 7778"/>
            </a:avLst>
          </a:prstGeom>
          <a:solidFill>
            <a:srgbClr val="E07B3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22860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55280" y="2697480"/>
            <a:ext cx="457200" cy="0"/>
          </a:xfrm>
          <a:prstGeom prst="line">
            <a:avLst/>
          </a:prstGeom>
          <a:noFill/>
          <a:ln w="2540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412480" y="2286000"/>
            <a:ext cx="1097280" cy="822960"/>
          </a:xfrm>
          <a:prstGeom prst="roundRect">
            <a:avLst>
              <a:gd name="adj" fmla="val 7778"/>
            </a:avLst>
          </a:prstGeom>
          <a:solidFill>
            <a:srgbClr val="E07B39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22860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509760" y="2697480"/>
            <a:ext cx="457200" cy="0"/>
          </a:xfrm>
          <a:prstGeom prst="line">
            <a:avLst/>
          </a:prstGeom>
          <a:noFill/>
          <a:ln w="2540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966960" y="2286000"/>
            <a:ext cx="1097280" cy="822960"/>
          </a:xfrm>
          <a:prstGeom prst="roundRect">
            <a:avLst>
              <a:gd name="adj" fmla="val 7778"/>
            </a:avLst>
          </a:prstGeom>
          <a:solidFill>
            <a:srgbClr val="E07B39"/>
          </a:solidFill>
          <a:ln/>
        </p:spPr>
      </p:sp>
      <p:sp>
        <p:nvSpPr>
          <p:cNvPr id="12" name="Text 10"/>
          <p:cNvSpPr/>
          <p:nvPr/>
        </p:nvSpPr>
        <p:spPr>
          <a:xfrm>
            <a:off x="9966960" y="22860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 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0" y="3429000"/>
            <a:ext cx="-457200" cy="0"/>
          </a:xfrm>
          <a:prstGeom prst="line">
            <a:avLst/>
          </a:prstGeom>
          <a:noFill/>
          <a:ln w="31750">
            <a:solidFill>
              <a:srgbClr val="E07B3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235440" y="3429000"/>
            <a:ext cx="-457200" cy="0"/>
          </a:xfrm>
          <a:prstGeom prst="line">
            <a:avLst/>
          </a:prstGeom>
          <a:noFill/>
          <a:ln w="31750">
            <a:solidFill>
              <a:srgbClr val="E07B39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400800" y="35661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gradients flow back through time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Vanishing &amp; exploding gradients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57800" cy="4114800"/>
          </a:xfrm>
          <a:prstGeom prst="roundRect">
            <a:avLst>
              <a:gd name="adj" fmla="val 2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556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Vanishing gradients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 multiplies many small derivatives (&lt; 1) together.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many steps the product shrinks toward zero.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time steps receive almost no gradient signal.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network cannot learn long-range dependencies.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2578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556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Exploding gradients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derivatives are &gt; 1, the product blows up instead.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receive huge updates and training diverges (NaNs).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spot and to fix than vanishing.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remedy: gradient clipping to a maximum norm.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long-term dependency gap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grew up in France … I speak fluent ____ 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predict “French”, the network must recall a word from many steps earlier. Vanilla RNNs struggle when that gap is large.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theory RNNs can carry information for arbitrarily long — in practice, vanishing gradients prevent it.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gaps (a few steps) are fine; long gaps are where vanilla RNNs break down.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an architecture that can preserve information over long distances and decide what to keep or forget.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Enter gated units: LSTM and GRU.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3840480" cy="3840480"/>
          </a:xfrm>
          <a:prstGeom prst="ellipse">
            <a:avLst/>
          </a:prstGeom>
          <a:solidFill>
            <a:srgbClr val="138A72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297680"/>
            <a:ext cx="4206240" cy="4206240"/>
          </a:xfrm>
          <a:prstGeom prst="ellipse">
            <a:avLst/>
          </a:prstGeom>
          <a:solidFill>
            <a:srgbClr val="138A72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38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Short-Term Memory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39776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that learn what to remember and forget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idea: a protected memory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577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(Hochreiter &amp; Schmidhuber, 1997) adds a separate cell state Cₜ — a “conveyor belt” of memory.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flows along the cell state with only minor linear interactions, so it is easy to preserve unchanged.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gates regulate that belt: what to forget, what to add, and what to output.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are small neural layers with a sigmoid that output values in (0, 1) — a soft “how much to let through”.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2011680"/>
            <a:ext cx="5120640" cy="2743200"/>
          </a:xfrm>
          <a:prstGeom prst="roundRect">
            <a:avLst>
              <a:gd name="adj" fmla="val 3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0" y="2743200"/>
            <a:ext cx="4572000" cy="0"/>
          </a:xfrm>
          <a:prstGeom prst="line">
            <a:avLst/>
          </a:prstGeom>
          <a:noFill/>
          <a:ln w="50800">
            <a:solidFill>
              <a:srgbClr val="138A72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6400800" y="2468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Cₜ₋₁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0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2880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 (memory highway)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0" y="25420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8A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2542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8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326880" y="25420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8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0" y="2542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8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4023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interact with the belt only through × and 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an LSTM cell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flow between steps: the cell state Cₜ (top) and the hidden state hₜ (bottom).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63040" y="2103120"/>
            <a:ext cx="9235440" cy="3108960"/>
          </a:xfrm>
          <a:prstGeom prst="roundRect">
            <a:avLst>
              <a:gd name="adj" fmla="val 2647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37360" y="2606040"/>
            <a:ext cx="8686800" cy="0"/>
          </a:xfrm>
          <a:prstGeom prst="line">
            <a:avLst/>
          </a:prstGeom>
          <a:noFill/>
          <a:ln w="50800">
            <a:solidFill>
              <a:srgbClr val="138A72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417320" y="23317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Cₜ₋₁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378440" y="2331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37360" y="4800600"/>
            <a:ext cx="8686800" cy="0"/>
          </a:xfrm>
          <a:prstGeom prst="line">
            <a:avLst/>
          </a:prstGeom>
          <a:noFill/>
          <a:ln w="3810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371600" y="4846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hₜ₋₁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378440" y="4846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34640" y="3246120"/>
            <a:ext cx="1371600" cy="1097280"/>
          </a:xfrm>
          <a:prstGeom prst="roundRect">
            <a:avLst>
              <a:gd name="adj" fmla="val 5833"/>
            </a:avLst>
          </a:prstGeom>
          <a:solidFill>
            <a:srgbClr val="138A72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32461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 fₜ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20440" y="4800600"/>
            <a:ext cx="0" cy="-457200"/>
          </a:xfrm>
          <a:prstGeom prst="line">
            <a:avLst/>
          </a:prstGeom>
          <a:noFill/>
          <a:ln w="19050">
            <a:solidFill>
              <a:srgbClr val="5B668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3246120"/>
            <a:ext cx="1371600" cy="1097280"/>
          </a:xfrm>
          <a:prstGeom prst="roundRect">
            <a:avLst>
              <a:gd name="adj" fmla="val 5833"/>
            </a:avLst>
          </a:prstGeom>
          <a:solidFill>
            <a:srgbClr val="138A72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32461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 iₜ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97880" y="4800600"/>
            <a:ext cx="0" cy="-457200"/>
          </a:xfrm>
          <a:prstGeom prst="line">
            <a:avLst/>
          </a:prstGeom>
          <a:noFill/>
          <a:ln w="19050">
            <a:solidFill>
              <a:srgbClr val="5B668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0" y="3246120"/>
            <a:ext cx="1371600" cy="1097280"/>
          </a:xfrm>
          <a:prstGeom prst="roundRect">
            <a:avLst>
              <a:gd name="adj" fmla="val 5833"/>
            </a:avLst>
          </a:prstGeom>
          <a:solidFill>
            <a:srgbClr val="138A72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32461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 oₜ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89720" y="4800600"/>
            <a:ext cx="0" cy="-457200"/>
          </a:xfrm>
          <a:prstGeom prst="line">
            <a:avLst/>
          </a:prstGeom>
          <a:noFill/>
          <a:ln w="19050">
            <a:solidFill>
              <a:srgbClr val="5B668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9400" y="3246120"/>
            <a:ext cx="1371600" cy="1097280"/>
          </a:xfrm>
          <a:prstGeom prst="roundRect">
            <a:avLst>
              <a:gd name="adj" fmla="val 5833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32461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  Ĉₜ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63040" y="5440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gates (teal) output 0–1 and act as valves; tanh layers propose new content.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· STEP 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cell state: the memory highway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577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 state Cₜ runs straight through the whole chain.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changed only by two controlled operations: a × (forget) and a + (add).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there is no repeated matrix multiplication or squashing along this path, gradients can flow far without vanishing.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uninterrupted path is the key to learning long-term dependencies.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2377440"/>
            <a:ext cx="5120640" cy="2377440"/>
          </a:xfrm>
          <a:prstGeom prst="roundRect">
            <a:avLst>
              <a:gd name="adj" fmla="val 3462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20840" y="3566160"/>
            <a:ext cx="4480560" cy="0"/>
          </a:xfrm>
          <a:prstGeom prst="line">
            <a:avLst/>
          </a:prstGeom>
          <a:noFill/>
          <a:ln w="63500">
            <a:solidFill>
              <a:srgbClr val="138A7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680960" y="3346704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8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0" y="3346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8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06640" y="3886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3346704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8A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0" y="3346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8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235440" y="3886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2084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linear → gradients survive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· 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Forget gate — what to throw away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577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the previous hidden state hₜ₋₁ and current input xₜ.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sigmoid outputs a number in (0, 1) for each value in the cell state.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“keep this completely”, 0 = “erase this completely”.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on seeing a new subject, forget the gender of the old subject.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892040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5875">
            <a:solidFill>
              <a:srgbClr val="138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8920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fₜ = σ( W𝐟 · [hₜ₋₁, xₜ] + b𝐟 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828800"/>
            <a:ext cx="5029200" cy="3566160"/>
          </a:xfrm>
          <a:prstGeom prst="roundRect">
            <a:avLst>
              <a:gd name="adj" fmla="val 2308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0" y="3749040"/>
            <a:ext cx="1920240" cy="914400"/>
          </a:xfrm>
          <a:prstGeom prst="roundRect">
            <a:avLst>
              <a:gd name="adj" fmla="val 7000"/>
            </a:avLst>
          </a:prstGeom>
          <a:solidFill>
            <a:srgbClr val="138A7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0" y="37490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forget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006840" y="3749040"/>
            <a:ext cx="0" cy="-822960"/>
          </a:xfrm>
          <a:prstGeom prst="line">
            <a:avLst/>
          </a:prstGeom>
          <a:noFill/>
          <a:ln w="25400">
            <a:solidFill>
              <a:srgbClr val="138A7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778240" y="26060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8A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8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75120" y="2834640"/>
            <a:ext cx="2103120" cy="0"/>
          </a:xfrm>
          <a:prstGeom prst="line">
            <a:avLst/>
          </a:prstGeom>
          <a:noFill/>
          <a:ln w="50800">
            <a:solidFill>
              <a:srgbClr val="138A7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235440" y="2834640"/>
            <a:ext cx="2011680" cy="0"/>
          </a:xfrm>
          <a:prstGeom prst="line">
            <a:avLst/>
          </a:prstGeom>
          <a:noFill/>
          <a:ln w="50800">
            <a:solidFill>
              <a:srgbClr val="138A72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537960" y="2468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Cₜ₋₁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4572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hₜ₋₁, xₜ  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4983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fₜ scales the old memory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· 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gate — what new info to store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577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parts work together to decide the update: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gate iₜ (sigmoid) decides which values to update.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tanh layer creates candidate values Ĉₜ — new content that could be added.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product iₜ ⊙ Ĉₜ is the proposed addition to memory.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526280"/>
            <a:ext cx="5577840" cy="658368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 w="15875">
            <a:solidFill>
              <a:srgbClr val="138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52628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iₜ = σ( W𝐢 · [hₜ₋₁, xₜ] + b𝐢 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5285232"/>
            <a:ext cx="5577840" cy="658368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28523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Ĉₜ = tanh( W𝐂 · [hₜ₋₁, xₜ] + b𝐂 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92240" y="1828800"/>
            <a:ext cx="5029200" cy="3840480"/>
          </a:xfrm>
          <a:prstGeom prst="roundRect">
            <a:avLst>
              <a:gd name="adj" fmla="val 2143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49440" y="4023360"/>
            <a:ext cx="1737360" cy="868680"/>
          </a:xfrm>
          <a:prstGeom prst="roundRect">
            <a:avLst>
              <a:gd name="adj" fmla="val 7368"/>
            </a:avLst>
          </a:prstGeom>
          <a:solidFill>
            <a:srgbClr val="138A72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402336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input  iₜ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0" y="4023360"/>
            <a:ext cx="19202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0" y="402336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  Ĉₜ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292608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8A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8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18120" y="4023360"/>
            <a:ext cx="640080" cy="-594360"/>
          </a:xfrm>
          <a:prstGeom prst="line">
            <a:avLst/>
          </a:prstGeom>
          <a:noFill/>
          <a:ln w="25400">
            <a:solidFill>
              <a:srgbClr val="138A7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058400" y="4023360"/>
            <a:ext cx="-1280160" cy="-59436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76656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iₜ ⊙ Ĉₜ  = new candidate memory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· 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the cell state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combine the two decisions — forget old, add new: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280160" y="2194560"/>
            <a:ext cx="9601200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5875">
            <a:solidFill>
              <a:srgbClr val="138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2194560"/>
            <a:ext cx="9326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Cₜ  =  fₜ ⊙ Cₜ₋₁   +   iₜ ⊙ Ĉₜ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80160" y="3657600"/>
            <a:ext cx="4663440" cy="2194560"/>
          </a:xfrm>
          <a:prstGeom prst="roundRect">
            <a:avLst>
              <a:gd name="adj" fmla="val 375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8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fₜ ⊙ Cₜ₋₁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434340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Forget: scale down the parts of old memory we no longer need.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657600"/>
            <a:ext cx="46634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iₜ ⊙ Ĉₜ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2240" y="434340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write the new candidate values, scaled by how much we want them.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· STEP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gate — what to reveal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577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state hₜ is a filtered view of the cell state.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gate oₜ (sigmoid) decides which parts of the memory to expose.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 state is passed through tanh, then scaled by oₜ.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is what the next step sees and what produces the output yₜ.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754880"/>
            <a:ext cx="5577840" cy="658368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 w="15875">
            <a:solidFill>
              <a:srgbClr val="138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75488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oₜ = σ( W𝐨 · [hₜ₋₁, xₜ] + b𝐨 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5486400"/>
            <a:ext cx="5577840" cy="658368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48640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hₜ = oₜ ⊙ tanh( Cₜ 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92240" y="1828800"/>
            <a:ext cx="5029200" cy="3840480"/>
          </a:xfrm>
          <a:prstGeom prst="roundRect">
            <a:avLst>
              <a:gd name="adj" fmla="val 2143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63840" y="4114800"/>
            <a:ext cx="1828800" cy="868680"/>
          </a:xfrm>
          <a:prstGeom prst="roundRect">
            <a:avLst>
              <a:gd name="adj" fmla="val 7368"/>
            </a:avLst>
          </a:prstGeom>
          <a:solidFill>
            <a:srgbClr val="138A72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41148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output  oₜ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2651760"/>
            <a:ext cx="182880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2651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tanh(Cₜ)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49640" y="35204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8A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8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778240" y="4114800"/>
            <a:ext cx="0" cy="-137160"/>
          </a:xfrm>
          <a:prstGeom prst="line">
            <a:avLst/>
          </a:prstGeom>
          <a:noFill/>
          <a:ln w="25400">
            <a:solidFill>
              <a:srgbClr val="138A7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778240" y="3383280"/>
            <a:ext cx="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06840" y="3749040"/>
            <a:ext cx="2194560" cy="0"/>
          </a:xfrm>
          <a:prstGeom prst="line">
            <a:avLst/>
          </a:prstGeom>
          <a:noFill/>
          <a:ln w="3175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972800" y="3474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six equations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2821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fₜ = σ( W𝐟 · [hₜ₋₁, xₜ] + b𝐟 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72821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20574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iₜ = σ( W𝐢 · [hₜ₋₁, xₜ] + b𝐢 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14553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MEMORY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4747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Ĉₜ = tanh( W𝐂 · [hₜ₋₁, xₜ] + b𝐂 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2200" y="301752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14553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CELL STATE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34747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Cₜ = fₜ ⊙ Cₜ₋₁ + iₜ ⊙ Ĉₜ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456285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48920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oₜ = σ( W𝐨 · [hₜ₋₁, xₜ] + b𝐨 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0" y="443484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456285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48920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hₜ = oₜ ⊙ tanh( Cₜ 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LSTM defeats vanishing gradients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cell-state update Cₜ = fₜ ⊙ Cₜ₋₁ + iₜ ⊙ Ĉₜ is additive, not a repeated multiplication by a weight matrix.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forget gate stays near 1, the gradient of Cₜ with respect to Cₜ₋₁ is ≈ 1 — so error signals pass backward almost unchanged.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“constant error carousel” lets gradients travel across hundreds of steps without shrinking to zero.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gates are learned, so the network decides for itself how long to hold each piece of information.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four times as many parameters as a vanilla RNN, and more computation per step.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3840480" cy="3840480"/>
          </a:xfrm>
          <a:prstGeom prst="ellipse">
            <a:avLst/>
          </a:prstGeom>
          <a:solidFill>
            <a:srgbClr val="7B5EA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297680"/>
            <a:ext cx="4206240" cy="4206240"/>
          </a:xfrm>
          <a:prstGeom prst="ellipse">
            <a:avLst/>
          </a:prstGeom>
          <a:solidFill>
            <a:srgbClr val="7B5EA7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7B5E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Gated Recurrent Unit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39776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idea, streamlined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simpler gated unit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5778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(Cho et al., 2014) simplifies the LSTM.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merges the cell state and hidden state into a single hₜ.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just two gates instead of three: an update gate and a reset gate.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parameters → faster to train and often comparable in accuracy.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popular default when you want LSTM-like power with less overhead.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92240" y="2011680"/>
            <a:ext cx="5029200" cy="3108960"/>
          </a:xfrm>
          <a:prstGeom prst="roundRect">
            <a:avLst>
              <a:gd name="adj" fmla="val 2647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B5E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gates only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0" y="2880360"/>
            <a:ext cx="4297680" cy="777240"/>
          </a:xfrm>
          <a:prstGeom prst="roundRect">
            <a:avLst>
              <a:gd name="adj" fmla="val 8235"/>
            </a:avLst>
          </a:prstGeom>
          <a:solidFill>
            <a:srgbClr val="7B5EA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288036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gate  zₜ   —  how much of the past to keep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0" y="3840480"/>
            <a:ext cx="429768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384048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gate  rₜ   —  how much past to ignore now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0" y="47548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cell state, no output gate.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GRU cell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hidden state hₜ flows between steps — no separate memory line.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63040" y="2194560"/>
            <a:ext cx="923544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83080" y="4709160"/>
            <a:ext cx="8595360" cy="0"/>
          </a:xfrm>
          <a:prstGeom prst="line">
            <a:avLst/>
          </a:prstGeom>
          <a:noFill/>
          <a:ln w="50800">
            <a:solidFill>
              <a:srgbClr val="7B5EA7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417320" y="4754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hₜ₋₁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378440" y="4754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2743200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27432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 rₜ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2743200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7B5EA7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27432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 zₜ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2743200"/>
            <a:ext cx="1737360" cy="914400"/>
          </a:xfrm>
          <a:prstGeom prst="roundRect">
            <a:avLst>
              <a:gd name="adj" fmla="val 7000"/>
            </a:avLst>
          </a:prstGeom>
          <a:solidFill>
            <a:srgbClr val="7B5EA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27432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  ĥₜ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509760" y="448056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7B5E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5E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5440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 gate does the job of LSTM's forget + input gates at once.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· GATE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gate — keep or refresh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577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much of the previous hidden state to carry forward unchanged.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zₜ close to 1 → keep the old state (like LSTM remembering).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zₜ close to 0 → replace it with new content.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controls the balance between past and present in the final blend.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846320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5875">
            <a:solidFill>
              <a:srgbClr val="7B5E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8463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zₜ = σ( W𝐳 · [hₜ₋₁, xₜ] + b𝐳 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2011680"/>
            <a:ext cx="5029200" cy="3291840"/>
          </a:xfrm>
          <a:prstGeom prst="roundRect">
            <a:avLst>
              <a:gd name="adj" fmla="val 25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5E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Interpolation 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0" y="2834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hₜ = (1 − zₜ)·hₜ₋₁  +  zₜ·ĥₜ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66560" y="356616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average between old memory and the new candidate — zₜ is the dial.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· GATE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 gate — how much past to use now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577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how much of the previous state feeds into the new candidate.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rₜ close to 0 → ignore the past and act on the current input alone.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dropping irrelevant history when a new pattern begins.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inside the candidate computation, before tanh.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846320"/>
            <a:ext cx="557784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8463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rₜ = σ( W𝐫 · [hₜ₋₁, xₜ] + b𝐫 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2011680"/>
            <a:ext cx="5029200" cy="3291840"/>
          </a:xfrm>
          <a:prstGeom prst="roundRect">
            <a:avLst>
              <a:gd name="adj" fmla="val 25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5E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state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2834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ĥₜ = tanh( W · [ rₜ ⊙ hₜ₋₁ , xₜ ] 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66560" y="356616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reset gate rₜ gates the previous state before it is mixed with the new input.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four equations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1645920"/>
            <a:ext cx="9601200" cy="914400"/>
          </a:xfrm>
          <a:prstGeom prst="roundRect">
            <a:avLst>
              <a:gd name="adj" fmla="val 9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17830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64592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zₜ = σ( W𝐳 · [hₜ₋₁, xₜ] 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80160" y="2697480"/>
            <a:ext cx="96012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2834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GATE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269748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rₜ = σ( W𝐫 · [hₜ₋₁, xₜ] 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80160" y="3749040"/>
            <a:ext cx="9601200" cy="914400"/>
          </a:xfrm>
          <a:prstGeom prst="roundRect">
            <a:avLst>
              <a:gd name="adj" fmla="val 9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4480" y="3886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STATE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374904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ĥₜ = tanh( W · [ rₜ ⊙ hₜ₋₁ , xₜ ] 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80160" y="4800600"/>
            <a:ext cx="96012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54480" y="4937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HIDDEN STATE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480060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hₜ = (1 − zₜ) ⊙ hₜ₋₁ + zₜ ⊙ ĥₜ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5943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equations vs. LSTM's six — fewer gates, fewer parameters.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3840480" cy="3840480"/>
          </a:xfrm>
          <a:prstGeom prst="ellipse">
            <a:avLst/>
          </a:prstGeom>
          <a:solidFill>
            <a:srgbClr val="1E2761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4297680"/>
            <a:ext cx="4206240" cy="4206240"/>
          </a:xfrm>
          <a:prstGeom prst="ellipse">
            <a:avLst/>
          </a:prstGeom>
          <a:solidFill>
            <a:srgbClr val="1E2761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&amp; Practice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68680" y="39776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and using the right model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vs GRU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657600" cy="621792"/>
          </a:xfrm>
          <a:prstGeom prst="roundRect">
            <a:avLst>
              <a:gd name="adj" fmla="val 1029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1600200"/>
            <a:ext cx="3657600" cy="621792"/>
          </a:xfrm>
          <a:prstGeom prst="roundRect">
            <a:avLst>
              <a:gd name="adj" fmla="val 10294"/>
            </a:avLst>
          </a:prstGeom>
          <a:solidFill>
            <a:srgbClr val="138A72"/>
          </a:solidFill>
          <a:ln/>
        </p:spPr>
      </p:sp>
      <p:sp>
        <p:nvSpPr>
          <p:cNvPr id="7" name="Text 5"/>
          <p:cNvSpPr/>
          <p:nvPr/>
        </p:nvSpPr>
        <p:spPr>
          <a:xfrm>
            <a:off x="4343400" y="160020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0" y="1600200"/>
            <a:ext cx="3657600" cy="621792"/>
          </a:xfrm>
          <a:prstGeom prst="roundRect">
            <a:avLst>
              <a:gd name="adj" fmla="val 10294"/>
            </a:avLst>
          </a:prstGeom>
          <a:solidFill>
            <a:srgbClr val="7B5EA7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0" y="160020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276856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2276856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0" y="2276856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227685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80560" y="2276856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(forget, input, output)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83880" y="2276856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(update, reset)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88036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288036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2880360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28803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80560" y="288036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cell state Cₜ + hidden hₜ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83880" y="288036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hidden state hₜ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483864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43400" y="3483864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46720" y="3483864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348386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480560" y="3483864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(≈ 4× RNN)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83880" y="3483864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(≈ 3× RNN)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087368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43400" y="4087368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0" y="4087368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7240" y="40873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speed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480560" y="408736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83880" y="408736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4690872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43400" y="4690872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46720" y="4690872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77240" y="46908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dependencies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480560" y="469087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83880" y="469087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5294376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343400" y="5294376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046720" y="5294376"/>
            <a:ext cx="36576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77240" y="529437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480560" y="5294376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data, very long sequences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183880" y="5294376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data, need speed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vs LSTM vs GRU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74720" cy="411480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3017520" cy="640080"/>
          </a:xfrm>
          <a:prstGeom prst="roundRect">
            <a:avLst>
              <a:gd name="adj" fmla="val 10000"/>
            </a:avLst>
          </a:prstGeom>
          <a:solidFill>
            <a:srgbClr val="E07B3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RNN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Simplest, fastest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gating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on long sequences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474720" cy="4114800"/>
          </a:xfrm>
          <a:prstGeom prst="roundRect">
            <a:avLst>
              <a:gd name="adj" fmla="val 2368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828800"/>
            <a:ext cx="3017520" cy="640080"/>
          </a:xfrm>
          <a:prstGeom prst="roundRect">
            <a:avLst>
              <a:gd name="adj" fmla="val 10000"/>
            </a:avLst>
          </a:prstGeom>
          <a:solidFill>
            <a:srgbClr val="138A7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828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69748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 + 3 gates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long-term memory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parameters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proven workhorse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474720" cy="411480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1828800"/>
            <a:ext cx="3017520" cy="640080"/>
          </a:xfrm>
          <a:prstGeom prst="roundRect">
            <a:avLst>
              <a:gd name="adj" fmla="val 10000"/>
            </a:avLst>
          </a:prstGeom>
          <a:solidFill>
            <a:srgbClr val="7B5EA7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828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269748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gates, no cell state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efficient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parameters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modern default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one should you use?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19656"/>
            <a:ext cx="457200" cy="457200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19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70992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5E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GRU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1691640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strong, efficient default — especially with limited data or compute.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871216"/>
            <a:ext cx="457200" cy="457200"/>
          </a:xfrm>
          <a:prstGeom prst="ellipse">
            <a:avLst/>
          </a:prstGeom>
          <a:solidFill>
            <a:srgbClr val="138A7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871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276148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8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for LSTM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2743200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sequences are very long or you have lots of data and want maximum capacity.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922776"/>
            <a:ext cx="457200" cy="457200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22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81304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Vanilla RNN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3794760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in practice — mainly for teaching, tiny problems, or very short sequences.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754880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9743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974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08760" y="486460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RNNs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63440" y="4846320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many tasks, Transformers now outperform recurrent nets — but RNN/GRU/LSTM remain vital for streaming and low-resource settings.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these models are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548640" cy="548640"/>
          </a:xfrm>
          <a:prstGeom prst="ellipse">
            <a:avLst/>
          </a:prstGeom>
          <a:solidFill>
            <a:srgbClr val="1E2761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47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modeling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the next word / character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947672"/>
            <a:ext cx="548640" cy="548640"/>
          </a:xfrm>
          <a:prstGeom prst="ellipse">
            <a:avLst/>
          </a:prstGeom>
          <a:solidFill>
            <a:srgbClr val="1E2761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947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0352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translation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17720" y="26060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Seq-to-seq encoder–decoder models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1947672"/>
            <a:ext cx="548640" cy="548640"/>
          </a:xfrm>
          <a:prstGeom prst="ellipse">
            <a:avLst/>
          </a:prstGeom>
          <a:solidFill>
            <a:srgbClr val="1E2761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1947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00684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 recognition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21040" y="26060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audio frames to text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3913632"/>
            <a:ext cx="548640" cy="548640"/>
          </a:xfrm>
          <a:prstGeom prst="ellipse">
            <a:avLst/>
          </a:prstGeom>
          <a:solidFill>
            <a:srgbClr val="1E2761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00200" y="3931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Time-series forecasting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4400" y="45720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Demand, weather, finance, sensors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43400" y="365760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3913632"/>
            <a:ext cx="548640" cy="548640"/>
          </a:xfrm>
          <a:prstGeom prst="ellipse">
            <a:avLst/>
          </a:prstGeom>
          <a:solidFill>
            <a:srgbClr val="1E2761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03520" y="3931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Handwriting &amp; OCR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17720" y="45720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sequential strokes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46720" y="3657600"/>
            <a:ext cx="3474720" cy="1737360"/>
          </a:xfrm>
          <a:prstGeom prst="roundRect">
            <a:avLst>
              <a:gd name="adj" fmla="val 4737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02752" y="3913632"/>
            <a:ext cx="548640" cy="548640"/>
          </a:xfrm>
          <a:prstGeom prst="ellipse">
            <a:avLst/>
          </a:prstGeom>
          <a:solidFill>
            <a:srgbClr val="1E2761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006840" y="3931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 &amp; text generation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21040" y="45720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sequences one step at a time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Bidirectional RNNs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tasks let you see the whole sequence at once (not streaming).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bidirectional RNN runs two passes: one left-to-right, one right-to-left.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hidden states are concatenated, so each step sees past AND future context.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accuracy for tagging, NER, and speech — anywhere both directions help.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675120" y="2194560"/>
            <a:ext cx="1188720" cy="822960"/>
          </a:xfrm>
          <a:prstGeom prst="roundRect">
            <a:avLst>
              <a:gd name="adj" fmla="val 7778"/>
            </a:avLst>
          </a:prstGeom>
          <a:solidFill>
            <a:srgbClr val="138A72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0" y="21945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75120" y="3840480"/>
            <a:ext cx="1188720" cy="822960"/>
          </a:xfrm>
          <a:prstGeom prst="roundRect">
            <a:avLst>
              <a:gd name="adj" fmla="val 7778"/>
            </a:avLst>
          </a:prstGeom>
          <a:solidFill>
            <a:srgbClr val="7B5EA7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38404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863840" y="2606040"/>
            <a:ext cx="411480" cy="0"/>
          </a:xfrm>
          <a:prstGeom prst="line">
            <a:avLst/>
          </a:prstGeom>
          <a:noFill/>
          <a:ln w="25400">
            <a:solidFill>
              <a:srgbClr val="138A7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75320" y="4251960"/>
            <a:ext cx="-411480" cy="0"/>
          </a:xfrm>
          <a:prstGeom prst="line">
            <a:avLst/>
          </a:prstGeom>
          <a:noFill/>
          <a:ln w="25400">
            <a:solidFill>
              <a:srgbClr val="7B5EA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675120" y="4892040"/>
            <a:ext cx="118872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92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xₜ₋₁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75320" y="2194560"/>
            <a:ext cx="1188720" cy="822960"/>
          </a:xfrm>
          <a:prstGeom prst="roundRect">
            <a:avLst>
              <a:gd name="adj" fmla="val 7778"/>
            </a:avLst>
          </a:prstGeom>
          <a:solidFill>
            <a:srgbClr val="138A72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21945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75320" y="3840480"/>
            <a:ext cx="1188720" cy="822960"/>
          </a:xfrm>
          <a:prstGeom prst="roundRect">
            <a:avLst>
              <a:gd name="adj" fmla="val 7778"/>
            </a:avLst>
          </a:prstGeom>
          <a:solidFill>
            <a:srgbClr val="7B5EA7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8404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64040" y="2606040"/>
            <a:ext cx="411480" cy="0"/>
          </a:xfrm>
          <a:prstGeom prst="line">
            <a:avLst/>
          </a:prstGeom>
          <a:noFill/>
          <a:ln w="25400">
            <a:solidFill>
              <a:srgbClr val="138A7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875520" y="4251960"/>
            <a:ext cx="-411480" cy="0"/>
          </a:xfrm>
          <a:prstGeom prst="line">
            <a:avLst/>
          </a:prstGeom>
          <a:noFill/>
          <a:ln w="25400">
            <a:solidFill>
              <a:srgbClr val="7B5EA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275320" y="4892040"/>
            <a:ext cx="118872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4892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875520" y="2194560"/>
            <a:ext cx="1188720" cy="822960"/>
          </a:xfrm>
          <a:prstGeom prst="roundRect">
            <a:avLst>
              <a:gd name="adj" fmla="val 7778"/>
            </a:avLst>
          </a:prstGeom>
          <a:solidFill>
            <a:srgbClr val="138A72"/>
          </a:solidFill>
          <a:ln/>
        </p:spPr>
      </p:sp>
      <p:sp>
        <p:nvSpPr>
          <p:cNvPr id="22" name="Text 20"/>
          <p:cNvSpPr/>
          <p:nvPr/>
        </p:nvSpPr>
        <p:spPr>
          <a:xfrm>
            <a:off x="9875520" y="21945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875520" y="3840480"/>
            <a:ext cx="1188720" cy="822960"/>
          </a:xfrm>
          <a:prstGeom prst="roundRect">
            <a:avLst>
              <a:gd name="adj" fmla="val 7778"/>
            </a:avLst>
          </a:prstGeom>
          <a:solidFill>
            <a:srgbClr val="7B5EA7"/>
          </a:solidFill>
          <a:ln/>
        </p:spPr>
      </p:sp>
      <p:sp>
        <p:nvSpPr>
          <p:cNvPr id="24" name="Text 22"/>
          <p:cNvSpPr/>
          <p:nvPr/>
        </p:nvSpPr>
        <p:spPr>
          <a:xfrm>
            <a:off x="9875520" y="38404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875520" y="4892040"/>
            <a:ext cx="118872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9875520" y="4892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xₜ₊₁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(stacked) RNNs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multiple recurrent layers so the output of one feeds the next.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layers capture short, local patterns; higher layers capture abstract structure.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capacity — at the cost of more parameters and harder training.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 four layers is typical; add dropout between layers to regularize.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675120" y="196596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7B5EA7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0" y="19659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0" y="2308860"/>
            <a:ext cx="502920" cy="0"/>
          </a:xfrm>
          <a:prstGeom prst="line">
            <a:avLst/>
          </a:prstGeom>
          <a:noFill/>
          <a:ln w="1905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223760" y="3703320"/>
            <a:ext cx="0" cy="-365760"/>
          </a:xfrm>
          <a:prstGeom prst="line">
            <a:avLst/>
          </a:prstGeom>
          <a:noFill/>
          <a:ln w="1905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75320" y="196596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7B5EA7"/>
          </a:solidFill>
          <a:ln/>
        </p:spPr>
      </p:sp>
      <p:sp>
        <p:nvSpPr>
          <p:cNvPr id="10" name="Text 8"/>
          <p:cNvSpPr/>
          <p:nvPr/>
        </p:nvSpPr>
        <p:spPr>
          <a:xfrm>
            <a:off x="8275320" y="19659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372600" y="2308860"/>
            <a:ext cx="502920" cy="0"/>
          </a:xfrm>
          <a:prstGeom prst="line">
            <a:avLst/>
          </a:prstGeom>
          <a:noFill/>
          <a:ln w="1905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823960" y="3703320"/>
            <a:ext cx="0" cy="-365760"/>
          </a:xfrm>
          <a:prstGeom prst="line">
            <a:avLst/>
          </a:prstGeom>
          <a:noFill/>
          <a:ln w="1905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875520" y="196596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7B5EA7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0" y="196596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424160" y="3703320"/>
            <a:ext cx="0" cy="-365760"/>
          </a:xfrm>
          <a:prstGeom prst="line">
            <a:avLst/>
          </a:prstGeom>
          <a:noFill/>
          <a:ln w="1905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75120" y="301752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138A72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301752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0" y="3360420"/>
            <a:ext cx="502920" cy="0"/>
          </a:xfrm>
          <a:prstGeom prst="line">
            <a:avLst/>
          </a:prstGeom>
          <a:noFill/>
          <a:ln w="1905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23760" y="4754880"/>
            <a:ext cx="0" cy="-365760"/>
          </a:xfrm>
          <a:prstGeom prst="line">
            <a:avLst/>
          </a:prstGeom>
          <a:noFill/>
          <a:ln w="1905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75320" y="301752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138A72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301752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372600" y="3360420"/>
            <a:ext cx="502920" cy="0"/>
          </a:xfrm>
          <a:prstGeom prst="line">
            <a:avLst/>
          </a:prstGeom>
          <a:noFill/>
          <a:ln w="1905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823960" y="4754880"/>
            <a:ext cx="0" cy="-365760"/>
          </a:xfrm>
          <a:prstGeom prst="line">
            <a:avLst/>
          </a:prstGeom>
          <a:noFill/>
          <a:ln w="1905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875520" y="301752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138A72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0" y="301752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424160" y="4754880"/>
            <a:ext cx="0" cy="-365760"/>
          </a:xfrm>
          <a:prstGeom prst="line">
            <a:avLst/>
          </a:prstGeom>
          <a:noFill/>
          <a:ln w="1905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75120" y="406908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E07B39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40690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72400" y="4411980"/>
            <a:ext cx="502920" cy="0"/>
          </a:xfrm>
          <a:prstGeom prst="line">
            <a:avLst/>
          </a:prstGeom>
          <a:noFill/>
          <a:ln w="1905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275320" y="406908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E07B39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0690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372600" y="4411980"/>
            <a:ext cx="502920" cy="0"/>
          </a:xfrm>
          <a:prstGeom prst="line">
            <a:avLst/>
          </a:prstGeom>
          <a:noFill/>
          <a:ln w="1905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875520" y="406908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E07B39"/>
          </a:solidFill>
          <a:ln/>
        </p:spPr>
      </p:sp>
      <p:sp>
        <p:nvSpPr>
          <p:cNvPr id="34" name="Text 32"/>
          <p:cNvSpPr/>
          <p:nvPr/>
        </p:nvSpPr>
        <p:spPr>
          <a:xfrm>
            <a:off x="9875520" y="406908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675120" y="5120640"/>
            <a:ext cx="109728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5120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xₜ₋₁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75320" y="5120640"/>
            <a:ext cx="109728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8275320" y="5120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xₜ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875520" y="5120640"/>
            <a:ext cx="1097280" cy="457200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9875520" y="5120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xₜ₊₁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715000" y="2103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15000" y="4206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Sequence-to-sequence (encoder–decoder)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behind translation and summarization — two RNNs joined by a context vector.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4937760" cy="2651760"/>
          </a:xfrm>
          <a:prstGeom prst="roundRect">
            <a:avLst>
              <a:gd name="adj" fmla="val 3103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3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1051560" cy="868680"/>
          </a:xfrm>
          <a:prstGeom prst="roundRect">
            <a:avLst>
              <a:gd name="adj" fmla="val 7368"/>
            </a:avLst>
          </a:prstGeom>
          <a:solidFill>
            <a:srgbClr val="138A7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17520"/>
            <a:ext cx="1051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65960" y="3451860"/>
            <a:ext cx="320040" cy="0"/>
          </a:xfrm>
          <a:prstGeom prst="line">
            <a:avLst/>
          </a:prstGeom>
          <a:noFill/>
          <a:ln w="2540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4400" y="4206240"/>
            <a:ext cx="1051560" cy="411480"/>
          </a:xfrm>
          <a:prstGeom prst="roundRect">
            <a:avLst>
              <a:gd name="adj" fmla="val 15556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20624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0" y="3017520"/>
            <a:ext cx="1051560" cy="868680"/>
          </a:xfrm>
          <a:prstGeom prst="roundRect">
            <a:avLst>
              <a:gd name="adj" fmla="val 7368"/>
            </a:avLst>
          </a:prstGeom>
          <a:solidFill>
            <a:srgbClr val="138A72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3017520"/>
            <a:ext cx="1051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37560" y="3451860"/>
            <a:ext cx="320040" cy="0"/>
          </a:xfrm>
          <a:prstGeom prst="line">
            <a:avLst/>
          </a:prstGeom>
          <a:noFill/>
          <a:ln w="2540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286000" y="4206240"/>
            <a:ext cx="1051560" cy="411480"/>
          </a:xfrm>
          <a:prstGeom prst="roundRect">
            <a:avLst>
              <a:gd name="adj" fmla="val 15556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420624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3017520"/>
            <a:ext cx="1051560" cy="868680"/>
          </a:xfrm>
          <a:prstGeom prst="roundRect">
            <a:avLst>
              <a:gd name="adj" fmla="val 7368"/>
            </a:avLst>
          </a:prstGeom>
          <a:solidFill>
            <a:srgbClr val="138A72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3017520"/>
            <a:ext cx="1051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0" y="4206240"/>
            <a:ext cx="1051560" cy="411480"/>
          </a:xfrm>
          <a:prstGeom prst="roundRect">
            <a:avLst>
              <a:gd name="adj" fmla="val 15556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420624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06440" y="3108960"/>
            <a:ext cx="594360" cy="685800"/>
          </a:xfrm>
          <a:prstGeom prst="roundRect">
            <a:avLst>
              <a:gd name="adj" fmla="val 10769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3108960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029200" y="3451860"/>
            <a:ext cx="73152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00800" y="3451860"/>
            <a:ext cx="32004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532120" y="3886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20840" y="2194560"/>
            <a:ext cx="480060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4944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95160" y="3017520"/>
            <a:ext cx="1051560" cy="868680"/>
          </a:xfrm>
          <a:prstGeom prst="roundRect">
            <a:avLst>
              <a:gd name="adj" fmla="val 7368"/>
            </a:avLst>
          </a:prstGeom>
          <a:solidFill>
            <a:srgbClr val="7B5EA7"/>
          </a:solidFill>
          <a:ln/>
        </p:spPr>
      </p:sp>
      <p:sp>
        <p:nvSpPr>
          <p:cNvPr id="29" name="Text 27"/>
          <p:cNvSpPr/>
          <p:nvPr/>
        </p:nvSpPr>
        <p:spPr>
          <a:xfrm>
            <a:off x="6995160" y="3017520"/>
            <a:ext cx="1051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046720" y="3451860"/>
            <a:ext cx="320040" cy="0"/>
          </a:xfrm>
          <a:prstGeom prst="line">
            <a:avLst/>
          </a:prstGeom>
          <a:noFill/>
          <a:ln w="2540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995160" y="2286000"/>
            <a:ext cx="1051560" cy="411480"/>
          </a:xfrm>
          <a:prstGeom prst="roundRect">
            <a:avLst>
              <a:gd name="adj" fmla="val 15556"/>
            </a:avLst>
          </a:prstGeom>
          <a:solidFill>
            <a:srgbClr val="7B5EA7"/>
          </a:solidFill>
          <a:ln/>
        </p:spPr>
      </p:sp>
      <p:sp>
        <p:nvSpPr>
          <p:cNvPr id="32" name="Text 30"/>
          <p:cNvSpPr/>
          <p:nvPr/>
        </p:nvSpPr>
        <p:spPr>
          <a:xfrm>
            <a:off x="6995160" y="228600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520940" y="3017520"/>
            <a:ext cx="0" cy="-320040"/>
          </a:xfrm>
          <a:prstGeom prst="line">
            <a:avLst/>
          </a:prstGeom>
          <a:noFill/>
          <a:ln w="22225">
            <a:solidFill>
              <a:srgbClr val="7B5EA7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366760" y="3017520"/>
            <a:ext cx="1051560" cy="868680"/>
          </a:xfrm>
          <a:prstGeom prst="roundRect">
            <a:avLst>
              <a:gd name="adj" fmla="val 7368"/>
            </a:avLst>
          </a:prstGeom>
          <a:solidFill>
            <a:srgbClr val="7B5EA7"/>
          </a:solidFill>
          <a:ln/>
        </p:spPr>
      </p:sp>
      <p:sp>
        <p:nvSpPr>
          <p:cNvPr id="35" name="Text 33"/>
          <p:cNvSpPr/>
          <p:nvPr/>
        </p:nvSpPr>
        <p:spPr>
          <a:xfrm>
            <a:off x="8366760" y="3017520"/>
            <a:ext cx="1051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418320" y="3451860"/>
            <a:ext cx="320040" cy="0"/>
          </a:xfrm>
          <a:prstGeom prst="line">
            <a:avLst/>
          </a:prstGeom>
          <a:noFill/>
          <a:ln w="25400">
            <a:solidFill>
              <a:srgbClr val="5B6684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366760" y="2286000"/>
            <a:ext cx="1051560" cy="411480"/>
          </a:xfrm>
          <a:prstGeom prst="roundRect">
            <a:avLst>
              <a:gd name="adj" fmla="val 15556"/>
            </a:avLst>
          </a:prstGeom>
          <a:solidFill>
            <a:srgbClr val="7B5EA7"/>
          </a:solidFill>
          <a:ln/>
        </p:spPr>
      </p:sp>
      <p:sp>
        <p:nvSpPr>
          <p:cNvPr id="38" name="Text 36"/>
          <p:cNvSpPr/>
          <p:nvPr/>
        </p:nvSpPr>
        <p:spPr>
          <a:xfrm>
            <a:off x="8366760" y="228600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892540" y="3017520"/>
            <a:ext cx="0" cy="-320040"/>
          </a:xfrm>
          <a:prstGeom prst="line">
            <a:avLst/>
          </a:prstGeom>
          <a:noFill/>
          <a:ln w="22225">
            <a:solidFill>
              <a:srgbClr val="7B5EA7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738360" y="3017520"/>
            <a:ext cx="1051560" cy="868680"/>
          </a:xfrm>
          <a:prstGeom prst="roundRect">
            <a:avLst>
              <a:gd name="adj" fmla="val 7368"/>
            </a:avLst>
          </a:prstGeom>
          <a:solidFill>
            <a:srgbClr val="7B5EA7"/>
          </a:solidFill>
          <a:ln/>
        </p:spPr>
      </p:sp>
      <p:sp>
        <p:nvSpPr>
          <p:cNvPr id="41" name="Text 39"/>
          <p:cNvSpPr/>
          <p:nvPr/>
        </p:nvSpPr>
        <p:spPr>
          <a:xfrm>
            <a:off x="9738360" y="3017520"/>
            <a:ext cx="1051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738360" y="2286000"/>
            <a:ext cx="1051560" cy="411480"/>
          </a:xfrm>
          <a:prstGeom prst="roundRect">
            <a:avLst>
              <a:gd name="adj" fmla="val 15556"/>
            </a:avLst>
          </a:prstGeom>
          <a:solidFill>
            <a:srgbClr val="7B5EA7"/>
          </a:solidFill>
          <a:ln/>
        </p:spPr>
      </p:sp>
      <p:sp>
        <p:nvSpPr>
          <p:cNvPr id="43" name="Text 41"/>
          <p:cNvSpPr/>
          <p:nvPr/>
        </p:nvSpPr>
        <p:spPr>
          <a:xfrm>
            <a:off x="9738360" y="2286000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0264140" y="3017520"/>
            <a:ext cx="0" cy="-320040"/>
          </a:xfrm>
          <a:prstGeom prst="line">
            <a:avLst/>
          </a:prstGeom>
          <a:noFill/>
          <a:ln w="22225">
            <a:solidFill>
              <a:srgbClr val="7B5EA7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encoder compresses the input into a context vector c; the decoder unrolls it into the output sequence.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training tips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gradients (e.g. to a max norm of 5) to tame exploding gradients.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sensible sequence length; apply truncated BPTT for very long inputs.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layers or use bidirectional RNNs when future context is available.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dropout between layers (not across time) for regularization.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/ batch your sequences with padding + masking for efficiency.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forget-gate bias to 1 in LSTMs so the cell starts by remembering.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both LSTM and GRU — the winner is task-dependent; validate empirically.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128016" cy="82296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459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RNNs add memory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480560" y="16459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and shared weights let networks process sequences of any length.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87168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487168"/>
            <a:ext cx="128016" cy="82296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57860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Gradients are the catch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480560" y="2578608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RNNs suffer vanishing/exploding gradients and forget long-range context.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19856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419856"/>
            <a:ext cx="128016" cy="822960"/>
          </a:xfrm>
          <a:prstGeom prst="rect">
            <a:avLst/>
          </a:prstGeom>
          <a:solidFill>
            <a:srgbClr val="138A72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511296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8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adds a memory highway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480560" y="3511296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cell state and three gates preserve information over long spans.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52544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352544"/>
            <a:ext cx="128016" cy="82296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443984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B5E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 streamlines it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480560" y="4443984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gates, one state — comparable accuracy with less compute.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285232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5285232"/>
            <a:ext cx="128016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537667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empirically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480560" y="5376672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as a fast default, LSTM for capacity; validate on your own data.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READING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607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Hochreiter &amp; Schmidhuber (1997). Long Short-Term Memory. Neural Computation.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et al. (2014). Learning Phrase Representations using RNN Encoder–Decoder (GRU).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Chung et al. (2014). Empirical Evaluation of Gated Recurrent Neural Networks.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Olah — “Understanding LSTM Networks” (colah.github.io blog).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Andrej Karpathy — “The Unreasonable Effectiveness of Recurrent Neural Networks”.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Goodfellow, Bengio &amp; Courville — Deep Learning (Ch. 10, Sequence Modeling).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· LSTM · GRU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38A7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1512" y="-1463040"/>
            <a:ext cx="4023360" cy="4023360"/>
          </a:xfrm>
          <a:prstGeom prst="ellipse">
            <a:avLst/>
          </a:prstGeom>
          <a:solidFill>
            <a:srgbClr val="7B5EA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6868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1280160" cy="457200"/>
          </a:xfrm>
          <a:prstGeom prst="roundRect">
            <a:avLst>
              <a:gd name="adj" fmla="val 14000"/>
            </a:avLst>
          </a:prstGeom>
          <a:solidFill>
            <a:srgbClr val="E07B3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572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0" y="4572000"/>
            <a:ext cx="1280160" cy="457200"/>
          </a:xfrm>
          <a:prstGeom prst="roundRect">
            <a:avLst>
              <a:gd name="adj" fmla="val 14000"/>
            </a:avLst>
          </a:prstGeom>
          <a:solidFill>
            <a:srgbClr val="138A72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4572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03320" y="4572000"/>
            <a:ext cx="1280160" cy="457200"/>
          </a:xfrm>
          <a:prstGeom prst="roundRect">
            <a:avLst>
              <a:gd name="adj" fmla="val 14000"/>
            </a:avLst>
          </a:prstGeom>
          <a:solidFill>
            <a:srgbClr val="7B5EA7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4572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RNN, LSTM &amp; GRU</dc:title>
  <dc:subject>PptxGenJS Presentation</dc:subject>
  <dc:creator>Cowork</dc:creator>
  <cp:lastModifiedBy>Cowork</cp:lastModifiedBy>
  <cp:revision>1</cp:revision>
  <dcterms:created xsi:type="dcterms:W3CDTF">2026-07-22T17:49:19Z</dcterms:created>
  <dcterms:modified xsi:type="dcterms:W3CDTF">2026-07-22T17:49:19Z</dcterms:modified>
</cp:coreProperties>
</file>