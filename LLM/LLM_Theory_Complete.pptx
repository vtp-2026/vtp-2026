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023360"/>
            <a:ext cx="3108960" cy="3108960"/>
          </a:xfrm>
          <a:prstGeom prst="ellipse">
            <a:avLst/>
          </a:prstGeom>
          <a:solidFill>
            <a:srgbClr val="1B35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  ·  AGENTIC AI SYSTEMS  ·  DAY 4  ·  THEORY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transformers trained to predict the next word, and what that turns out to be enough for.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4754880" cy="0"/>
          </a:xfrm>
          <a:prstGeom prst="line">
            <a:avLst/>
          </a:prstGeom>
          <a:noFill/>
          <a:ln w="25400">
            <a:solidFill>
              <a:srgbClr val="2FB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concept-first tour: tokens, embeddings, generation, training, prompting, and honest limits.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Naya Raipur  ·  Vocational Training Program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Shape of the Session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parts, from what an LLM is to how to use one well.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83664"/>
            <a:ext cx="420624" cy="402336"/>
          </a:xfrm>
          <a:prstGeom prst="roundRect">
            <a:avLst>
              <a:gd name="adj" fmla="val 18182"/>
            </a:avLst>
          </a:prstGeom>
          <a:solidFill>
            <a:srgbClr val="2B6CA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836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801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an LLM 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69280" y="1801368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transformer to a model of language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569464"/>
            <a:ext cx="420624" cy="402336"/>
          </a:xfrm>
          <a:prstGeom prst="roundRect">
            <a:avLst>
              <a:gd name="adj" fmla="val 18182"/>
            </a:avLst>
          </a:prstGeom>
          <a:solidFill>
            <a:srgbClr val="3F927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94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871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LLMs See Language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669280" y="2487168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embeddings, and meaning as numbers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55264"/>
            <a:ext cx="420624" cy="402336"/>
          </a:xfrm>
          <a:prstGeom prst="roundRect">
            <a:avLst>
              <a:gd name="adj" fmla="val 18182"/>
            </a:avLst>
          </a:prstGeom>
          <a:solidFill>
            <a:srgbClr val="21406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552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1729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LLMs Work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669280" y="3172968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prediction, attention, and generation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941064"/>
            <a:ext cx="420624" cy="402336"/>
          </a:xfrm>
          <a:prstGeom prst="roundRect">
            <a:avLst>
              <a:gd name="adj" fmla="val 18182"/>
            </a:avLst>
          </a:prstGeom>
          <a:solidFill>
            <a:srgbClr val="F2B44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410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8587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LLMs Are Trained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669280" y="3858768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Pretraining, fine-tuning, RLHF, and scale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626864"/>
            <a:ext cx="420624" cy="402336"/>
          </a:xfrm>
          <a:prstGeom prst="roundRect">
            <a:avLst>
              <a:gd name="adj" fmla="val 18182"/>
            </a:avLst>
          </a:prstGeom>
          <a:solidFill>
            <a:srgbClr val="E0533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6268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4544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Using LLMs Well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669280" y="4544568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Prompting: zero-shot, few-shot, and reasoning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312664"/>
            <a:ext cx="420624" cy="402336"/>
          </a:xfrm>
          <a:prstGeom prst="roundRect">
            <a:avLst>
              <a:gd name="adj" fmla="val 18182"/>
            </a:avLst>
          </a:prstGeom>
          <a:solidFill>
            <a:srgbClr val="2FBE71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3126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5230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Limits and Ethics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669280" y="5230368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bias, and the bridge to RAG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916168"/>
            <a:ext cx="10579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 for today: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ever predicts the next word. Everything it can do grows out of doing that extremely well, at enormous scale.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377440" cy="23774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an LLM 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yesterday's transformer to a model of language itself.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TO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Bridge From Deep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transformer, make it enormous, and feed it the internet.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last idea.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transformer: an architecture that reads a whole sequence at once, using attention.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Take a transformer, scale it to billions of weights, and train it on a huge share of the internet's text.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Just one: given some text, predict the next word. Nothing more.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that well enough, at that scale, and the model can write, translate, summarise, and reason.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is a very large neural network trained to predict the next word, and that turns out to be enough.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Large Language Model?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words, each doing real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6CA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2715768"/>
            <a:ext cx="294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2941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parameters, trained on trillions of words, using enormous computing power.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784" y="187452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3816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F927F"/>
          </a:solidFill>
          <a:ln/>
        </p:spPr>
      </p:sp>
      <p:sp>
        <p:nvSpPr>
          <p:cNvPr id="14" name="Text 12"/>
          <p:cNvSpPr/>
          <p:nvPr/>
        </p:nvSpPr>
        <p:spPr>
          <a:xfrm>
            <a:off x="4623816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3816" y="2715768"/>
            <a:ext cx="294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Language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3816" y="3172968"/>
            <a:ext cx="2941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whole world is text: it reads text and it writes text. Nothing else.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6928" y="187452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42960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19" name="Text 17"/>
          <p:cNvSpPr/>
          <p:nvPr/>
        </p:nvSpPr>
        <p:spPr>
          <a:xfrm>
            <a:off x="844296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42960" y="2715768"/>
            <a:ext cx="294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42960" y="3172968"/>
            <a:ext cx="2941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network: a learned pattern that maps an input to an output. A transformer, specifically.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727448"/>
            <a:ext cx="10579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together: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transformer that has read a vast amount of human writing and learned the statistical shape of language.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SUDDENLY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Now?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was invented in 2017. Why the explosion since 2022?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Bigger models trained on more text kept getting better, long past where people expected a ceiling.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Past a certain size, abilities appear that smaller models simply did not have.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Training them to follow instructions turned a text predictor into a usable assistant.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chat box put them in everyone's hands. The technology was ready; the interface was the unlock.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lesson of the era: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brilliant idea was needed. Scale plus the transformer plus instruction training produced what we have today.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377440" cy="23774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LLMs See Language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words into numbers, and numbers into meaning.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Tokens: The Model's Alphabet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not read words. It reads tokens.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token is.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chunk of text: a word, part of a word, or a punctuation mark.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words?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Chunks handle any language, any typo, and any new word, without an infinite dictionary.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rule of thumb.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About 4 characters per token; roughly 75 words is 100 tokens.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tokens.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prompt is split into tokens, and the reply is generated one token at a time.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should care: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speed, and context limits are all counted in tokens, not words. Tokens are the unit of everything.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becomes a list of numbers that captures its meaning.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token is mapped to a vector: a long list of numbers, its position in 'meaning space'.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sit close.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'King' and 'queen' land near each other; 'king' and 'banana' land far apart.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Learned, not written.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Nobody defines these numbers. The model learns them from how words are used.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example.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king minus man plus woman lands near queen. Relationships become arithmetic.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Day 2?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features, learned automatically. Deep learning learns the features, and for language those features are embeddings.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EMBEDDINGS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Semantic 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let a machine compare meaning, not spelling.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letters. 'Car' does not match 'automobile', though they mean the same.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Compares embeddings. 'Car' and 'automobile' sit close, so they match.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closeness is measured.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distance between two vectors, exactly the distance idea from kNN.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is the engine of retrieval, and it is the heart of tomorrow's topic, RAG.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of the week: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you used in the movie recommender is the same distance that finds relevant documents for an LLM.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377440" cy="23774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LLMs Work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prediction, repeated: the whole mechanism.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Next-Token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LLM does comes from this single, simple job.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Given all the text so far, predict which token comes next.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answer, a distribution.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outputs a probability for every possible next token.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After 'The capital of France is', the token 'Paris' gets a very high probability.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model.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There is no database of facts and no reasoning engine. Only next-token probabilities.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unsettling truth: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know Paris is the capital. It has learned that 'Paris' is overwhelmingly the likely next token.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SENTENCE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Generation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one-token prediction becomes a whole paragraph.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013509" cy="2514600"/>
          </a:xfrm>
          <a:prstGeom prst="roundRect">
            <a:avLst>
              <a:gd name="adj" fmla="val 3633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5938" y="2249424"/>
            <a:ext cx="438912" cy="438912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9" name="Text 7"/>
          <p:cNvSpPr/>
          <p:nvPr/>
        </p:nvSpPr>
        <p:spPr>
          <a:xfrm>
            <a:off x="1335938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798064"/>
            <a:ext cx="179405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1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3401568"/>
            <a:ext cx="179405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 is split into tokens and fed in.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818181" y="2011680"/>
            <a:ext cx="2013509" cy="2514600"/>
          </a:xfrm>
          <a:prstGeom prst="roundRect">
            <a:avLst>
              <a:gd name="adj" fmla="val 3633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5479" y="2249424"/>
            <a:ext cx="438912" cy="438912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14" name="Text 12"/>
          <p:cNvSpPr/>
          <p:nvPr/>
        </p:nvSpPr>
        <p:spPr>
          <a:xfrm>
            <a:off x="3605479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7909" y="2798064"/>
            <a:ext cx="179405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1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7909" y="3401568"/>
            <a:ext cx="179405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gives a probability for every possible next token.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87722" y="2011680"/>
            <a:ext cx="2013509" cy="2514600"/>
          </a:xfrm>
          <a:prstGeom prst="roundRect">
            <a:avLst>
              <a:gd name="adj" fmla="val 3633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5020" y="2249424"/>
            <a:ext cx="438912" cy="438912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19" name="Text 17"/>
          <p:cNvSpPr/>
          <p:nvPr/>
        </p:nvSpPr>
        <p:spPr>
          <a:xfrm>
            <a:off x="5875020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7450" y="2798064"/>
            <a:ext cx="179405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1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7450" y="3401568"/>
            <a:ext cx="179405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is chosen from those probabilities.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57262" y="2011680"/>
            <a:ext cx="2013509" cy="2514600"/>
          </a:xfrm>
          <a:prstGeom prst="roundRect">
            <a:avLst>
              <a:gd name="adj" fmla="val 3633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4561" y="2249424"/>
            <a:ext cx="438912" cy="438912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24" name="Text 22"/>
          <p:cNvSpPr/>
          <p:nvPr/>
        </p:nvSpPr>
        <p:spPr>
          <a:xfrm>
            <a:off x="8144561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66990" y="2798064"/>
            <a:ext cx="179405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1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66990" y="3401568"/>
            <a:ext cx="179405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token is added to the text so far.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626803" y="2011680"/>
            <a:ext cx="2013509" cy="2514600"/>
          </a:xfrm>
          <a:prstGeom prst="roundRect">
            <a:avLst>
              <a:gd name="adj" fmla="val 3633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14102" y="2249424"/>
            <a:ext cx="438912" cy="438912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4102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36531" y="2798064"/>
            <a:ext cx="179405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1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36531" y="3401568"/>
            <a:ext cx="179405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all back in and predict again, until done.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864608"/>
            <a:ext cx="10579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it types word by word: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a fresh prediction over everything written so far. The model is re-reading its own output constantly.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Attention, Briefly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decides which earlier words matter.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predict well, the model must know which earlier words are relevant right now.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each token, the model learns how much to focus on every other token.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example.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'the cat sat because it was tired', attention links 'it' back to 'cat'.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captures long-range context and runs in parallel, which is what made huge models trainable.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explained: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literally learns what to pay attention to. That mechanism is the transformer's whole contribution.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CREATIVITY DIAL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Temperature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setting that decides how predictable the output 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Controls how the next token is picked from the probability list.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(near 0).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Almost always take the most likely token. Focused, repetitive, and consistent.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(near 1 or above).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Sometimes take a less likely token. Creative, surprising, and riskier.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it.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for facts, code, and extraction. Higher for brainstorming, stories, and variety.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prompt gives different answers: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pick step is random by design. Temperature controls how random.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WORKING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Context Window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can see at once, and nothing more.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maximum number of tokens the model can consider in one go: your prompt plus its reply.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whole memory.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has no memory between calls. If it is not in the context, it does not exist.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'memory' is a trick.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 resend the whole conversation each turn. That is why long chats get slower and costlier.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finite.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Overflow the window and the earliest text is dropped. The model forgets the start.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misunderstood fact about LLMs: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stateless. It does not remember you; the application re-feeds the history every single time.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377440" cy="23774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LLMs Are Trained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predictor to helpful assistant.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Pretraining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internet, and learning language by prediction.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vast share of public text: web pages, books, code, and conversation.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Hide the next token and predict it. Repeat trillions of times.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text labels itself: the next word IS the answer. This is self-supervised learning.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Months of compute on thousands of GPUs, costing millions. This is why few organisations do 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this stage: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has absorbed grammar, facts, style, and reasoning patterns, but that just continues text rather than helping you.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Fine-Tuning and Instruction 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text continuer into an assistant that answers.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after pretraining.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 it a question and it might continue with more questions. It completes; it does not assist.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 it further on examples of instructions paired with good responses.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generally.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Take a pretrained model and specialise it on a smaller, targeted dataset.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callback.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is transfer learning: reuse the giant pretrained model, adapt the behaviour cheaply.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gives knowledge; instruction tuning gives helpfulness. Both are needed for a usable assistant.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From Human Feedback (RLHF)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model which answers people actually prefer.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Humans compare two answers and pick the better one, many thousands of times.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reward model.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Those preferences train a second model that scores how good an answer is.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LLM is then tuned to produce answers that score well. Day 2's third type of ML, right here.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helpful, more honest, less harmful. This is the polish that made chatbots pleasant to use.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raw text predictor and an assistant you would actually talk to is largely this stage.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 OF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Emergence and Scaling Laws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did not just mean better. It meant different.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Performance improves predictably as model size, data, and compute grow together.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Some skills appear suddenly past a size threshold, absent in smaller models.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Multi-step arithmetic, following complex instructions, and reasoning through a problem.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debate.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Whether this is genuine reasoning or very sophisticated pattern completion is still argued.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this honestly: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fully predicted these abilities in advance, and nobody can fully explain them now.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377440" cy="23774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Using LLMs Well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interface. Learn to use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Prompting: Why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gives good or bad answers depending on how you ask.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prompt is your only control. It sets the context every prediction is made from.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Vague in, vague out. Say the task, the audience, the format, and the length.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knows nothing about your situation unless you put it in the prompt.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 not just tell.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good example is often worth a paragraph of instructions.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searching a database. You are steering a prediction. Better context, better predictions.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BASIC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Zero-Shot and Few-Shot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directly, or teach by example inside the prompt.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1723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B6CA3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21408"/>
            <a:ext cx="47685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47685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ask, with no examples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'Classify this review as positive or negative'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common tasks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1920240"/>
            <a:ext cx="531723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FBE71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7396" y="2121408"/>
            <a:ext cx="47685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E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Few-shot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7396" y="2633472"/>
            <a:ext cx="47685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 to 5 examples first, then the real input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exact format and style you want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more reliable output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 tokens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636008"/>
            <a:ext cx="10579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remarkable part: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 happens IN the prompt. No retraining, no weights change. The examples just steer the prediction.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THINK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Chain-of-Thought Prompting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steps, and the answers get better.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'think step by step' or ask it to show its working.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token is predicted from the text so far, so written-out steps become context for the next step.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shines.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Maths, logic, and multi-step problems, where jumping to the answer fails.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tokens, so slower and pricier. Use it where the reasoning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reason it works: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scratchpad except its own output. Letting it write the steps IS letting it think.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Prompts and Roles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that shapes every reply in a conversation.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standing instruction placed before the conversation: who the model is and how it should behave.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Messages are labelled: system (the rules), user (you), and assistant (the model).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powerful.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sets tone, format, boundaries, and persona for every turn, without repeating yourself.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instruction, not enforcement. A determined user can often talk around 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to Day 5 and beyond: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plus tools plus memory is what turns a chatbot into an agent.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377440" cy="237744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Limits and Ethics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 cannot do, and what we owe when we deploy them.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Hallucination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will state false things with complete confidence.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Fluent, confident output that is simply wrong: invented facts, fake citations, imaginary functions.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predicts plausible text, not true text. A convincing lie and a fact look alike statistically.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lying.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There is no intent, and no internal check for truth. It has no idea it is wrong.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Ground it in real sources, ask for citations, and verify anything that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to teach everyone: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fluent, not truthful. Fluency is what it optimises; truth is a side effect.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LEDGER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 Limits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raw LLM fails, and why tomorrow's topic exists.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85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203704"/>
            <a:ext cx="292608" cy="29260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4884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679192"/>
            <a:ext cx="4928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invents confident, plausible falsehoods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1965960"/>
            <a:ext cx="5385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203704"/>
            <a:ext cx="292608" cy="292608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3" name="Text 11"/>
          <p:cNvSpPr/>
          <p:nvPr/>
        </p:nvSpPr>
        <p:spPr>
          <a:xfrm>
            <a:off x="6894576" y="214884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Stale knowledge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79192"/>
            <a:ext cx="4928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knows its training data, frozen at a 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385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3895344"/>
            <a:ext cx="292608" cy="292608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84048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private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370832"/>
            <a:ext cx="4928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never seen your notes, files, or company docs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3657600"/>
            <a:ext cx="53858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895344"/>
            <a:ext cx="292608" cy="292608"/>
          </a:xfrm>
          <a:prstGeom prst="ellipse">
            <a:avLst/>
          </a:prstGeom>
          <a:solidFill>
            <a:srgbClr val="3F927F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384048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Weak reasoning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0528" y="4370832"/>
            <a:ext cx="4928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fail at multi-step logic and arithmetic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230368"/>
            <a:ext cx="10579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answer: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these four are fixed by giving the model the right text at the right moment. That is RAG, and it is Day 5.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Bias, Cost and Misuse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human writing, deployed to millions.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533D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2715768"/>
            <a:ext cx="294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2941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absorbs the biases in its training text, then repeats them at scale, in hiring, lending, and advice.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784" y="187452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3816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14" name="Text 12"/>
          <p:cNvSpPr/>
          <p:nvPr/>
        </p:nvSpPr>
        <p:spPr>
          <a:xfrm>
            <a:off x="4623816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3816" y="2715768"/>
            <a:ext cx="294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 and climate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3816" y="3172968"/>
            <a:ext cx="2941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running these models consumes serious energy and money. Every token has a price.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6928" y="187452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1EC"/>
            </a:solidFill>
            <a:prstDash val="solid"/>
          </a:ln>
          <a:effectLst>
            <a:outerShdw sx="100000" sy="100000" kx="0" ky="0" algn="bl" rotWithShape="0" blurRad="114300" dist="38100" dir="5400000">
              <a:srgbClr val="14273D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42960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6CA3"/>
          </a:solidFill>
          <a:ln/>
        </p:spPr>
      </p:sp>
      <p:sp>
        <p:nvSpPr>
          <p:cNvPr id="19" name="Text 17"/>
          <p:cNvSpPr/>
          <p:nvPr/>
        </p:nvSpPr>
        <p:spPr>
          <a:xfrm>
            <a:off x="844296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42960" y="2715768"/>
            <a:ext cx="294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Misuse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42960" y="3172968"/>
            <a:ext cx="2941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text at scale enables spam, scams, cheating, and disinformation.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727448"/>
            <a:ext cx="10579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builder's duty: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accountable for consequential decisions, disclose AI use, and never treat fluent output as verified truth.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Bridge to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the facts, and most of its problems shrink.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515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is a brilliant reader and writer. It is a terrible library.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stop asking it to remember.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Instead, fetch the right text and put it in the prompt.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Search your documents, paste the best passages into the context, then ask.</a:t>
            </a:r>
            <a:endParaRPr lang="en-US" sz="1450" dirty="0"/>
          </a:p>
          <a:p>
            <a:pPr marL="254000" indent="-254000">
              <a:lnSpc>
                <a:spcPct val="114000"/>
              </a:lnSpc>
              <a:buSzPct val="100000"/>
              <a:buChar char="•"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5.</a:t>
            </a:r>
            <a:pPr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build exactly this: chunk, embed, retrieve, augment, and answer with citations.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93208"/>
            <a:ext cx="10579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the week:  </a:t>
            </a:r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then learning, then deep learning, then language, and tomorrow, language grounded in your own knowledge.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Seven Ideas to Keep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nothing else, remember these.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764792"/>
            <a:ext cx="365760" cy="365760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166420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only predicts the next token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66420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else, writing, translating, reasoning, emerges from doing that well.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404872"/>
            <a:ext cx="365760" cy="365760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404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230428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sees tokens, not words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230428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speed, and context limits are all measured in tokens.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044952"/>
            <a:ext cx="365760" cy="365760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294436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Embeddings are meaning as numbers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294436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sit close together. This powers semantic search and RAG.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685032"/>
            <a:ext cx="365760" cy="365760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358444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Attention is the mechanism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58444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which earlier words matter for the next prediction.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325112"/>
            <a:ext cx="365760" cy="365760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61872" y="422452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 has stages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422452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gives knowledge; instruction tuning and RLHF give helpfulness.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4965192"/>
            <a:ext cx="365760" cy="365760"/>
          </a:xfrm>
          <a:prstGeom prst="ellipse">
            <a:avLst/>
          </a:prstGeom>
          <a:solidFill>
            <a:srgbClr val="2B6CA3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61872" y="486460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is the interface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23560" y="486460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examples, and 'think step by step' change the output dramatically.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E9F1F7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5605272"/>
            <a:ext cx="365760" cy="365760"/>
          </a:xfrm>
          <a:prstGeom prst="ellipse">
            <a:avLst/>
          </a:prstGeom>
          <a:solidFill>
            <a:srgbClr val="2FBE71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5605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61872" y="550468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is fluent, not truthful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23560" y="5504688"/>
            <a:ext cx="5879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hallucinates, has stale knowledge, and never saw your data. Ground it and verify.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27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Terms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 will hear throughout the LLM world.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D3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Day 4  ·  Track 5, IIIT Naya Raipur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4767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Token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24028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text: the model's basic unit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87452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6812" y="194767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6812" y="224028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 representing meaning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77063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 window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096" y="306324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tokens the model can see at once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269748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6812" y="277063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Temperature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6812" y="306324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 the next-token pick 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59359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Pretraining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8096" y="388620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language by predicting the next token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77356" y="352044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6812" y="359359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Fine-tuning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6812" y="388620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pretrained model to a task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41655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Few-shot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68096" y="470916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by examples inside the prompt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7356" y="4343400"/>
            <a:ext cx="5362956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D3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6812" y="4416552"/>
            <a:ext cx="4905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A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Hallucination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6812" y="4709160"/>
            <a:ext cx="49057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output that is simply false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474720" cy="3474720"/>
          </a:xfrm>
          <a:prstGeom prst="ellipse">
            <a:avLst/>
          </a:prstGeom>
          <a:solidFill>
            <a:srgbClr val="2140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Know What Is Behind the Chat Box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7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tokens and embeddings, how generation works one token at a time, how these models are trained and aligned, how to prompt them well, and exactly where they fail.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4754880" cy="0"/>
          </a:xfrm>
          <a:prstGeom prst="line">
            <a:avLst/>
          </a:prstGeom>
          <a:noFill/>
          <a:ln w="25400">
            <a:solidFill>
              <a:srgbClr val="2FBE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Day 5: RAG, giving the model your knowledge so it stops guessing.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·  Theory  ·  Track 5, IIIT Naya Raipur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Models: Complete Theory</dc:title>
  <dc:subject>PptxGenJS Presentation</dc:subject>
  <dc:creator>IIIT Naya Raipur - Track 5</dc:creator>
  <cp:lastModifiedBy>IIIT Naya Raipur - Track 5</cp:lastModifiedBy>
  <cp:revision>1</cp:revision>
  <dcterms:created xsi:type="dcterms:W3CDTF">2026-07-15T13:57:44Z</dcterms:created>
  <dcterms:modified xsi:type="dcterms:W3CDTF">2026-07-15T13:57:44Z</dcterms:modified>
</cp:coreProperties>
</file>