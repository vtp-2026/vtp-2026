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94376" y="1005840"/>
            <a:ext cx="1600200" cy="1600200"/>
          </a:xfrm>
          <a:prstGeom prst="ellipse">
            <a:avLst/>
          </a:prstGeom>
          <a:solidFill>
            <a:srgbClr val="1B3A6B">
              <a:alpha val="7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2704" y="1417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017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Preprocessing: The Titanic Dataset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404164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7D6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Cleaning real passenger data step by step — with code and live output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14400" y="4800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 →  explore  →  clean  →  encode  →  scale  →  split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0080"/>
            <a:ext cx="36576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38912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Titanic Dataset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371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dataset of 891 passengers from the RMS Titanic. The goal of analysis is to predict who survived. Here is what each column means and where the data needs cleaning.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" y="26517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214884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(rows)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712464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371246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2148840" y="371246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4773168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477316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2148840" y="477316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with missing data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371600"/>
          <a:ext cx="58978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Survived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0 = died, 1 = survived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Pclass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class (1, 2, 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 name (text)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in years — 177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SibSp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Siblings / spouses aboard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Parch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Parents / children aboard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Ticket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number (text)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Fare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fare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Cabin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 — 687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Embarked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Port: C, Q, S — 2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The Dataset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9224"/>
            <a:ext cx="347472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38912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Preprocessing Plan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706624" cy="4526280"/>
          </a:xfrm>
          <a:prstGeom prst="roundRect">
            <a:avLst>
              <a:gd name="adj" fmla="val 2703"/>
            </a:avLst>
          </a:prstGeom>
          <a:solidFill>
            <a:srgbClr val="EEF3F9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08760"/>
            <a:ext cx="2706624" cy="868680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55648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150876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Explore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41248" y="2606040"/>
            <a:ext cx="224942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preview</a:t>
            </a:r>
            <a:endParaRPr lang="en-US" sz="1400" dirty="0"/>
          </a:p>
          <a:p>
            <a:pPr algn="l"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structure</a:t>
            </a:r>
            <a:endParaRPr lang="en-US" sz="1400" dirty="0"/>
          </a:p>
          <a:p>
            <a:pPr algn="l"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missing values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447288" y="1508760"/>
            <a:ext cx="2706624" cy="4526280"/>
          </a:xfrm>
          <a:prstGeom prst="roundRect">
            <a:avLst>
              <a:gd name="adj" fmla="val 2703"/>
            </a:avLst>
          </a:prstGeom>
          <a:solidFill>
            <a:srgbClr val="EEF3F9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47288" y="1508760"/>
            <a:ext cx="2706624" cy="868680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755648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97096" y="150876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Clean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739896" y="2606040"/>
            <a:ext cx="224942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Age (median)</a:t>
            </a:r>
            <a:endParaRPr lang="en-US" sz="1400" dirty="0"/>
          </a:p>
          <a:p>
            <a:pPr algn="l"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Embarked (mode)</a:t>
            </a:r>
            <a:endParaRPr lang="en-US" sz="1400" dirty="0"/>
          </a:p>
          <a:p>
            <a:pPr algn="l"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 / text cols</a:t>
            </a:r>
            <a:endParaRPr lang="en-US" sz="1400" dirty="0"/>
          </a:p>
          <a:p>
            <a:pPr algn="l"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Fare outliers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345936" y="1508760"/>
            <a:ext cx="2706624" cy="4526280"/>
          </a:xfrm>
          <a:prstGeom prst="roundRect">
            <a:avLst>
              <a:gd name="adj" fmla="val 2703"/>
            </a:avLst>
          </a:prstGeom>
          <a:solidFill>
            <a:srgbClr val="EEF3F9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345936" y="1508760"/>
            <a:ext cx="2706624" cy="868680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175564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95744" y="150876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Transform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638544" y="2606040"/>
            <a:ext cx="224942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Sex</a:t>
            </a:r>
            <a:endParaRPr lang="en-US" sz="1400" dirty="0"/>
          </a:p>
          <a:p>
            <a:pPr algn="l"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Embarked</a:t>
            </a:r>
            <a:endParaRPr lang="en-US" sz="1400" dirty="0"/>
          </a:p>
          <a:p>
            <a:pPr algn="l"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FamilySize</a:t>
            </a:r>
            <a:endParaRPr lang="en-US" sz="1400" dirty="0"/>
          </a:p>
          <a:p>
            <a:pPr algn="l"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Age &amp; Fare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244584" y="1508760"/>
            <a:ext cx="2706624" cy="4526280"/>
          </a:xfrm>
          <a:prstGeom prst="roundRect">
            <a:avLst>
              <a:gd name="adj" fmla="val 2703"/>
            </a:avLst>
          </a:prstGeom>
          <a:solidFill>
            <a:srgbClr val="EEF3F9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244584" y="1508760"/>
            <a:ext cx="2706624" cy="868680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616" y="1755648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94392" y="150876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Prepare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9537192" y="2606040"/>
            <a:ext cx="224942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400" dirty="0"/>
          </a:p>
          <a:p>
            <a:pPr algn="l"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X &amp; y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Plan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41248" cy="841248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 ·  Titanic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&amp; First Look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075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CSV into a DataFrame and preview the first rows.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clean what you haven't seen — confirm it loaded and eyeball the columns.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rows × 12 columns loaded.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5687568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C7D6E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87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2075688"/>
            <a:ext cx="5852160" cy="1506931"/>
          </a:xfrm>
          <a:prstGeom prst="roundRect">
            <a:avLst>
              <a:gd name="adj" fmla="val 3641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53328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473952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089904" y="2478024"/>
            <a:ext cx="5431536" cy="99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pd.read_csv("titanic.csv")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df[["Survived","Pclass","Sex","Age","Fare"]].head()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3728923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4039819"/>
            <a:ext cx="5852160" cy="1591605"/>
          </a:xfrm>
          <a:prstGeom prst="rect">
            <a:avLst/>
          </a:prstGeom>
          <a:solidFill>
            <a:srgbClr val="F8FAFC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140403"/>
            <a:ext cx="5522976" cy="1390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(891, 12)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Survived  Pclass     Sex   Age     Fare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     0       3    male  22.0   7.2500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 1       1  female  38.0  71.2833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   1       3  female  26.0   7.9250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   1       1  female  35.0  53.1000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   0       3    male  35.0   8.0500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Step 1: Load &amp; First Look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41248" cy="841248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 ·  Titanic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 Structure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075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column names, data types, and non-null counts in one view.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 instantly reveals which columns have missing data and the wrong types.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Cabin &amp; Embarked have gaps.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5687568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C7D6E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87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2075688"/>
            <a:ext cx="5852160" cy="829361"/>
          </a:xfrm>
          <a:prstGeom prst="roundRect">
            <a:avLst>
              <a:gd name="adj" fmla="val 6615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53328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473952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089904" y="2478024"/>
            <a:ext cx="5431536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3051353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3362249"/>
            <a:ext cx="5852160" cy="3339023"/>
          </a:xfrm>
          <a:prstGeom prst="rect">
            <a:avLst/>
          </a:prstGeom>
          <a:solidFill>
            <a:srgbClr val="F8FAFC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3462833"/>
            <a:ext cx="5522976" cy="3137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'pandas.DataFrame'&gt;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RangeIndex: 891 entries, 0 to 890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columns (total 12 columns):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  Column       Non-Null Count  Dtype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 ------       --------------  -----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   PassengerId  891 non-null    int64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Survived     891 non-null    int64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Pclass       891 non-null    int64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Name         891 non-null    str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Sex          891 non-null    str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Age          714 non-null    float64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 SibSp        891 non-null    int64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 Parch        891 non-null    int64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 Ticket       891 non-null    str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 Fare         891 non-null    float64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  Cabin        204 non-null    str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11  Embarked     889 non-null    str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dtypes: float64(2), int64(5), str(5)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Step 2: Inspect Structure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41248" cy="841248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 ·  Titanic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Missing Values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075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missing (NaN) values in every column.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fill and what to drop, based on how much each column is missing.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177 · Cabin 687 · Embarked 2.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5687568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C7D6E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87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2075688"/>
            <a:ext cx="5852160" cy="829361"/>
          </a:xfrm>
          <a:prstGeom prst="roundRect">
            <a:avLst>
              <a:gd name="adj" fmla="val 6615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53328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473952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089904" y="2478024"/>
            <a:ext cx="5431536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3051353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3362249"/>
            <a:ext cx="5852160" cy="2720706"/>
          </a:xfrm>
          <a:prstGeom prst="rect">
            <a:avLst/>
          </a:prstGeom>
          <a:solidFill>
            <a:srgbClr val="F8FAFC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3462833"/>
            <a:ext cx="5522976" cy="251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PassengerId      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Survived         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Pclass           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              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         177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SibSp            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Parch            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           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             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Cabin          687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Embarked         2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dtype: int64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Step 3: Find Missing Values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41248" cy="841248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 ·  Titanic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 Missing Age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075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177 missing ages with the median age.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is robust to outliers — a safe fill for a skewed column like Age.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28.0 · missing Age now 0.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5687568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C7D6E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87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2075688"/>
            <a:ext cx="5852160" cy="1506931"/>
          </a:xfrm>
          <a:prstGeom prst="roundRect">
            <a:avLst>
              <a:gd name="adj" fmla="val 3641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53328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473952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089904" y="2478024"/>
            <a:ext cx="5431536" cy="99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median_age = df["Age"].median()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df["Age"] = df["Age"].fillna(median_age)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print(median_age)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df["Age"].isnull().sum()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3728923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4039819"/>
            <a:ext cx="5852160" cy="650687"/>
          </a:xfrm>
          <a:prstGeom prst="rect">
            <a:avLst/>
          </a:prstGeom>
          <a:solidFill>
            <a:srgbClr val="F8FAFC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140403"/>
            <a:ext cx="5522976" cy="449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Step 4: Fill Missing Age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41248" cy="841248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  ·  Titanic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 Missing Embarked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075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2 missing ports with the most common value (mode).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categorical column with very few gaps, the mode is the natural choice.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"S" (Southampton).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5687568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C7D6E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87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2075688"/>
            <a:ext cx="5852160" cy="1506931"/>
          </a:xfrm>
          <a:prstGeom prst="roundRect">
            <a:avLst>
              <a:gd name="adj" fmla="val 3641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53328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473952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089904" y="2478024"/>
            <a:ext cx="5431536" cy="99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mode_emb = df["Embarked"].mode()[0]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df["Embarked"] = df["Embarked"].fillna(mode_emb)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print(mode_emb)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df["Embarked"].value_counts()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3728923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4039819"/>
            <a:ext cx="5852160" cy="1403421"/>
          </a:xfrm>
          <a:prstGeom prst="rect">
            <a:avLst/>
          </a:prstGeom>
          <a:solidFill>
            <a:srgbClr val="F8FAFC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140403"/>
            <a:ext cx="5522976" cy="1202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Embarked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  646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  168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   77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count, dtype: int64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Step 5: Fill Missing Embarked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41248" cy="841248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  ·  Titanic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Unneeded Columns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075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columns that are IDs, free text, or mostly empty.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PassengerId, Name and Ticket carry no signal; Cabin is ~77% missing.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useful columns remain.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5687568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C7D6E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87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2075688"/>
            <a:ext cx="5852160" cy="1281074"/>
          </a:xfrm>
          <a:prstGeom prst="roundRect">
            <a:avLst>
              <a:gd name="adj" fmla="val 4283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53328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473952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089904" y="2478024"/>
            <a:ext cx="5431536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df.drop(columns=["PassengerId", "Name",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"Ticket", "Cabin"])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350306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3813962"/>
            <a:ext cx="5852160" cy="838871"/>
          </a:xfrm>
          <a:prstGeom prst="rect">
            <a:avLst/>
          </a:prstGeom>
          <a:solidFill>
            <a:srgbClr val="F8FAFC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3914546"/>
            <a:ext cx="5522976" cy="63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Index(['Survived', 'Pclass', 'Sex', 'Age',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'SibSp', 'Parch', 'Fare', 'Embarked'],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dtype='object')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Step 6: Drop Unneeded Columns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41248" cy="841248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  ·  Titanic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 Sex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075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text categories to numbers: male to 0, female to 1.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need numeric input; Sex has two categories, so a simple map works.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is now 0 / 1.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5687568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C7D6E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87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2075688"/>
            <a:ext cx="5852160" cy="1281074"/>
          </a:xfrm>
          <a:prstGeom prst="roundRect">
            <a:avLst>
              <a:gd name="adj" fmla="val 4283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53328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473952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089904" y="2478024"/>
            <a:ext cx="5431536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df["Sex"] = df["Sex"].map({"male": 0,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"female": 1})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df["Sex"].value_counts()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350306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3813962"/>
            <a:ext cx="5852160" cy="1027054"/>
          </a:xfrm>
          <a:prstGeom prst="rect">
            <a:avLst/>
          </a:prstGeom>
          <a:solidFill>
            <a:srgbClr val="F8FAFC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3914546"/>
            <a:ext cx="5522976" cy="82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0    577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1    314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count, dtype: int64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Step 7: Encode Sex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41248" cy="841248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08  ·  Titanic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One-Hot Encode Embarked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075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3 ports into separate 0/1 columns with get_dummies().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Embarked is unordered (nominal), so one-hot avoids implying a false ranking.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Embarked → _C / _Q / _S columns.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5687568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C7D6E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87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2075688"/>
            <a:ext cx="5852160" cy="1281074"/>
          </a:xfrm>
          <a:prstGeom prst="roundRect">
            <a:avLst>
              <a:gd name="adj" fmla="val 4283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53328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473952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089904" y="2478024"/>
            <a:ext cx="5431536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pd.get_dummies(df, columns=["Embarked"],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dtype=int)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df.filter(like="Embarked").head()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350306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3813962"/>
            <a:ext cx="5852160" cy="1403421"/>
          </a:xfrm>
          <a:prstGeom prst="rect">
            <a:avLst/>
          </a:prstGeom>
          <a:solidFill>
            <a:srgbClr val="F8FAFC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3914546"/>
            <a:ext cx="5522976" cy="1202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Embarked_C  Embarked_Q  Embarked_S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0           0           0           1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1           1           0           0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2           0           0           1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3           0           0           1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4           0           0           1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Step 8: One-Hot Encode Embarked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41248" cy="841248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09  ·  Titanic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FamilySize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075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new feature: SibSp + Parch + 1.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relatives into one family-size feature often predicts survival better.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FamilySize column added.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5687568"/>
            <a:ext cx="3191256" cy="365760"/>
          </a:xfrm>
          <a:prstGeom prst="roundRect">
            <a:avLst>
              <a:gd name="adj" fmla="val 50000"/>
            </a:avLst>
          </a:prstGeom>
          <a:solidFill>
            <a:srgbClr val="C7D6E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87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(feature engineering)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2075688"/>
            <a:ext cx="5852160" cy="1055218"/>
          </a:xfrm>
          <a:prstGeom prst="roundRect">
            <a:avLst>
              <a:gd name="adj" fmla="val 5199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53328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473952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089904" y="2478024"/>
            <a:ext cx="543153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df["FamilySize"] = df["SibSp"] + df["Parch"] + 1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df[["SibSp", "Parch", "FamilySize"]].head()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327721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3588106"/>
            <a:ext cx="5852160" cy="1403421"/>
          </a:xfrm>
          <a:prstGeom prst="rect">
            <a:avLst/>
          </a:prstGeom>
          <a:solidFill>
            <a:srgbClr val="F8FAFC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3688690"/>
            <a:ext cx="5522976" cy="1202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SibSp  Parch  FamilySize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0      1      0           2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1      1      0           2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2      0      0           1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3      1      0           2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4      0      0           1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Step 9: Create FamilySize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41248" cy="841248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 ·  Titanic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 Fare Outliers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075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extreme fares with the IQR rule and cap them at the upper bound.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very high fares can distort scaling and the model; capping limits their effect.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fares capped at 65.63.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5687568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C7D6E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87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2075688"/>
            <a:ext cx="5852160" cy="1732788"/>
          </a:xfrm>
          <a:prstGeom prst="roundRect">
            <a:avLst>
              <a:gd name="adj" fmla="val 3166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53328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473952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089904" y="2478024"/>
            <a:ext cx="5431536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Q1, Q3 = df["Fare"].quantile([.25, .75])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= Q3 + 1.5 * (Q3 - Q1)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print(round(upper, 2), int((df["Fare"] &gt; upper).sum()))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df["Fare"] = df["Fare"].clip(upper=upper)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df["Fare"].max()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39547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4265676"/>
            <a:ext cx="5852160" cy="650687"/>
          </a:xfrm>
          <a:prstGeom prst="rect">
            <a:avLst/>
          </a:prstGeom>
          <a:solidFill>
            <a:srgbClr val="F8FAFC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366260"/>
            <a:ext cx="5522976" cy="449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65.63 116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65.63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Step 10: Cap Fare Outliers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41248" cy="841248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 ·  Titanic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Age &amp; Fare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075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the numeric columns to mean 0 and standard deviation 1.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Fare are on very different scales; standardizing puts them on equal footing.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Fare now mean 0, std 1.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5687568"/>
            <a:ext cx="1655064" cy="365760"/>
          </a:xfrm>
          <a:prstGeom prst="roundRect">
            <a:avLst>
              <a:gd name="adj" fmla="val 50000"/>
            </a:avLst>
          </a:prstGeom>
          <a:solidFill>
            <a:srgbClr val="C7D6E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87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2075688"/>
            <a:ext cx="5852160" cy="1732788"/>
          </a:xfrm>
          <a:prstGeom prst="roundRect">
            <a:avLst>
              <a:gd name="adj" fmla="val 3166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53328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473952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089904" y="2478024"/>
            <a:ext cx="5431536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df[["Age", "Fare"]] = scaler.fit_transform(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df[["Age", "Fare"]])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df[["Age", "Fare"]].describe().round(2)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39547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4265676"/>
            <a:ext cx="5852160" cy="196797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366260"/>
            <a:ext cx="5522976" cy="176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Age    Fare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 891.00  891.00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    0.00    0.00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     1.00    1.00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   -2.22   -1.17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     -0.57   -0.79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     -0.10   -0.47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75%      0.43    0.34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     3.89    2.03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Step 11: Scale Age &amp; Fare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41248" cy="841248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 ·  Titanic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/ Test Split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075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features (X) and the target Survived (y) into train and test sets.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held-out test set checks how well the model generalises to unseen passengers.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712 train · 179 test rows.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5687568"/>
            <a:ext cx="1655064" cy="365760"/>
          </a:xfrm>
          <a:prstGeom prst="roundRect">
            <a:avLst>
              <a:gd name="adj" fmla="val 50000"/>
            </a:avLst>
          </a:prstGeom>
          <a:solidFill>
            <a:srgbClr val="C7D6E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87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2075688"/>
            <a:ext cx="5852160" cy="1958645"/>
          </a:xfrm>
          <a:prstGeom prst="roundRect">
            <a:avLst>
              <a:gd name="adj" fmla="val 2801"/>
            </a:avLst>
          </a:prstGeom>
          <a:solidFill>
            <a:srgbClr val="1223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53328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473952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089904" y="2478024"/>
            <a:ext cx="5431536" cy="1446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df.drop("Survived", axis=1)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df["Survived"]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random_state=42)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print(X_train.shape, X_test.shape)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4180637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4491533"/>
            <a:ext cx="5852160" cy="462504"/>
          </a:xfrm>
          <a:prstGeom prst="rect">
            <a:avLst/>
          </a:prstGeom>
          <a:solidFill>
            <a:srgbClr val="F8FAFC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592117"/>
            <a:ext cx="5522976" cy="26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(712, 10) (179, 10)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Step 12: Train / Test Split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38912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Result: Model-Ready Data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ACHIEVED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lnSpc>
                <a:spcPts val="20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Age (median) and Embarked (mode)</a:t>
            </a: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lnSpc>
                <a:spcPts val="20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ID, text, and mostly-empty columns</a:t>
            </a: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lnSpc>
                <a:spcPts val="20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Sex (0/1) and one-hot encoded Embarked</a:t>
            </a: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lnSpc>
                <a:spcPts val="20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 new FamilySize feature</a:t>
            </a: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lnSpc>
                <a:spcPts val="20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extreme Fare outliers using the IQR rule</a:t>
            </a: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lnSpc>
                <a:spcPts val="20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Age and Fare to mean 0, std 1</a:t>
            </a: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lnSpc>
                <a:spcPts val="20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712 training and 179 test rows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85216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DATA  (df.head())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2011680"/>
            <a:ext cx="5852160" cy="1403421"/>
          </a:xfrm>
          <a:prstGeom prst="rect">
            <a:avLst/>
          </a:prstGeom>
          <a:solidFill>
            <a:srgbClr val="F8FAFC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2112264"/>
            <a:ext cx="5522976" cy="1202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Survived  Pclass  Sex    Age   Fare  FamilySize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     0       3    0  -0.57  -0.82           2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1         1       1    1   0.66   2.03           2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   1       3    1  -0.26  -0.79           1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3         1       1    1   0.43   1.42           2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   0       3    0   0.43  -0.78           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52160" y="420624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EEF3F9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420624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rows × 11 columns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 · no missing values · target: Survived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52160" y="5349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now fully numeric, complete, and split — ready to train a model.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Preprocessing · Model-Ready Data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Preprocessing — Titanic Dataset</dc:title>
  <dc:subject>PptxGenJS Presentation</dc:subject>
  <dc:creator>Data Preprocessing</dc:creator>
  <cp:lastModifiedBy>Data Preprocessing</cp:lastModifiedBy>
  <cp:revision>1</cp:revision>
  <dcterms:created xsi:type="dcterms:W3CDTF">2026-06-10T05:29:50Z</dcterms:created>
  <dcterms:modified xsi:type="dcterms:W3CDTF">2026-06-10T05:29:50Z</dcterms:modified>
</cp:coreProperties>
</file>