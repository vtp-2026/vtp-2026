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4.xml" ContentType="application/vnd.openxmlformats-officedocument.drawingml.chart+xml"/>
  <Override PartName="/ppt/notesSlides/notesSlide22.xml" ContentType="application/vnd.openxmlformats-officedocument.presentationml.notesSlide+xml"/>
  <Override PartName="/ppt/charts/chart5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FFFFFF"/>
                </a:solidFill>
                <a:latin typeface="Calibri"/>
              </a:rPr>
              <a:t>Each dimension is a wave of a different frequency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dimension 0  (fast)</c:v>
                </c:pt>
              </c:strCache>
            </c:strRef>
          </c:tx>
          <c:spPr>
            <a:ln w="31750" cap="flat">
              <a:solidFill>
                <a:srgbClr val="FFB62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627"/>
              </a:solidFill>
              <a:ln w="9525" cap="flat">
                <a:solidFill>
                  <a:srgbClr val="FFB627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0.84099999999999997</c:v>
                </c:pt>
                <c:pt idx="2">
                  <c:v>0.90900000000000003</c:v>
                </c:pt>
                <c:pt idx="3">
                  <c:v>0.14099999999999999</c:v>
                </c:pt>
                <c:pt idx="4">
                  <c:v>-0.75700000000000001</c:v>
                </c:pt>
                <c:pt idx="5">
                  <c:v>-0.95899999999999996</c:v>
                </c:pt>
                <c:pt idx="6">
                  <c:v>-0.27900000000000003</c:v>
                </c:pt>
                <c:pt idx="7">
                  <c:v>0.65700000000000003</c:v>
                </c:pt>
                <c:pt idx="8">
                  <c:v>0.98899999999999999</c:v>
                </c:pt>
                <c:pt idx="9">
                  <c:v>0.41199999999999998</c:v>
                </c:pt>
                <c:pt idx="10">
                  <c:v>-0.54400000000000004</c:v>
                </c:pt>
                <c:pt idx="11">
                  <c:v>-1</c:v>
                </c:pt>
                <c:pt idx="12">
                  <c:v>-0.53700000000000003</c:v>
                </c:pt>
                <c:pt idx="13">
                  <c:v>0.42</c:v>
                </c:pt>
                <c:pt idx="14">
                  <c:v>0.99099999999999999</c:v>
                </c:pt>
                <c:pt idx="15">
                  <c:v>0.65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C81-418C-972E-1131CAA73F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dimension 4</c:v>
                </c:pt>
              </c:strCache>
            </c:strRef>
          </c:tx>
          <c:spPr>
            <a:ln w="31750" cap="flat">
              <a:solidFill>
                <a:srgbClr val="2EC4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0.53300000000000003</c:v>
                </c:pt>
                <c:pt idx="2">
                  <c:v>0.90200000000000002</c:v>
                </c:pt>
                <c:pt idx="3">
                  <c:v>0.99299999999999999</c:v>
                </c:pt>
                <c:pt idx="4">
                  <c:v>0.77800000000000002</c:v>
                </c:pt>
                <c:pt idx="5">
                  <c:v>0.32400000000000001</c:v>
                </c:pt>
                <c:pt idx="6">
                  <c:v>-0.23</c:v>
                </c:pt>
                <c:pt idx="7">
                  <c:v>-0.71399999999999997</c:v>
                </c:pt>
                <c:pt idx="8">
                  <c:v>-0.97699999999999998</c:v>
                </c:pt>
                <c:pt idx="9">
                  <c:v>-0.94</c:v>
                </c:pt>
                <c:pt idx="10">
                  <c:v>-0.61299999999999999</c:v>
                </c:pt>
                <c:pt idx="11">
                  <c:v>-9.7000000000000003E-2</c:v>
                </c:pt>
                <c:pt idx="12">
                  <c:v>0.44800000000000001</c:v>
                </c:pt>
                <c:pt idx="13">
                  <c:v>0.85599999999999998</c:v>
                </c:pt>
                <c:pt idx="14">
                  <c:v>1</c:v>
                </c:pt>
                <c:pt idx="15">
                  <c:v>0.83599999999999997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C81-418C-972E-1131CAA73F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dimension 12  (slow)</c:v>
                </c:pt>
              </c:strCache>
            </c:strRef>
          </c:tx>
          <c:spPr>
            <a:ln w="31750" cap="flat">
              <a:solidFill>
                <a:srgbClr val="6C8C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8CFF"/>
              </a:solidFill>
              <a:ln w="9525" cap="flat">
                <a:solidFill>
                  <a:srgbClr val="6C8CFF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0</c:v>
                </c:pt>
                <c:pt idx="1">
                  <c:v>0.17699999999999999</c:v>
                </c:pt>
                <c:pt idx="2">
                  <c:v>0.34799999999999998</c:v>
                </c:pt>
                <c:pt idx="3">
                  <c:v>0.50900000000000001</c:v>
                </c:pt>
                <c:pt idx="4">
                  <c:v>0.65300000000000002</c:v>
                </c:pt>
                <c:pt idx="5">
                  <c:v>0.77700000000000002</c:v>
                </c:pt>
                <c:pt idx="6">
                  <c:v>0.876</c:v>
                </c:pt>
                <c:pt idx="7">
                  <c:v>0.94699999999999995</c:v>
                </c:pt>
                <c:pt idx="8">
                  <c:v>0.98899999999999999</c:v>
                </c:pt>
                <c:pt idx="9">
                  <c:v>1</c:v>
                </c:pt>
                <c:pt idx="10">
                  <c:v>0.97899999999999998</c:v>
                </c:pt>
                <c:pt idx="11">
                  <c:v>0.92700000000000005</c:v>
                </c:pt>
                <c:pt idx="12">
                  <c:v>0.84599999999999997</c:v>
                </c:pt>
                <c:pt idx="13">
                  <c:v>0.73799999999999999</c:v>
                </c:pt>
                <c:pt idx="14">
                  <c:v>0.60699999999999998</c:v>
                </c:pt>
                <c:pt idx="15">
                  <c:v>0.45700000000000002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C81-418C-972E-1131CAA73F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-1.2"/>
        </c:scaling>
        <c:delete val="0"/>
        <c:axPos val="l"/>
        <c:majorGridlines>
          <c:spPr>
            <a:ln w="12700" cap="flat">
              <a:solidFill>
                <a:srgbClr val="2A31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FFFFFF"/>
                </a:solidFill>
                <a:latin typeface="Calibri"/>
              </a:rPr>
              <a:t>One token's 8 features, before and after normalising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LayerNorm</c:v>
                </c:pt>
              </c:strCache>
            </c:strRef>
          </c:tx>
          <c:spPr>
            <a:solidFill>
              <a:srgbClr val="FFB627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f1</c:v>
                </c:pt>
                <c:pt idx="1">
                  <c:v>f2</c:v>
                </c:pt>
                <c:pt idx="2">
                  <c:v>f3</c:v>
                </c:pt>
                <c:pt idx="3">
                  <c:v>f4</c:v>
                </c:pt>
                <c:pt idx="4">
                  <c:v>f5</c:v>
                </c:pt>
                <c:pt idx="5">
                  <c:v>f6</c:v>
                </c:pt>
                <c:pt idx="6">
                  <c:v>f7</c:v>
                </c:pt>
                <c:pt idx="7">
                  <c:v>f8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3.2</c:v>
                </c:pt>
                <c:pt idx="1">
                  <c:v>-1.4</c:v>
                </c:pt>
                <c:pt idx="2">
                  <c:v>8.6999999999999993</c:v>
                </c:pt>
                <c:pt idx="3">
                  <c:v>0.5</c:v>
                </c:pt>
                <c:pt idx="4">
                  <c:v>-4.0999999999999996</c:v>
                </c:pt>
                <c:pt idx="5">
                  <c:v>6.3</c:v>
                </c:pt>
                <c:pt idx="6">
                  <c:v>2</c:v>
                </c:pt>
                <c:pt idx="7">
                  <c:v>-0.8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88-47ED-8CED-E549A43299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LayerNorm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f1</c:v>
                </c:pt>
                <c:pt idx="1">
                  <c:v>f2</c:v>
                </c:pt>
                <c:pt idx="2">
                  <c:v>f3</c:v>
                </c:pt>
                <c:pt idx="3">
                  <c:v>f4</c:v>
                </c:pt>
                <c:pt idx="4">
                  <c:v>f5</c:v>
                </c:pt>
                <c:pt idx="5">
                  <c:v>f6</c:v>
                </c:pt>
                <c:pt idx="6">
                  <c:v>f7</c:v>
                </c:pt>
                <c:pt idx="7">
                  <c:v>f8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0.36</c:v>
                </c:pt>
                <c:pt idx="1">
                  <c:v>-0.81</c:v>
                </c:pt>
                <c:pt idx="2">
                  <c:v>1.76</c:v>
                </c:pt>
                <c:pt idx="3">
                  <c:v>-0.33</c:v>
                </c:pt>
                <c:pt idx="4">
                  <c:v>-1.5</c:v>
                </c:pt>
                <c:pt idx="5">
                  <c:v>1.1499999999999999</c:v>
                </c:pt>
                <c:pt idx="6">
                  <c:v>0.05</c:v>
                </c:pt>
                <c:pt idx="7">
                  <c:v>-0.66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88-47ED-8CED-E549A43299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1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FFFFFF"/>
                </a:solidFill>
                <a:latin typeface="Calibri"/>
              </a:rPr>
              <a:t>Same logits, three temperatures  —  P(next token | "the cat sat")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= 0.5  (sharp)</c:v>
                </c:pt>
              </c:strCache>
            </c:strRef>
          </c:tx>
          <c:spPr>
            <a:solidFill>
              <a:srgbClr val="FFB62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on</c:v>
                </c:pt>
                <c:pt idx="1">
                  <c:v>sat</c:v>
                </c:pt>
                <c:pt idx="2">
                  <c:v>cat</c:v>
                </c:pt>
                <c:pt idx="3">
                  <c:v>mat</c:v>
                </c:pt>
                <c:pt idx="4">
                  <c:v>the</c:v>
                </c:pt>
                <c:pt idx="5">
                  <c:v>&lt;pad&gt;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0.442</c:v>
                </c:pt>
                <c:pt idx="1">
                  <c:v>0.26100000000000001</c:v>
                </c:pt>
                <c:pt idx="2">
                  <c:v>0.11899999999999999</c:v>
                </c:pt>
                <c:pt idx="3">
                  <c:v>9.0999999999999998E-2</c:v>
                </c:pt>
                <c:pt idx="4">
                  <c:v>8.3000000000000004E-2</c:v>
                </c:pt>
                <c:pt idx="5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BC-4B57-AB2F-EF6D006F4D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 = 1.0  (as trained)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on</c:v>
                </c:pt>
                <c:pt idx="1">
                  <c:v>sat</c:v>
                </c:pt>
                <c:pt idx="2">
                  <c:v>cat</c:v>
                </c:pt>
                <c:pt idx="3">
                  <c:v>mat</c:v>
                </c:pt>
                <c:pt idx="4">
                  <c:v>the</c:v>
                </c:pt>
                <c:pt idx="5">
                  <c:v>&lt;pad&gt;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0.30499999999999999</c:v>
                </c:pt>
                <c:pt idx="1">
                  <c:v>0.23400000000000001</c:v>
                </c:pt>
                <c:pt idx="2">
                  <c:v>0.158</c:v>
                </c:pt>
                <c:pt idx="3">
                  <c:v>0.13800000000000001</c:v>
                </c:pt>
                <c:pt idx="4">
                  <c:v>0.13200000000000001</c:v>
                </c:pt>
                <c:pt idx="5">
                  <c:v>3.2000000000000001E-2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BC-4B57-AB2F-EF6D006F4DA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 = 2.0  (flat)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on</c:v>
                </c:pt>
                <c:pt idx="1">
                  <c:v>sat</c:v>
                </c:pt>
                <c:pt idx="2">
                  <c:v>cat</c:v>
                </c:pt>
                <c:pt idx="3">
                  <c:v>mat</c:v>
                </c:pt>
                <c:pt idx="4">
                  <c:v>the</c:v>
                </c:pt>
                <c:pt idx="5">
                  <c:v>&lt;pad&gt;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0.23499999999999999</c:v>
                </c:pt>
                <c:pt idx="1">
                  <c:v>0.20599999999999999</c:v>
                </c:pt>
                <c:pt idx="2">
                  <c:v>0.17</c:v>
                </c:pt>
                <c:pt idx="3">
                  <c:v>0.158</c:v>
                </c:pt>
                <c:pt idx="4">
                  <c:v>0.155</c:v>
                </c:pt>
                <c:pt idx="5">
                  <c:v>7.5999999999999998E-2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BC-4B57-AB2F-EF6D006F4D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12700" cap="flat">
              <a:solidFill>
                <a:srgbClr val="2A31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FFFFFF"/>
                </a:solidFill>
                <a:latin typeface="Calibri"/>
              </a:rPr>
              <a:t>GPT-2 Small  ·  12 blocks  ·  d = 768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millions of parameters</c:v>
                </c:pt>
              </c:strCache>
            </c:strRef>
          </c:tx>
          <c:spPr>
            <a:solidFill>
              <a:srgbClr val="FFB627"/>
            </a:solidFill>
            <a:effectLst/>
          </c:spPr>
          <c:invertIfNegative val="0"/>
          <c:dLbls>
            <c:numFmt formatCode="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Feed-forward
W₁ and W₂</c:v>
                </c:pt>
                <c:pt idx="1">
                  <c:v>Embeddings
E and P</c:v>
                </c:pt>
                <c:pt idx="2">
                  <c:v>Attention
Q, K, V, O projections</c:v>
                </c:pt>
                <c:pt idx="3">
                  <c:v>LayerNorm
γ, β and biases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56.6</c:v>
                </c:pt>
                <c:pt idx="1">
                  <c:v>39.4</c:v>
                </c:pt>
                <c:pt idx="2">
                  <c:v>28.3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70-47E2-AFF2-CEAFC11CBE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</c:scaling>
        <c:delete val="0"/>
        <c:axPos val="b"/>
        <c:majorGridlines>
          <c:spPr>
            <a:ln w="12700" cap="flat">
              <a:solidFill>
                <a:srgbClr val="2A31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FFFFFF"/>
                </a:solidFill>
                <a:latin typeface="Calibri"/>
              </a:rPr>
              <a:t>GFLOPs per layer vs. sequence length  (d = 768)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projections + FFN   O( n · d² )</c:v>
                </c:pt>
              </c:strCache>
            </c:strRef>
          </c:tx>
          <c:spPr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512</c:v>
                </c:pt>
                <c:pt idx="1">
                  <c:v>1024</c:v>
                </c:pt>
                <c:pt idx="2">
                  <c:v>2048</c:v>
                </c:pt>
                <c:pt idx="3">
                  <c:v>4096</c:v>
                </c:pt>
                <c:pt idx="4">
                  <c:v>8192</c:v>
                </c:pt>
                <c:pt idx="5">
                  <c:v>16384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7.2</c:v>
                </c:pt>
                <c:pt idx="1">
                  <c:v>14.5</c:v>
                </c:pt>
                <c:pt idx="2">
                  <c:v>29</c:v>
                </c:pt>
                <c:pt idx="3">
                  <c:v>58</c:v>
                </c:pt>
                <c:pt idx="4">
                  <c:v>116</c:v>
                </c:pt>
                <c:pt idx="5">
                  <c:v>232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93-48B8-9D39-AE212F637C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attention matrix   O( n² · d )</c:v>
                </c:pt>
              </c:strCache>
            </c:strRef>
          </c:tx>
          <c:spPr>
            <a:ln w="38100" cap="flat">
              <a:solidFill>
                <a:srgbClr val="F871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87171"/>
              </a:solidFill>
              <a:ln w="9525" cap="flat">
                <a:solidFill>
                  <a:srgbClr val="F8717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512</c:v>
                </c:pt>
                <c:pt idx="1">
                  <c:v>1024</c:v>
                </c:pt>
                <c:pt idx="2">
                  <c:v>2048</c:v>
                </c:pt>
                <c:pt idx="3">
                  <c:v>4096</c:v>
                </c:pt>
                <c:pt idx="4">
                  <c:v>8192</c:v>
                </c:pt>
                <c:pt idx="5">
                  <c:v>16384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</c:v>
                </c:pt>
                <c:pt idx="1">
                  <c:v>3.2</c:v>
                </c:pt>
                <c:pt idx="2">
                  <c:v>12.9</c:v>
                </c:pt>
                <c:pt idx="3">
                  <c:v>51.5</c:v>
                </c:pt>
                <c:pt idx="4">
                  <c:v>206</c:v>
                </c:pt>
                <c:pt idx="5">
                  <c:v>825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93-48B8-9D39-AE212F637C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1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994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this deck: demystify LLMs by showing that the whole model is a chain of matrix multiplications. We track the shape of the data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model is a next-token probability machine. V=50257 for GPT-2. Sampling is a separate, non-learned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ten chips once quickly. Tell students each of the next slides zooms into one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memorise only n, d and V. Everything else is 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 = things gradient descent changes. Right column = things that appear during a forward pass and vanish. Students confuse these constantly.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tip: show tiktoken or the OpenAI tokenizer page live. Students remember the ' cat' vs 'cat'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one-hot times a matrix equals a row lookup. Show the toy numbers: cat -&gt; [0.8, 0.1, 0.7, 0.2].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clock with many hands moving at different speeds. Reading all hands tells you the exact time = the exact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sub-layers, each wrapped in a residual connection. Attention mixes information ACROSS tokens; the FFN processes each token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Q, K, V are just three linear views of the same input. Nothing mystical.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intuition: every token asks every other token 'how much do you matter to me?'. The answer is a dot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mask is what makes GPT a decoder-only model. BERT-style encoders do not 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attention never invents information, it only re-weights and copies existing value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twelve readers each highlighting a different aspect of the same sentence, then pooling their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 + norm are the two tricks that let depth work. Neither changes the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Counter-intuitive but important: attention gets the fame, the FFN gets the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this single matmul is n x d x V — for long prompts it can rival a whole block in cost, which is why only the last row is computed at generation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place to demo: same prompt, T=0 vs T=1.5,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here are produced by the accompanying notebook, cell by cell. Students can reproduce every digit.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prediction becomes input. Mention that real models cache K and V so earlier tokens are not recomputed.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exercise: ask students to compute the parameter count of a d=1024, N=24 model before revealing it is GPT-2 Medium (355M).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both why context windows were historically small and why FlashAttention / sliding-window attention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student misconception: chatting with a model teaches it. It does not — inference is read-only.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recite the shapes from memory. If they can do this, they understand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practical hand-off: the notebook reproduces every number in the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64286"/>
            </a:avLst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08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OF MODERN AI  ·  LECTURE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Large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Model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3703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matrix, every step — from raw text to the next word.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5528" y="4425696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343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</a:t>
            </a:r>
            <a:r>
              <a:rPr lang="en-US" sz="13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language model actually computes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" y="4882896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Matrices  </a:t>
            </a:r>
            <a:r>
              <a:rPr lang="en-US" sz="13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learned and computed matrix, with shapes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" y="5340096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257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 </a:t>
            </a:r>
            <a:r>
              <a:rPr lang="en-US" sz="13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steps, one worked numeric example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18120" y="1234440"/>
            <a:ext cx="3794760" cy="4480560"/>
          </a:xfrm>
          <a:prstGeom prst="roundRect">
            <a:avLst>
              <a:gd name="adj" fmla="val 2169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9912" y="1801368"/>
            <a:ext cx="36576" cy="269290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4" name="Shape 12"/>
          <p:cNvSpPr/>
          <p:nvPr/>
        </p:nvSpPr>
        <p:spPr>
          <a:xfrm>
            <a:off x="8439912" y="1801368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39912" y="4457700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69396" y="1801368"/>
            <a:ext cx="36576" cy="269290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87100" y="1801368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87100" y="4457700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549640" y="187452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874252" y="187452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98864" y="187452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9523476" y="187452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9848088" y="187452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72700" y="1874520"/>
            <a:ext cx="274320" cy="27432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97312" y="187452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21924" y="187452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7" name="Shape 25"/>
          <p:cNvSpPr/>
          <p:nvPr/>
        </p:nvSpPr>
        <p:spPr>
          <a:xfrm>
            <a:off x="8549640" y="219913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8" name="Shape 26"/>
          <p:cNvSpPr/>
          <p:nvPr/>
        </p:nvSpPr>
        <p:spPr>
          <a:xfrm>
            <a:off x="8874252" y="219913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9" name="Shape 27"/>
          <p:cNvSpPr/>
          <p:nvPr/>
        </p:nvSpPr>
        <p:spPr>
          <a:xfrm>
            <a:off x="9198864" y="219913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0" name="Shape 28"/>
          <p:cNvSpPr/>
          <p:nvPr/>
        </p:nvSpPr>
        <p:spPr>
          <a:xfrm>
            <a:off x="9523476" y="219913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1" name="Shape 29"/>
          <p:cNvSpPr/>
          <p:nvPr/>
        </p:nvSpPr>
        <p:spPr>
          <a:xfrm>
            <a:off x="9848088" y="219913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72700" y="2199132"/>
            <a:ext cx="274320" cy="27432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97312" y="219913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21924" y="219913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5" name="Shape 33"/>
          <p:cNvSpPr/>
          <p:nvPr/>
        </p:nvSpPr>
        <p:spPr>
          <a:xfrm>
            <a:off x="8549640" y="2523744"/>
            <a:ext cx="274320" cy="274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6" name="Shape 34"/>
          <p:cNvSpPr/>
          <p:nvPr/>
        </p:nvSpPr>
        <p:spPr>
          <a:xfrm>
            <a:off x="8874252" y="2523744"/>
            <a:ext cx="274320" cy="274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7" name="Shape 35"/>
          <p:cNvSpPr/>
          <p:nvPr/>
        </p:nvSpPr>
        <p:spPr>
          <a:xfrm>
            <a:off x="9198864" y="2523744"/>
            <a:ext cx="274320" cy="274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8" name="Shape 36"/>
          <p:cNvSpPr/>
          <p:nvPr/>
        </p:nvSpPr>
        <p:spPr>
          <a:xfrm>
            <a:off x="9523476" y="2523744"/>
            <a:ext cx="274320" cy="274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9" name="Shape 37"/>
          <p:cNvSpPr/>
          <p:nvPr/>
        </p:nvSpPr>
        <p:spPr>
          <a:xfrm>
            <a:off x="9848088" y="2523744"/>
            <a:ext cx="274320" cy="274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72700" y="2523744"/>
            <a:ext cx="274320" cy="2743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1" name="Shape 39"/>
          <p:cNvSpPr/>
          <p:nvPr/>
        </p:nvSpPr>
        <p:spPr>
          <a:xfrm>
            <a:off x="10497312" y="2523744"/>
            <a:ext cx="274320" cy="274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821924" y="2523744"/>
            <a:ext cx="274320" cy="274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3" name="Shape 41"/>
          <p:cNvSpPr/>
          <p:nvPr/>
        </p:nvSpPr>
        <p:spPr>
          <a:xfrm>
            <a:off x="8549640" y="2848356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4" name="Shape 42"/>
          <p:cNvSpPr/>
          <p:nvPr/>
        </p:nvSpPr>
        <p:spPr>
          <a:xfrm>
            <a:off x="8874252" y="2848356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5" name="Shape 43"/>
          <p:cNvSpPr/>
          <p:nvPr/>
        </p:nvSpPr>
        <p:spPr>
          <a:xfrm>
            <a:off x="9198864" y="2848356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6" name="Shape 44"/>
          <p:cNvSpPr/>
          <p:nvPr/>
        </p:nvSpPr>
        <p:spPr>
          <a:xfrm>
            <a:off x="9523476" y="2848356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7" name="Shape 45"/>
          <p:cNvSpPr/>
          <p:nvPr/>
        </p:nvSpPr>
        <p:spPr>
          <a:xfrm>
            <a:off x="9848088" y="2848356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72700" y="2848356"/>
            <a:ext cx="274320" cy="27432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49" name="Shape 47"/>
          <p:cNvSpPr/>
          <p:nvPr/>
        </p:nvSpPr>
        <p:spPr>
          <a:xfrm>
            <a:off x="10497312" y="2848356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0" name="Shape 48"/>
          <p:cNvSpPr/>
          <p:nvPr/>
        </p:nvSpPr>
        <p:spPr>
          <a:xfrm>
            <a:off x="10821924" y="2848356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1" name="Shape 49"/>
          <p:cNvSpPr/>
          <p:nvPr/>
        </p:nvSpPr>
        <p:spPr>
          <a:xfrm>
            <a:off x="8549640" y="3172968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2" name="Shape 50"/>
          <p:cNvSpPr/>
          <p:nvPr/>
        </p:nvSpPr>
        <p:spPr>
          <a:xfrm>
            <a:off x="8874252" y="3172968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3" name="Shape 51"/>
          <p:cNvSpPr/>
          <p:nvPr/>
        </p:nvSpPr>
        <p:spPr>
          <a:xfrm>
            <a:off x="9198864" y="3172968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4" name="Shape 52"/>
          <p:cNvSpPr/>
          <p:nvPr/>
        </p:nvSpPr>
        <p:spPr>
          <a:xfrm>
            <a:off x="9523476" y="3172968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5" name="Shape 53"/>
          <p:cNvSpPr/>
          <p:nvPr/>
        </p:nvSpPr>
        <p:spPr>
          <a:xfrm>
            <a:off x="9848088" y="3172968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6" name="Shape 54"/>
          <p:cNvSpPr/>
          <p:nvPr/>
        </p:nvSpPr>
        <p:spPr>
          <a:xfrm>
            <a:off x="10172700" y="3172968"/>
            <a:ext cx="274320" cy="27432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57" name="Shape 55"/>
          <p:cNvSpPr/>
          <p:nvPr/>
        </p:nvSpPr>
        <p:spPr>
          <a:xfrm>
            <a:off x="10497312" y="3172968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8" name="Shape 56"/>
          <p:cNvSpPr/>
          <p:nvPr/>
        </p:nvSpPr>
        <p:spPr>
          <a:xfrm>
            <a:off x="10821924" y="3172968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9" name="Shape 57"/>
          <p:cNvSpPr/>
          <p:nvPr/>
        </p:nvSpPr>
        <p:spPr>
          <a:xfrm>
            <a:off x="8549640" y="349758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0" name="Shape 58"/>
          <p:cNvSpPr/>
          <p:nvPr/>
        </p:nvSpPr>
        <p:spPr>
          <a:xfrm>
            <a:off x="8874252" y="3497580"/>
            <a:ext cx="274320" cy="27432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61" name="Shape 59"/>
          <p:cNvSpPr/>
          <p:nvPr/>
        </p:nvSpPr>
        <p:spPr>
          <a:xfrm>
            <a:off x="9198864" y="349758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2" name="Shape 60"/>
          <p:cNvSpPr/>
          <p:nvPr/>
        </p:nvSpPr>
        <p:spPr>
          <a:xfrm>
            <a:off x="9523476" y="349758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3" name="Shape 61"/>
          <p:cNvSpPr/>
          <p:nvPr/>
        </p:nvSpPr>
        <p:spPr>
          <a:xfrm>
            <a:off x="9848088" y="349758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4" name="Shape 62"/>
          <p:cNvSpPr/>
          <p:nvPr/>
        </p:nvSpPr>
        <p:spPr>
          <a:xfrm>
            <a:off x="10172700" y="3497580"/>
            <a:ext cx="274320" cy="27432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65" name="Shape 63"/>
          <p:cNvSpPr/>
          <p:nvPr/>
        </p:nvSpPr>
        <p:spPr>
          <a:xfrm>
            <a:off x="10497312" y="349758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6" name="Shape 64"/>
          <p:cNvSpPr/>
          <p:nvPr/>
        </p:nvSpPr>
        <p:spPr>
          <a:xfrm>
            <a:off x="10821924" y="3497580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7" name="Shape 65"/>
          <p:cNvSpPr/>
          <p:nvPr/>
        </p:nvSpPr>
        <p:spPr>
          <a:xfrm>
            <a:off x="8549640" y="382219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8" name="Shape 66"/>
          <p:cNvSpPr/>
          <p:nvPr/>
        </p:nvSpPr>
        <p:spPr>
          <a:xfrm>
            <a:off x="8874252" y="382219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9" name="Shape 67"/>
          <p:cNvSpPr/>
          <p:nvPr/>
        </p:nvSpPr>
        <p:spPr>
          <a:xfrm>
            <a:off x="9198864" y="382219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0" name="Shape 68"/>
          <p:cNvSpPr/>
          <p:nvPr/>
        </p:nvSpPr>
        <p:spPr>
          <a:xfrm>
            <a:off x="9523476" y="382219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1" name="Shape 69"/>
          <p:cNvSpPr/>
          <p:nvPr/>
        </p:nvSpPr>
        <p:spPr>
          <a:xfrm>
            <a:off x="9848088" y="382219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2" name="Shape 70"/>
          <p:cNvSpPr/>
          <p:nvPr/>
        </p:nvSpPr>
        <p:spPr>
          <a:xfrm>
            <a:off x="10172700" y="3822192"/>
            <a:ext cx="274320" cy="27432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73" name="Shape 71"/>
          <p:cNvSpPr/>
          <p:nvPr/>
        </p:nvSpPr>
        <p:spPr>
          <a:xfrm>
            <a:off x="10497312" y="382219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4" name="Shape 72"/>
          <p:cNvSpPr/>
          <p:nvPr/>
        </p:nvSpPr>
        <p:spPr>
          <a:xfrm>
            <a:off x="10821924" y="3822192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5" name="Shape 73"/>
          <p:cNvSpPr/>
          <p:nvPr/>
        </p:nvSpPr>
        <p:spPr>
          <a:xfrm>
            <a:off x="8549640" y="4146804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6" name="Shape 74"/>
          <p:cNvSpPr/>
          <p:nvPr/>
        </p:nvSpPr>
        <p:spPr>
          <a:xfrm>
            <a:off x="8874252" y="4146804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7" name="Shape 75"/>
          <p:cNvSpPr/>
          <p:nvPr/>
        </p:nvSpPr>
        <p:spPr>
          <a:xfrm>
            <a:off x="9198864" y="4146804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8" name="Shape 76"/>
          <p:cNvSpPr/>
          <p:nvPr/>
        </p:nvSpPr>
        <p:spPr>
          <a:xfrm>
            <a:off x="9523476" y="4146804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9" name="Shape 77"/>
          <p:cNvSpPr/>
          <p:nvPr/>
        </p:nvSpPr>
        <p:spPr>
          <a:xfrm>
            <a:off x="9848088" y="4146804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0" name="Shape 78"/>
          <p:cNvSpPr/>
          <p:nvPr/>
        </p:nvSpPr>
        <p:spPr>
          <a:xfrm>
            <a:off x="10172700" y="4146804"/>
            <a:ext cx="274320" cy="27432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81" name="Shape 79"/>
          <p:cNvSpPr/>
          <p:nvPr/>
        </p:nvSpPr>
        <p:spPr>
          <a:xfrm>
            <a:off x="10497312" y="4146804"/>
            <a:ext cx="274320" cy="27432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2" name="Shape 80"/>
          <p:cNvSpPr/>
          <p:nvPr/>
        </p:nvSpPr>
        <p:spPr>
          <a:xfrm>
            <a:off x="10821924" y="4146804"/>
            <a:ext cx="274320" cy="2743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3" name="Text 81"/>
          <p:cNvSpPr/>
          <p:nvPr/>
        </p:nvSpPr>
        <p:spPr>
          <a:xfrm>
            <a:off x="8001000" y="4892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is a matrix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8001000" y="51937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= one token   ·   a column = one feature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73152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Intermediate  ·  no prior deep-learning experience assumed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has exactly one job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10817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 next token  |  all previous tokens 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23113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grammar, facts, reasoning, style — is a side effect of getting very good at this.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511296" cy="1920240"/>
          </a:xfrm>
          <a:prstGeom prst="roundRect">
            <a:avLst>
              <a:gd name="adj" fmla="val 4286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127248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3611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n tokens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04672" y="402336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sat on the" → 5 integers. Nothing else enters the model.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43400" y="2880360"/>
            <a:ext cx="3511296" cy="1920240"/>
          </a:xfrm>
          <a:prstGeom prst="roundRect">
            <a:avLst>
              <a:gd name="adj" fmla="val 4286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3127248"/>
            <a:ext cx="310896" cy="3108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6" name="Text 14"/>
          <p:cNvSpPr/>
          <p:nvPr/>
        </p:nvSpPr>
        <p:spPr>
          <a:xfrm>
            <a:off x="4599432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15468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9432" y="3611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multiply-adds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99432" y="402336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matrices are applied to every token, layer after layer.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2880360"/>
            <a:ext cx="3511296" cy="1920240"/>
          </a:xfrm>
          <a:prstGeom prst="roundRect">
            <a:avLst>
              <a:gd name="adj" fmla="val 4286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94192" y="3127248"/>
            <a:ext cx="310896" cy="310896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8394192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23960" y="315468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94192" y="3611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per vocabulary word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394192" y="402336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of V numbers → softmax → a probability for every possible next token.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47488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1937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50,257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063240" y="52852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come out of GPT-2 for every position — one score for each token in its vocabulary. The model never outputs "words": it outputs a probability distribution, and a sampler picks from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text to the next word in 10 steps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85216" y="1600200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8105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→ integer IDs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2203704"/>
            <a:ext cx="20116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52928" y="1600200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173736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2999232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93008" y="18105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9232" y="23134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 → vectors via 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203704"/>
            <a:ext cx="20116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1600200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66944" y="173736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5266944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0720" y="18105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66944" y="23134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X_tok + 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59752" y="2203704"/>
            <a:ext cx="20116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88352" y="1600200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34656" y="173736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7534656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28432" y="18105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Q,K,V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34656" y="23134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X·W_Q, X·W_K, X·W_V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27464" y="2203704"/>
            <a:ext cx="20116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56064" y="1600200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02368" y="173736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9802368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296144" y="18105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02368" y="23134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Q·Kᵀ / √d_k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5216" y="3246120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338328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25296" y="34564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+ softmax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39593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softmax(S)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624328" y="3849624"/>
            <a:ext cx="20116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852928" y="3246120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99232" y="338328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2" name="Text 40"/>
          <p:cNvSpPr/>
          <p:nvPr/>
        </p:nvSpPr>
        <p:spPr>
          <a:xfrm>
            <a:off x="2999232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493008" y="34564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values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999232" y="39593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A·V → W_O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92040" y="3849624"/>
            <a:ext cx="20116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120640" y="3246120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66944" y="338328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8" name="Text 46"/>
          <p:cNvSpPr/>
          <p:nvPr/>
        </p:nvSpPr>
        <p:spPr>
          <a:xfrm>
            <a:off x="5266944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760720" y="34564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266944" y="39593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sublayer(x)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159752" y="3849624"/>
            <a:ext cx="20116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388352" y="3246120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34656" y="338328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4" name="Text 52"/>
          <p:cNvSpPr/>
          <p:nvPr/>
        </p:nvSpPr>
        <p:spPr>
          <a:xfrm>
            <a:off x="7534656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028432" y="34564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534656" y="39593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W_1 then W_2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427464" y="3849624"/>
            <a:ext cx="20116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656064" y="3246120"/>
            <a:ext cx="2011680" cy="1207008"/>
          </a:xfrm>
          <a:prstGeom prst="roundRect">
            <a:avLst>
              <a:gd name="adj" fmla="val 681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02368" y="338328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0" name="Text 58"/>
          <p:cNvSpPr/>
          <p:nvPr/>
        </p:nvSpPr>
        <p:spPr>
          <a:xfrm>
            <a:off x="9802368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0296144" y="34564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head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802368" y="39593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X·W_U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0661904" y="2852928"/>
            <a:ext cx="0" cy="347472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585216" y="4828032"/>
            <a:ext cx="5422392" cy="1280160"/>
          </a:xfrm>
          <a:prstGeom prst="roundRect">
            <a:avLst>
              <a:gd name="adj" fmla="val 6429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2960" y="5029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→ 9 are one Transformer block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822960" y="53675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block is stacked N times (N = 12 in GPT-2 Small, 96 in GPT-3). Same shapes, different weights.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6217920" y="4828032"/>
            <a:ext cx="5422392" cy="1280160"/>
          </a:xfrm>
          <a:prstGeom prst="roundRect">
            <a:avLst>
              <a:gd name="adj" fmla="val 6429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55664" y="5029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→ 10 run again for every new token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455664" y="53675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token is appended to the input and the whole pipeline repeats. This is what "autoregressive" means.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symbols that describe any LLM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578608" cy="1517904"/>
          </a:xfrm>
          <a:prstGeom prst="roundRect">
            <a:avLst>
              <a:gd name="adj" fmla="val 542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408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tokens are in the prompt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128,000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481328"/>
            <a:ext cx="2578608" cy="1517904"/>
          </a:xfrm>
          <a:prstGeom prst="roundRect">
            <a:avLst>
              <a:gd name="adj" fmla="val 542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06654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width (d_model)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3408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each token's vector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 · 4096 · 12288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481328"/>
            <a:ext cx="2578608" cy="1517904"/>
          </a:xfrm>
          <a:prstGeom prst="roundRect">
            <a:avLst>
              <a:gd name="adj" fmla="val 542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206654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23408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distinct tokens exist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32k → 200k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1481328"/>
            <a:ext cx="2578608" cy="1517904"/>
          </a:xfrm>
          <a:prstGeom prst="roundRect">
            <a:avLst>
              <a:gd name="adj" fmla="val 542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35440" y="206654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heads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0" y="23408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attention channels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26974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32 · 96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182112"/>
            <a:ext cx="2578608" cy="1517904"/>
          </a:xfrm>
          <a:prstGeom prst="roundRect">
            <a:avLst>
              <a:gd name="adj" fmla="val 542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284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24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1520" y="37673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dimension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 / h, the width per head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3982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· 128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83280" y="3182112"/>
            <a:ext cx="2578608" cy="1517904"/>
          </a:xfrm>
          <a:prstGeom prst="roundRect">
            <a:avLst>
              <a:gd name="adj" fmla="val 542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3284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24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566160" y="37673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width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4 × 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66160" y="43982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3072 · 16384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3182112"/>
            <a:ext cx="2578608" cy="1517904"/>
          </a:xfrm>
          <a:prstGeom prst="roundRect">
            <a:avLst>
              <a:gd name="adj" fmla="val 542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3284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400800" y="37673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blocks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0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 the stack is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3982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32 · 96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52560" y="3182112"/>
            <a:ext cx="2578608" cy="1517904"/>
          </a:xfrm>
          <a:prstGeom prst="roundRect">
            <a:avLst>
              <a:gd name="adj" fmla="val 542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33284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235440" y="37673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235440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 × d matrix, rewritten by every block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235440" y="43982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138928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13892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example — GPT-2 Small:   V = 50,257    d = 768    h = 12    d_k = 64    d_ff = 3,072    N = 12    →    124 M parameters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INVENTORY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matrix in a Transformer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22392" cy="4864608"/>
          </a:xfrm>
          <a:prstGeom prst="roundRect">
            <a:avLst>
              <a:gd name="adj" fmla="val 169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627632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— these are the parameters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0848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× 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embeddings: ID → vector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6746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08960" y="26746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n_max × 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29215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embeddings: order info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32644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W_Q , W_K , W_V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3264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× d_k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" y="35112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/ key / value projections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38541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08960" y="38541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× 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" y="41010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the heads back together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44439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W_1 , W_2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108960" y="4443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× d_ff , d_ff × 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46908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feed-forward expansion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50337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 , β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108960" y="50337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, 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" y="52806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scale and shift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5623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W_U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108960" y="5623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× V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4672" y="5870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unembedding head → logits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1371600"/>
            <a:ext cx="5422392" cy="4864608"/>
          </a:xfrm>
          <a:prstGeom prst="roundRect">
            <a:avLst>
              <a:gd name="adj" fmla="val 169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1627632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1664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— created fresh for every input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73952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0976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73952" y="23957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— one row per token, rewritten by every block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73952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, K , V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50976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d_k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73952" y="32186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token asks for, offers, and carries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73952" y="3767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Q·Kᵀ / √d_k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50976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73952" y="404164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relevance of every token to every other token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73952" y="4590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softmax(S)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509760" y="4590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73952" y="48646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— each row sums to 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73952" y="5413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X·W_U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509760" y="5413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V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473952" y="56875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per vocabulary word, per position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 — text becomes integers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64240" y="5669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0" y="56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2148840"/>
          </a:xfrm>
          <a:prstGeom prst="roundRect">
            <a:avLst>
              <a:gd name="adj" fmla="val 3830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1627632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2536" y="16276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11196" y="2240280"/>
            <a:ext cx="0" cy="32004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02536" y="2633472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B2B4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2536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94176" y="1627632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16276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02836" y="2240280"/>
            <a:ext cx="0" cy="32004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94176" y="2633472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B2B4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3797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85816" y="1627632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6276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94476" y="2240280"/>
            <a:ext cx="0" cy="32004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385816" y="2633472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B2B4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85816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3332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077456" y="1627632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7456" y="16276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786116" y="2240280"/>
            <a:ext cx="0" cy="32004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77456" y="2633472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B2B4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7456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319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769096" y="1627632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69096" y="16276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477756" y="2240280"/>
            <a:ext cx="0" cy="32004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769096" y="2633472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B2B4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69096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32186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 tokens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767328"/>
            <a:ext cx="5422392" cy="2468880"/>
          </a:xfrm>
          <a:prstGeom prst="roundRect">
            <a:avLst>
              <a:gd name="adj" fmla="val 3333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005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not words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" y="4370832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words get one token; rare words are split into pieces.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"unbelievable" → un | believ | able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spaces are part of the token: " cat" ≠ "cat".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and code often fragment badly — a reason models miscount digits.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17920" y="3767328"/>
            <a:ext cx="5422392" cy="2468880"/>
          </a:xfrm>
          <a:prstGeom prst="roundRect">
            <a:avLst>
              <a:gd name="adj" fmla="val 3333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4005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learned here (yet)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3952" y="4370832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is built once, before training, by Byte-Pair Encoding.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merges the most frequent character pairs until V tokens exist.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this step: a list of n integers in the range 0 … V−1.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step that is not a matrix multiplication.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embedding matrix  E  —  V × 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64240" y="5669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0" y="56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10817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7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</a:t>
            </a:r>
            <a:r>
              <a:rPr lang="en-US" sz="17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OneHot(ids) · E        ( n × V ) · ( V × d )  =  ( n × d 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19110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a one-hot row just selects a row — so in code this is a lookup, not a matmul.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5486400" cy="3694176"/>
          </a:xfrm>
          <a:prstGeom prst="roundRect">
            <a:avLst>
              <a:gd name="adj" fmla="val 222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7614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of E per vocabulary token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61872" y="3493008"/>
            <a:ext cx="36576" cy="217627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3" name="Shape 11"/>
          <p:cNvSpPr/>
          <p:nvPr/>
        </p:nvSpPr>
        <p:spPr>
          <a:xfrm>
            <a:off x="1261872" y="3493008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4" name="Shape 12"/>
          <p:cNvSpPr/>
          <p:nvPr/>
        </p:nvSpPr>
        <p:spPr>
          <a:xfrm>
            <a:off x="1261872" y="5632704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5" name="Shape 13"/>
          <p:cNvSpPr/>
          <p:nvPr/>
        </p:nvSpPr>
        <p:spPr>
          <a:xfrm>
            <a:off x="3145536" y="3493008"/>
            <a:ext cx="36576" cy="217627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6" name="Shape 14"/>
          <p:cNvSpPr/>
          <p:nvPr/>
        </p:nvSpPr>
        <p:spPr>
          <a:xfrm>
            <a:off x="3063240" y="3493008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7" name="Shape 15"/>
          <p:cNvSpPr/>
          <p:nvPr/>
        </p:nvSpPr>
        <p:spPr>
          <a:xfrm>
            <a:off x="3063240" y="5632704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3566160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810512" y="3566160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2249424" y="3566160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8336" y="3566160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3913632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810512" y="3913632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249424" y="3913632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2688336" y="3913632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371600" y="4261104"/>
            <a:ext cx="384048" cy="2926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7" name="Shape 25"/>
          <p:cNvSpPr/>
          <p:nvPr/>
        </p:nvSpPr>
        <p:spPr>
          <a:xfrm>
            <a:off x="1810512" y="4261104"/>
            <a:ext cx="384048" cy="2926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8" name="Shape 26"/>
          <p:cNvSpPr/>
          <p:nvPr/>
        </p:nvSpPr>
        <p:spPr>
          <a:xfrm>
            <a:off x="2249424" y="4261104"/>
            <a:ext cx="384048" cy="2926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8336" y="4261104"/>
            <a:ext cx="384048" cy="2926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4608576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810512" y="4608576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2" name="Shape 30"/>
          <p:cNvSpPr/>
          <p:nvPr/>
        </p:nvSpPr>
        <p:spPr>
          <a:xfrm>
            <a:off x="2249424" y="4608576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8336" y="4608576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4" name="Shape 32"/>
          <p:cNvSpPr/>
          <p:nvPr/>
        </p:nvSpPr>
        <p:spPr>
          <a:xfrm>
            <a:off x="1371600" y="4956048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5" name="Shape 33"/>
          <p:cNvSpPr/>
          <p:nvPr/>
        </p:nvSpPr>
        <p:spPr>
          <a:xfrm>
            <a:off x="1810512" y="4956048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6" name="Shape 34"/>
          <p:cNvSpPr/>
          <p:nvPr/>
        </p:nvSpPr>
        <p:spPr>
          <a:xfrm>
            <a:off x="2249424" y="4956048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8336" y="4956048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8" name="Shape 36"/>
          <p:cNvSpPr/>
          <p:nvPr/>
        </p:nvSpPr>
        <p:spPr>
          <a:xfrm>
            <a:off x="1371600" y="5303520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9" name="Shape 37"/>
          <p:cNvSpPr/>
          <p:nvPr/>
        </p:nvSpPr>
        <p:spPr>
          <a:xfrm>
            <a:off x="1810512" y="5303520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0" name="Shape 38"/>
          <p:cNvSpPr/>
          <p:nvPr/>
        </p:nvSpPr>
        <p:spPr>
          <a:xfrm>
            <a:off x="2249424" y="5303520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1" name="Shape 39"/>
          <p:cNvSpPr/>
          <p:nvPr/>
        </p:nvSpPr>
        <p:spPr>
          <a:xfrm>
            <a:off x="2688336" y="5303520"/>
            <a:ext cx="384048" cy="29260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309067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" y="574243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rows × d columns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" y="3566160"/>
            <a:ext cx="521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&lt;pad&gt;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" y="3913632"/>
            <a:ext cx="521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4261104"/>
            <a:ext cx="521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" y="4608576"/>
            <a:ext cx="521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" y="4956048"/>
            <a:ext cx="521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" y="5303520"/>
            <a:ext cx="521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520440" y="4407408"/>
            <a:ext cx="502920" cy="0"/>
          </a:xfrm>
          <a:prstGeom prst="line">
            <a:avLst/>
          </a:prstGeom>
          <a:noFill/>
          <a:ln w="22225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105656" y="4178808"/>
            <a:ext cx="36576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2" name="Shape 50"/>
          <p:cNvSpPr/>
          <p:nvPr/>
        </p:nvSpPr>
        <p:spPr>
          <a:xfrm>
            <a:off x="4105656" y="4178808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3" name="Shape 51"/>
          <p:cNvSpPr/>
          <p:nvPr/>
        </p:nvSpPr>
        <p:spPr>
          <a:xfrm>
            <a:off x="4105656" y="4599432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4" name="Shape 52"/>
          <p:cNvSpPr/>
          <p:nvPr/>
        </p:nvSpPr>
        <p:spPr>
          <a:xfrm>
            <a:off x="5980176" y="4178808"/>
            <a:ext cx="36576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5" name="Shape 53"/>
          <p:cNvSpPr/>
          <p:nvPr/>
        </p:nvSpPr>
        <p:spPr>
          <a:xfrm>
            <a:off x="5888736" y="4178808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6" name="Shape 54"/>
          <p:cNvSpPr/>
          <p:nvPr/>
        </p:nvSpPr>
        <p:spPr>
          <a:xfrm>
            <a:off x="5888736" y="4599432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7" name="Shape 55"/>
          <p:cNvSpPr/>
          <p:nvPr/>
        </p:nvSpPr>
        <p:spPr>
          <a:xfrm>
            <a:off x="4224528" y="4261104"/>
            <a:ext cx="384048" cy="292608"/>
          </a:xfrm>
          <a:prstGeom prst="rect">
            <a:avLst/>
          </a:prstGeom>
          <a:solidFill>
            <a:srgbClr val="1B2B4D"/>
          </a:solidFill>
          <a:ln/>
        </p:spPr>
      </p:sp>
      <p:sp>
        <p:nvSpPr>
          <p:cNvPr id="58" name="Text 56"/>
          <p:cNvSpPr/>
          <p:nvPr/>
        </p:nvSpPr>
        <p:spPr>
          <a:xfrm>
            <a:off x="4224528" y="42611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54296" y="4261104"/>
            <a:ext cx="384048" cy="292608"/>
          </a:xfrm>
          <a:prstGeom prst="rect">
            <a:avLst/>
          </a:prstGeom>
          <a:solidFill>
            <a:srgbClr val="1B2B4D"/>
          </a:solidFill>
          <a:ln/>
        </p:spPr>
      </p:sp>
      <p:sp>
        <p:nvSpPr>
          <p:cNvPr id="60" name="Text 58"/>
          <p:cNvSpPr/>
          <p:nvPr/>
        </p:nvSpPr>
        <p:spPr>
          <a:xfrm>
            <a:off x="4654296" y="42611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084064" y="4261104"/>
            <a:ext cx="384048" cy="292608"/>
          </a:xfrm>
          <a:prstGeom prst="rect">
            <a:avLst/>
          </a:prstGeom>
          <a:solidFill>
            <a:srgbClr val="1B2B4D"/>
          </a:solidFill>
          <a:ln/>
        </p:spPr>
      </p:sp>
      <p:sp>
        <p:nvSpPr>
          <p:cNvPr id="62" name="Text 60"/>
          <p:cNvSpPr/>
          <p:nvPr/>
        </p:nvSpPr>
        <p:spPr>
          <a:xfrm>
            <a:off x="5084064" y="42611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513832" y="4261104"/>
            <a:ext cx="384048" cy="292608"/>
          </a:xfrm>
          <a:prstGeom prst="rect">
            <a:avLst/>
          </a:prstGeom>
          <a:solidFill>
            <a:srgbClr val="1B2B4D"/>
          </a:solidFill>
          <a:ln/>
        </p:spPr>
      </p:sp>
      <p:sp>
        <p:nvSpPr>
          <p:cNvPr id="64" name="Text 62"/>
          <p:cNvSpPr/>
          <p:nvPr/>
        </p:nvSpPr>
        <p:spPr>
          <a:xfrm>
            <a:off x="5513832" y="42611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520440" y="4736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= the vector for "cat"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245352" y="2542032"/>
            <a:ext cx="5394960" cy="3694176"/>
          </a:xfrm>
          <a:prstGeom prst="roundRect">
            <a:avLst>
              <a:gd name="adj" fmla="val 222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01384" y="27614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6501384" y="312724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 learned. At the start its rows are random noise.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pulls related tokens close together in d-dimensional space.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is the width of the whole model — every later matrix is sized around it.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usually the single largest matrix in a small model.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6501384" y="5074920"/>
            <a:ext cx="4864608" cy="932688"/>
          </a:xfrm>
          <a:prstGeom prst="roundRect">
            <a:avLst>
              <a:gd name="adj" fmla="val 8824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01384" y="5138928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50,257 × 768  =  38,597,376 parameters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501384" y="554126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of GPT-2 Small, before a single layer runs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 encoding  P  —  giving order to a bag of vectors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64240" y="5669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0" y="56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4846320"/>
          </a:xfrm>
          <a:prstGeom prst="roundRect">
            <a:avLst>
              <a:gd name="adj" fmla="val 169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910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has no sense of order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92024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P, "the cat sat" and "sat cat the" produce identical output. The fix is to add a position-dependent vector to every token vector.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" y="267004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670048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P(pos, 2i)   = sin( pos / 10000</a:t>
            </a:r>
            <a:r>
              <a:rPr lang="en-US" sz="1350" b="1" baseline="3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2i/d</a:t>
            </a:r>
            <a:r>
              <a:rPr lang="en-US" sz="13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P(pos, 2i+1) = cos( pos / 10000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baseline="3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2i/d</a:t>
            </a:r>
            <a:r>
              <a:rPr lang="en-US" sz="13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4187952"/>
            <a:ext cx="5349240" cy="749808"/>
          </a:xfrm>
          <a:prstGeom prst="roundRect">
            <a:avLst>
              <a:gd name="adj" fmla="val 10976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8795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=  X</a:t>
            </a:r>
            <a:r>
              <a:rPr lang="en-US" sz="19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</a:t>
            </a:r>
            <a:r>
              <a:rPr lang="en-US" sz="19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41832" y="451713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shapes: ( n × d ) + ( n × d ) = ( n × d 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" y="512064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sinusoids need no parameters and extend past the trained length.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instead learns P as a second embedding table (n_max × d).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use RoPE — it rotates Q and K instead of adding to 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1371600"/>
            <a:ext cx="5010912" cy="4846320"/>
          </a:xfrm>
          <a:prstGeom prst="roundRect">
            <a:avLst>
              <a:gd name="adj" fmla="val 169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graphicFrame>
        <p:nvGraphicFramePr>
          <p:cNvPr id="17" name="Chart 0"/>
          <p:cNvGraphicFramePr/>
          <p:nvPr/>
        </p:nvGraphicFramePr>
        <p:xfrm>
          <a:off x="6766560" y="1536192"/>
          <a:ext cx="4736592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858000" y="55961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on the x-axis, encoding value on the y-axis. Together the dimensions give every position a unique fingerprint.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– 9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Transformer block, from the outside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82396" y="1572768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14203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" y="1737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3836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7772" y="2039112"/>
            <a:ext cx="24688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31236" y="1572768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2676" y="1737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22676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6612" y="2039112"/>
            <a:ext cx="24688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80076" y="1572768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1516" y="1737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71516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5452" y="2039112"/>
            <a:ext cx="24688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28916" y="1572768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0356" y="1737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20356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94292" y="2039112"/>
            <a:ext cx="24688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77756" y="1572768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14203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69196" y="1737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69196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871216" y="2505456"/>
            <a:ext cx="0" cy="310896"/>
          </a:xfrm>
          <a:prstGeom prst="line">
            <a:avLst/>
          </a:prstGeom>
          <a:noFill/>
          <a:ln w="22225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871216" y="2816352"/>
            <a:ext cx="5372100" cy="0"/>
          </a:xfrm>
          <a:prstGeom prst="line">
            <a:avLst/>
          </a:prstGeom>
          <a:noFill/>
          <a:ln w="22225">
            <a:solidFill>
              <a:srgbClr val="2EC4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3316" y="2505456"/>
            <a:ext cx="0" cy="310896"/>
          </a:xfrm>
          <a:prstGeom prst="line">
            <a:avLst/>
          </a:prstGeom>
          <a:noFill/>
          <a:ln w="22225">
            <a:solidFill>
              <a:srgbClr val="2EC4B6"/>
            </a:solidFill>
            <a:prstDash val="solid"/>
            <a:headEnd type="triangle"/>
          </a:ln>
        </p:spPr>
      </p:sp>
      <p:sp>
        <p:nvSpPr>
          <p:cNvPr id="27" name="Text 25"/>
          <p:cNvSpPr/>
          <p:nvPr/>
        </p:nvSpPr>
        <p:spPr>
          <a:xfrm>
            <a:off x="3657600" y="2907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residual: the original X is added back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2396" y="3364992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14203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3836" y="35295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3836" y="3895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7772" y="3831336"/>
            <a:ext cx="24688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031236" y="3364992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2676" y="35295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122676" y="3895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6612" y="3831336"/>
            <a:ext cx="24688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180076" y="3364992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71516" y="35295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271516" y="3895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45452" y="3831336"/>
            <a:ext cx="24688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328916" y="3364992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20356" y="35295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420356" y="3895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194292" y="3831336"/>
            <a:ext cx="246888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477756" y="3364992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14203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69196" y="35295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′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569196" y="3895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871216" y="4297680"/>
            <a:ext cx="0" cy="310896"/>
          </a:xfrm>
          <a:prstGeom prst="line">
            <a:avLst/>
          </a:prstGeom>
          <a:noFill/>
          <a:ln w="22225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871216" y="4608576"/>
            <a:ext cx="5372100" cy="0"/>
          </a:xfrm>
          <a:prstGeom prst="line">
            <a:avLst/>
          </a:prstGeom>
          <a:noFill/>
          <a:ln w="22225">
            <a:solidFill>
              <a:srgbClr val="2EC4B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43316" y="4297680"/>
            <a:ext cx="0" cy="310896"/>
          </a:xfrm>
          <a:prstGeom prst="line">
            <a:avLst/>
          </a:prstGeom>
          <a:noFill/>
          <a:ln w="22225">
            <a:solidFill>
              <a:srgbClr val="2EC4B6"/>
            </a:solidFill>
            <a:prstDash val="solid"/>
            <a:headEnd type="triangle"/>
          </a:ln>
        </p:spPr>
      </p:sp>
      <p:sp>
        <p:nvSpPr>
          <p:cNvPr id="50" name="Text 48"/>
          <p:cNvSpPr/>
          <p:nvPr/>
        </p:nvSpPr>
        <p:spPr>
          <a:xfrm>
            <a:off x="3657600" y="4700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residual: H is added back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138928"/>
            <a:ext cx="5422392" cy="1051560"/>
          </a:xfrm>
          <a:prstGeom prst="roundRect">
            <a:avLst>
              <a:gd name="adj" fmla="val 7826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" y="5303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never changes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804672" y="56052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d goes in, n × d comes out. That is why blocks can be stacked N times without any reshaping.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217920" y="5138928"/>
            <a:ext cx="5422392" cy="1051560"/>
          </a:xfrm>
          <a:prstGeom prst="roundRect">
            <a:avLst>
              <a:gd name="adj" fmla="val 7826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3952" y="5303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Pre-LN vs Post-LN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6473952" y="56052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here is Pre-LN (normalise first), used by GPT-2 onward. The 2017 paper normalised after the addition.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projections: Query, Key, Value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64240" y="5669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0" y="56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10817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X · W</a:t>
            </a:r>
            <a:r>
              <a:rPr lang="en-US" sz="155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15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 = X · W</a:t>
            </a:r>
            <a:r>
              <a:rPr lang="en-US" sz="155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5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 = X · W</a:t>
            </a:r>
            <a:r>
              <a:rPr lang="en-US" sz="155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5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 n × d ) · ( d × d_k ) = ( n × d_k 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5486400" cy="3785616"/>
          </a:xfrm>
          <a:prstGeom prst="roundRect">
            <a:avLst>
              <a:gd name="adj" fmla="val 2174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651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X, three different lenses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4672" y="3328416"/>
            <a:ext cx="36576" cy="15179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3328416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809744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Shape 12"/>
          <p:cNvSpPr/>
          <p:nvPr/>
        </p:nvSpPr>
        <p:spPr>
          <a:xfrm>
            <a:off x="2221992" y="3328416"/>
            <a:ext cx="36576" cy="15179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Shape 13"/>
          <p:cNvSpPr/>
          <p:nvPr/>
        </p:nvSpPr>
        <p:spPr>
          <a:xfrm>
            <a:off x="2139696" y="3328416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Shape 14"/>
          <p:cNvSpPr/>
          <p:nvPr/>
        </p:nvSpPr>
        <p:spPr>
          <a:xfrm>
            <a:off x="2139696" y="4809744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40156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234440" y="340156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340156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874520" y="340156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368503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4440" y="368503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554480" y="368503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874520" y="368503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3968496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34440" y="3968496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554480" y="3968496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874520" y="3968496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425196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34440" y="425196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554480" y="425196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2" name="Shape 30"/>
          <p:cNvSpPr/>
          <p:nvPr/>
        </p:nvSpPr>
        <p:spPr>
          <a:xfrm>
            <a:off x="1874520" y="425196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" y="453542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4" name="Shape 32"/>
          <p:cNvSpPr/>
          <p:nvPr/>
        </p:nvSpPr>
        <p:spPr>
          <a:xfrm>
            <a:off x="1234440" y="453542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5" name="Shape 33"/>
          <p:cNvSpPr/>
          <p:nvPr/>
        </p:nvSpPr>
        <p:spPr>
          <a:xfrm>
            <a:off x="1554480" y="453542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6" name="Shape 34"/>
          <p:cNvSpPr/>
          <p:nvPr/>
        </p:nvSpPr>
        <p:spPr>
          <a:xfrm>
            <a:off x="1874520" y="453542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74320" y="4919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860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2679192" y="3328416"/>
            <a:ext cx="36576" cy="123444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1" name="Shape 39"/>
          <p:cNvSpPr/>
          <p:nvPr/>
        </p:nvSpPr>
        <p:spPr>
          <a:xfrm>
            <a:off x="2679192" y="3328416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2" name="Shape 40"/>
          <p:cNvSpPr/>
          <p:nvPr/>
        </p:nvSpPr>
        <p:spPr>
          <a:xfrm>
            <a:off x="2679192" y="4526280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3" name="Shape 41"/>
          <p:cNvSpPr/>
          <p:nvPr/>
        </p:nvSpPr>
        <p:spPr>
          <a:xfrm>
            <a:off x="3776472" y="3328416"/>
            <a:ext cx="36576" cy="123444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4" name="Shape 42"/>
          <p:cNvSpPr/>
          <p:nvPr/>
        </p:nvSpPr>
        <p:spPr>
          <a:xfrm>
            <a:off x="3694176" y="3328416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5" name="Shape 43"/>
          <p:cNvSpPr/>
          <p:nvPr/>
        </p:nvSpPr>
        <p:spPr>
          <a:xfrm>
            <a:off x="3694176" y="4526280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6" name="Shape 44"/>
          <p:cNvSpPr/>
          <p:nvPr/>
        </p:nvSpPr>
        <p:spPr>
          <a:xfrm>
            <a:off x="2788920" y="3401568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47" name="Shape 45"/>
          <p:cNvSpPr/>
          <p:nvPr/>
        </p:nvSpPr>
        <p:spPr>
          <a:xfrm>
            <a:off x="3108960" y="3401568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48" name="Shape 46"/>
          <p:cNvSpPr/>
          <p:nvPr/>
        </p:nvSpPr>
        <p:spPr>
          <a:xfrm>
            <a:off x="3429000" y="3401568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49" name="Shape 47"/>
          <p:cNvSpPr/>
          <p:nvPr/>
        </p:nvSpPr>
        <p:spPr>
          <a:xfrm>
            <a:off x="2788920" y="3685032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0" name="Shape 48"/>
          <p:cNvSpPr/>
          <p:nvPr/>
        </p:nvSpPr>
        <p:spPr>
          <a:xfrm>
            <a:off x="3108960" y="3685032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1" name="Shape 49"/>
          <p:cNvSpPr/>
          <p:nvPr/>
        </p:nvSpPr>
        <p:spPr>
          <a:xfrm>
            <a:off x="3429000" y="3685032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2" name="Shape 50"/>
          <p:cNvSpPr/>
          <p:nvPr/>
        </p:nvSpPr>
        <p:spPr>
          <a:xfrm>
            <a:off x="2788920" y="3968496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3" name="Shape 51"/>
          <p:cNvSpPr/>
          <p:nvPr/>
        </p:nvSpPr>
        <p:spPr>
          <a:xfrm>
            <a:off x="3108960" y="3968496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4" name="Shape 52"/>
          <p:cNvSpPr/>
          <p:nvPr/>
        </p:nvSpPr>
        <p:spPr>
          <a:xfrm>
            <a:off x="3429000" y="3968496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5" name="Shape 53"/>
          <p:cNvSpPr/>
          <p:nvPr/>
        </p:nvSpPr>
        <p:spPr>
          <a:xfrm>
            <a:off x="2788920" y="4251960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6" name="Shape 54"/>
          <p:cNvSpPr/>
          <p:nvPr/>
        </p:nvSpPr>
        <p:spPr>
          <a:xfrm>
            <a:off x="3108960" y="4251960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7" name="Shape 55"/>
          <p:cNvSpPr/>
          <p:nvPr/>
        </p:nvSpPr>
        <p:spPr>
          <a:xfrm>
            <a:off x="3429000" y="4251960"/>
            <a:ext cx="274320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8" name="Text 56"/>
          <p:cNvSpPr/>
          <p:nvPr/>
        </p:nvSpPr>
        <p:spPr>
          <a:xfrm>
            <a:off x="214884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2148840" y="4636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× d_k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8862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4279392" y="3328416"/>
            <a:ext cx="36576" cy="15179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2" name="Shape 60"/>
          <p:cNvSpPr/>
          <p:nvPr/>
        </p:nvSpPr>
        <p:spPr>
          <a:xfrm>
            <a:off x="4279392" y="3328416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3" name="Shape 61"/>
          <p:cNvSpPr/>
          <p:nvPr/>
        </p:nvSpPr>
        <p:spPr>
          <a:xfrm>
            <a:off x="4279392" y="4809744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4" name="Shape 62"/>
          <p:cNvSpPr/>
          <p:nvPr/>
        </p:nvSpPr>
        <p:spPr>
          <a:xfrm>
            <a:off x="5376672" y="3328416"/>
            <a:ext cx="36576" cy="15179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5" name="Shape 63"/>
          <p:cNvSpPr/>
          <p:nvPr/>
        </p:nvSpPr>
        <p:spPr>
          <a:xfrm>
            <a:off x="5294376" y="3328416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6" name="Shape 64"/>
          <p:cNvSpPr/>
          <p:nvPr/>
        </p:nvSpPr>
        <p:spPr>
          <a:xfrm>
            <a:off x="5294376" y="4809744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7" name="Shape 65"/>
          <p:cNvSpPr/>
          <p:nvPr/>
        </p:nvSpPr>
        <p:spPr>
          <a:xfrm>
            <a:off x="4389120" y="34015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68" name="Shape 66"/>
          <p:cNvSpPr/>
          <p:nvPr/>
        </p:nvSpPr>
        <p:spPr>
          <a:xfrm>
            <a:off x="4709160" y="34015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69" name="Shape 67"/>
          <p:cNvSpPr/>
          <p:nvPr/>
        </p:nvSpPr>
        <p:spPr>
          <a:xfrm>
            <a:off x="5029200" y="34015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0" name="Shape 68"/>
          <p:cNvSpPr/>
          <p:nvPr/>
        </p:nvSpPr>
        <p:spPr>
          <a:xfrm>
            <a:off x="4389120" y="3685032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1" name="Shape 69"/>
          <p:cNvSpPr/>
          <p:nvPr/>
        </p:nvSpPr>
        <p:spPr>
          <a:xfrm>
            <a:off x="4709160" y="3685032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2" name="Shape 70"/>
          <p:cNvSpPr/>
          <p:nvPr/>
        </p:nvSpPr>
        <p:spPr>
          <a:xfrm>
            <a:off x="5029200" y="3685032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3" name="Shape 71"/>
          <p:cNvSpPr/>
          <p:nvPr/>
        </p:nvSpPr>
        <p:spPr>
          <a:xfrm>
            <a:off x="4389120" y="3968496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4" name="Shape 72"/>
          <p:cNvSpPr/>
          <p:nvPr/>
        </p:nvSpPr>
        <p:spPr>
          <a:xfrm>
            <a:off x="4709160" y="3968496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5" name="Shape 73"/>
          <p:cNvSpPr/>
          <p:nvPr/>
        </p:nvSpPr>
        <p:spPr>
          <a:xfrm>
            <a:off x="5029200" y="3968496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6" name="Shape 74"/>
          <p:cNvSpPr/>
          <p:nvPr/>
        </p:nvSpPr>
        <p:spPr>
          <a:xfrm>
            <a:off x="4389120" y="425196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7" name="Shape 75"/>
          <p:cNvSpPr/>
          <p:nvPr/>
        </p:nvSpPr>
        <p:spPr>
          <a:xfrm>
            <a:off x="4709160" y="425196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8" name="Shape 76"/>
          <p:cNvSpPr/>
          <p:nvPr/>
        </p:nvSpPr>
        <p:spPr>
          <a:xfrm>
            <a:off x="5029200" y="425196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9" name="Shape 77"/>
          <p:cNvSpPr/>
          <p:nvPr/>
        </p:nvSpPr>
        <p:spPr>
          <a:xfrm>
            <a:off x="4389120" y="453542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80" name="Shape 78"/>
          <p:cNvSpPr/>
          <p:nvPr/>
        </p:nvSpPr>
        <p:spPr>
          <a:xfrm>
            <a:off x="4709160" y="453542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81" name="Shape 79"/>
          <p:cNvSpPr/>
          <p:nvPr/>
        </p:nvSpPr>
        <p:spPr>
          <a:xfrm>
            <a:off x="5029200" y="453542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82" name="Text 80"/>
          <p:cNvSpPr/>
          <p:nvPr/>
        </p:nvSpPr>
        <p:spPr>
          <a:xfrm>
            <a:off x="374904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3749040" y="4919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d_k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04672" y="5349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W_K and W_V have exactly the same shape — only their learned values differ.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6245352" y="2450592"/>
            <a:ext cx="5394960" cy="3785616"/>
          </a:xfrm>
          <a:prstGeom prst="roundRect">
            <a:avLst>
              <a:gd name="adj" fmla="val 2174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01384" y="2651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library search</a:t>
            </a:r>
            <a:endParaRPr lang="en-US" sz="1450" dirty="0"/>
          </a:p>
        </p:txBody>
      </p:sp>
      <p:sp>
        <p:nvSpPr>
          <p:cNvPr id="87" name="Shape 85"/>
          <p:cNvSpPr/>
          <p:nvPr/>
        </p:nvSpPr>
        <p:spPr>
          <a:xfrm>
            <a:off x="6501384" y="3127248"/>
            <a:ext cx="475488" cy="47548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88" name="Text 86"/>
          <p:cNvSpPr/>
          <p:nvPr/>
        </p:nvSpPr>
        <p:spPr>
          <a:xfrm>
            <a:off x="6501384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0E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700" dirty="0"/>
          </a:p>
        </p:txBody>
      </p:sp>
      <p:sp>
        <p:nvSpPr>
          <p:cNvPr id="89" name="Text 87"/>
          <p:cNvSpPr/>
          <p:nvPr/>
        </p:nvSpPr>
        <p:spPr>
          <a:xfrm>
            <a:off x="7150608" y="31455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7150608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am I looking for?"</a:t>
            </a:r>
            <a:endParaRPr lang="en-US" sz="1250" dirty="0"/>
          </a:p>
        </p:txBody>
      </p:sp>
      <p:sp>
        <p:nvSpPr>
          <p:cNvPr id="91" name="Shape 89"/>
          <p:cNvSpPr/>
          <p:nvPr/>
        </p:nvSpPr>
        <p:spPr>
          <a:xfrm>
            <a:off x="6501384" y="4096512"/>
            <a:ext cx="475488" cy="47548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2" name="Text 90"/>
          <p:cNvSpPr/>
          <p:nvPr/>
        </p:nvSpPr>
        <p:spPr>
          <a:xfrm>
            <a:off x="6501384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0E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700" dirty="0"/>
          </a:p>
        </p:txBody>
      </p:sp>
      <p:sp>
        <p:nvSpPr>
          <p:cNvPr id="93" name="Text 91"/>
          <p:cNvSpPr/>
          <p:nvPr/>
        </p:nvSpPr>
        <p:spPr>
          <a:xfrm>
            <a:off x="7150608" y="4114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400" dirty="0"/>
          </a:p>
        </p:txBody>
      </p:sp>
      <p:sp>
        <p:nvSpPr>
          <p:cNvPr id="94" name="Text 92"/>
          <p:cNvSpPr/>
          <p:nvPr/>
        </p:nvSpPr>
        <p:spPr>
          <a:xfrm>
            <a:off x="7150608" y="43982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contain?"</a:t>
            </a:r>
            <a:endParaRPr lang="en-US" sz="1250" dirty="0"/>
          </a:p>
        </p:txBody>
      </p:sp>
      <p:sp>
        <p:nvSpPr>
          <p:cNvPr id="95" name="Shape 93"/>
          <p:cNvSpPr/>
          <p:nvPr/>
        </p:nvSpPr>
        <p:spPr>
          <a:xfrm>
            <a:off x="6501384" y="5065776"/>
            <a:ext cx="475488" cy="475488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96" name="Text 94"/>
          <p:cNvSpPr/>
          <p:nvPr/>
        </p:nvSpPr>
        <p:spPr>
          <a:xfrm>
            <a:off x="6501384" y="5065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0E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700" dirty="0"/>
          </a:p>
        </p:txBody>
      </p:sp>
      <p:sp>
        <p:nvSpPr>
          <p:cNvPr id="97" name="Text 95"/>
          <p:cNvSpPr/>
          <p:nvPr/>
        </p:nvSpPr>
        <p:spPr>
          <a:xfrm>
            <a:off x="7150608" y="50840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7150608" y="53675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will I hand over?"</a:t>
            </a:r>
            <a:endParaRPr lang="en-US" sz="1250" dirty="0"/>
          </a:p>
        </p:txBody>
      </p:sp>
      <p:sp>
        <p:nvSpPr>
          <p:cNvPr id="99" name="Text 97"/>
          <p:cNvSpPr/>
          <p:nvPr/>
        </p:nvSpPr>
        <p:spPr>
          <a:xfrm>
            <a:off x="6501384" y="57424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is matched against every key; the best matches decide how much of each value is copied.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scores  S = Q·K ᵀ / √d_k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64240" y="5669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0" y="56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720840" cy="2880360"/>
          </a:xfrm>
          <a:prstGeom prst="roundRect">
            <a:avLst>
              <a:gd name="adj" fmla="val 2857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2075688"/>
            <a:ext cx="36576" cy="15179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2075688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" y="3557016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1947672" y="2075688"/>
            <a:ext cx="36576" cy="15179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Shape 10"/>
          <p:cNvSpPr/>
          <p:nvPr/>
        </p:nvSpPr>
        <p:spPr>
          <a:xfrm>
            <a:off x="1865376" y="2075688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1865376" y="3557016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214884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214884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0200" y="214884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243230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8" name="Shape 16"/>
          <p:cNvSpPr/>
          <p:nvPr/>
        </p:nvSpPr>
        <p:spPr>
          <a:xfrm>
            <a:off x="1280160" y="243230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0200" y="243230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27157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1" name="Shape 19"/>
          <p:cNvSpPr/>
          <p:nvPr/>
        </p:nvSpPr>
        <p:spPr>
          <a:xfrm>
            <a:off x="1280160" y="27157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27157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2999232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4" name="Shape 22"/>
          <p:cNvSpPr/>
          <p:nvPr/>
        </p:nvSpPr>
        <p:spPr>
          <a:xfrm>
            <a:off x="1280160" y="2999232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5" name="Shape 23"/>
          <p:cNvSpPr/>
          <p:nvPr/>
        </p:nvSpPr>
        <p:spPr>
          <a:xfrm>
            <a:off x="1600200" y="2999232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" y="3282696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7" name="Shape 25"/>
          <p:cNvSpPr/>
          <p:nvPr/>
        </p:nvSpPr>
        <p:spPr>
          <a:xfrm>
            <a:off x="1280160" y="3282696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8" name="Shape 26"/>
          <p:cNvSpPr/>
          <p:nvPr/>
        </p:nvSpPr>
        <p:spPr>
          <a:xfrm>
            <a:off x="1600200" y="3282696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" y="3666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d_k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542032" y="2075688"/>
            <a:ext cx="36576" cy="9509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3" name="Shape 31"/>
          <p:cNvSpPr/>
          <p:nvPr/>
        </p:nvSpPr>
        <p:spPr>
          <a:xfrm>
            <a:off x="2542032" y="2075688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4" name="Shape 32"/>
          <p:cNvSpPr/>
          <p:nvPr/>
        </p:nvSpPr>
        <p:spPr>
          <a:xfrm>
            <a:off x="2542032" y="2990088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5" name="Shape 33"/>
          <p:cNvSpPr/>
          <p:nvPr/>
        </p:nvSpPr>
        <p:spPr>
          <a:xfrm>
            <a:off x="4279392" y="2075688"/>
            <a:ext cx="36576" cy="9509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6" name="Shape 34"/>
          <p:cNvSpPr/>
          <p:nvPr/>
        </p:nvSpPr>
        <p:spPr>
          <a:xfrm>
            <a:off x="4197096" y="2075688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7" name="Shape 35"/>
          <p:cNvSpPr/>
          <p:nvPr/>
        </p:nvSpPr>
        <p:spPr>
          <a:xfrm>
            <a:off x="4197096" y="2990088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8" name="Shape 36"/>
          <p:cNvSpPr/>
          <p:nvPr/>
        </p:nvSpPr>
        <p:spPr>
          <a:xfrm>
            <a:off x="2651760" y="214884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39" name="Shape 37"/>
          <p:cNvSpPr/>
          <p:nvPr/>
        </p:nvSpPr>
        <p:spPr>
          <a:xfrm>
            <a:off x="2971800" y="214884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40" name="Shape 38"/>
          <p:cNvSpPr/>
          <p:nvPr/>
        </p:nvSpPr>
        <p:spPr>
          <a:xfrm>
            <a:off x="3291840" y="214884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41" name="Shape 39"/>
          <p:cNvSpPr/>
          <p:nvPr/>
        </p:nvSpPr>
        <p:spPr>
          <a:xfrm>
            <a:off x="3611880" y="214884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42" name="Shape 40"/>
          <p:cNvSpPr/>
          <p:nvPr/>
        </p:nvSpPr>
        <p:spPr>
          <a:xfrm>
            <a:off x="3931920" y="2148840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43" name="Shape 41"/>
          <p:cNvSpPr/>
          <p:nvPr/>
        </p:nvSpPr>
        <p:spPr>
          <a:xfrm>
            <a:off x="2651760" y="243230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44" name="Shape 42"/>
          <p:cNvSpPr/>
          <p:nvPr/>
        </p:nvSpPr>
        <p:spPr>
          <a:xfrm>
            <a:off x="2971800" y="243230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45" name="Shape 43"/>
          <p:cNvSpPr/>
          <p:nvPr/>
        </p:nvSpPr>
        <p:spPr>
          <a:xfrm>
            <a:off x="3291840" y="243230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46" name="Shape 44"/>
          <p:cNvSpPr/>
          <p:nvPr/>
        </p:nvSpPr>
        <p:spPr>
          <a:xfrm>
            <a:off x="3611880" y="243230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47" name="Shape 45"/>
          <p:cNvSpPr/>
          <p:nvPr/>
        </p:nvSpPr>
        <p:spPr>
          <a:xfrm>
            <a:off x="3931920" y="2432304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48" name="Shape 46"/>
          <p:cNvSpPr/>
          <p:nvPr/>
        </p:nvSpPr>
        <p:spPr>
          <a:xfrm>
            <a:off x="2651760" y="27157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49" name="Shape 47"/>
          <p:cNvSpPr/>
          <p:nvPr/>
        </p:nvSpPr>
        <p:spPr>
          <a:xfrm>
            <a:off x="2971800" y="27157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50" name="Shape 48"/>
          <p:cNvSpPr/>
          <p:nvPr/>
        </p:nvSpPr>
        <p:spPr>
          <a:xfrm>
            <a:off x="3291840" y="27157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51" name="Shape 49"/>
          <p:cNvSpPr/>
          <p:nvPr/>
        </p:nvSpPr>
        <p:spPr>
          <a:xfrm>
            <a:off x="3611880" y="27157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52" name="Shape 50"/>
          <p:cNvSpPr/>
          <p:nvPr/>
        </p:nvSpPr>
        <p:spPr>
          <a:xfrm>
            <a:off x="3931920" y="2715768"/>
            <a:ext cx="274320" cy="23774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53" name="Text 51"/>
          <p:cNvSpPr/>
          <p:nvPr/>
        </p:nvSpPr>
        <p:spPr>
          <a:xfrm>
            <a:off x="201168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ᵀ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011680" y="3099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d_k × 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4348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4873752" y="2075688"/>
            <a:ext cx="36576" cy="151790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7" name="Shape 55"/>
          <p:cNvSpPr/>
          <p:nvPr/>
        </p:nvSpPr>
        <p:spPr>
          <a:xfrm>
            <a:off x="4873752" y="2075688"/>
            <a:ext cx="118872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8" name="Shape 56"/>
          <p:cNvSpPr/>
          <p:nvPr/>
        </p:nvSpPr>
        <p:spPr>
          <a:xfrm>
            <a:off x="4873752" y="3557016"/>
            <a:ext cx="118872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9" name="Shape 57"/>
          <p:cNvSpPr/>
          <p:nvPr/>
        </p:nvSpPr>
        <p:spPr>
          <a:xfrm>
            <a:off x="6611112" y="2075688"/>
            <a:ext cx="36576" cy="151790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0" name="Shape 58"/>
          <p:cNvSpPr/>
          <p:nvPr/>
        </p:nvSpPr>
        <p:spPr>
          <a:xfrm>
            <a:off x="6528816" y="2075688"/>
            <a:ext cx="118872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1" name="Shape 59"/>
          <p:cNvSpPr/>
          <p:nvPr/>
        </p:nvSpPr>
        <p:spPr>
          <a:xfrm>
            <a:off x="6528816" y="3557016"/>
            <a:ext cx="118872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2" name="Shape 60"/>
          <p:cNvSpPr/>
          <p:nvPr/>
        </p:nvSpPr>
        <p:spPr>
          <a:xfrm>
            <a:off x="4983480" y="214884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3" name="Shape 61"/>
          <p:cNvSpPr/>
          <p:nvPr/>
        </p:nvSpPr>
        <p:spPr>
          <a:xfrm>
            <a:off x="5303520" y="214884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4" name="Shape 62"/>
          <p:cNvSpPr/>
          <p:nvPr/>
        </p:nvSpPr>
        <p:spPr>
          <a:xfrm>
            <a:off x="5623560" y="214884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5" name="Shape 63"/>
          <p:cNvSpPr/>
          <p:nvPr/>
        </p:nvSpPr>
        <p:spPr>
          <a:xfrm>
            <a:off x="5943600" y="214884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6" name="Shape 64"/>
          <p:cNvSpPr/>
          <p:nvPr/>
        </p:nvSpPr>
        <p:spPr>
          <a:xfrm>
            <a:off x="6263640" y="214884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7" name="Shape 65"/>
          <p:cNvSpPr/>
          <p:nvPr/>
        </p:nvSpPr>
        <p:spPr>
          <a:xfrm>
            <a:off x="4983480" y="243230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8" name="Shape 66"/>
          <p:cNvSpPr/>
          <p:nvPr/>
        </p:nvSpPr>
        <p:spPr>
          <a:xfrm>
            <a:off x="5303520" y="243230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9" name="Shape 67"/>
          <p:cNvSpPr/>
          <p:nvPr/>
        </p:nvSpPr>
        <p:spPr>
          <a:xfrm>
            <a:off x="5623560" y="243230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0" name="Shape 68"/>
          <p:cNvSpPr/>
          <p:nvPr/>
        </p:nvSpPr>
        <p:spPr>
          <a:xfrm>
            <a:off x="5943600" y="243230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1" name="Shape 69"/>
          <p:cNvSpPr/>
          <p:nvPr/>
        </p:nvSpPr>
        <p:spPr>
          <a:xfrm>
            <a:off x="6263640" y="243230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2" name="Shape 70"/>
          <p:cNvSpPr/>
          <p:nvPr/>
        </p:nvSpPr>
        <p:spPr>
          <a:xfrm>
            <a:off x="4983480" y="271576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3" name="Shape 71"/>
          <p:cNvSpPr/>
          <p:nvPr/>
        </p:nvSpPr>
        <p:spPr>
          <a:xfrm>
            <a:off x="5303520" y="2715768"/>
            <a:ext cx="274320" cy="23774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4" name="Shape 72"/>
          <p:cNvSpPr/>
          <p:nvPr/>
        </p:nvSpPr>
        <p:spPr>
          <a:xfrm>
            <a:off x="5623560" y="271576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5" name="Shape 73"/>
          <p:cNvSpPr/>
          <p:nvPr/>
        </p:nvSpPr>
        <p:spPr>
          <a:xfrm>
            <a:off x="5943600" y="271576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6" name="Shape 74"/>
          <p:cNvSpPr/>
          <p:nvPr/>
        </p:nvSpPr>
        <p:spPr>
          <a:xfrm>
            <a:off x="6263640" y="271576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7" name="Shape 75"/>
          <p:cNvSpPr/>
          <p:nvPr/>
        </p:nvSpPr>
        <p:spPr>
          <a:xfrm>
            <a:off x="4983480" y="299923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8" name="Shape 76"/>
          <p:cNvSpPr/>
          <p:nvPr/>
        </p:nvSpPr>
        <p:spPr>
          <a:xfrm>
            <a:off x="5303520" y="299923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9" name="Shape 77"/>
          <p:cNvSpPr/>
          <p:nvPr/>
        </p:nvSpPr>
        <p:spPr>
          <a:xfrm>
            <a:off x="5623560" y="299923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0" name="Shape 78"/>
          <p:cNvSpPr/>
          <p:nvPr/>
        </p:nvSpPr>
        <p:spPr>
          <a:xfrm>
            <a:off x="5943600" y="299923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1" name="Shape 79"/>
          <p:cNvSpPr/>
          <p:nvPr/>
        </p:nvSpPr>
        <p:spPr>
          <a:xfrm>
            <a:off x="6263640" y="299923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2" name="Shape 80"/>
          <p:cNvSpPr/>
          <p:nvPr/>
        </p:nvSpPr>
        <p:spPr>
          <a:xfrm>
            <a:off x="4983480" y="3282696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3" name="Shape 81"/>
          <p:cNvSpPr/>
          <p:nvPr/>
        </p:nvSpPr>
        <p:spPr>
          <a:xfrm>
            <a:off x="5303520" y="3282696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4" name="Shape 82"/>
          <p:cNvSpPr/>
          <p:nvPr/>
        </p:nvSpPr>
        <p:spPr>
          <a:xfrm>
            <a:off x="5623560" y="3282696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5" name="Shape 83"/>
          <p:cNvSpPr/>
          <p:nvPr/>
        </p:nvSpPr>
        <p:spPr>
          <a:xfrm>
            <a:off x="5943600" y="3282696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6" name="Shape 84"/>
          <p:cNvSpPr/>
          <p:nvPr/>
        </p:nvSpPr>
        <p:spPr>
          <a:xfrm>
            <a:off x="6263640" y="3282696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7" name="Text 85"/>
          <p:cNvSpPr/>
          <p:nvPr/>
        </p:nvSpPr>
        <p:spPr>
          <a:xfrm>
            <a:off x="434340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4343400" y="36667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n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777240" y="37947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S[i][j] = how relevant token j is to token i — one dot product per pair.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7479792" y="1371600"/>
            <a:ext cx="4160520" cy="2880360"/>
          </a:xfrm>
          <a:prstGeom prst="roundRect">
            <a:avLst>
              <a:gd name="adj" fmla="val 2857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735824" y="1591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divide by √d_k ?</a:t>
            </a:r>
            <a:endParaRPr lang="en-US" sz="1450" dirty="0"/>
          </a:p>
        </p:txBody>
      </p:sp>
      <p:sp>
        <p:nvSpPr>
          <p:cNvPr id="92" name="Text 90"/>
          <p:cNvSpPr/>
          <p:nvPr/>
        </p:nvSpPr>
        <p:spPr>
          <a:xfrm>
            <a:off x="7735824" y="1956816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dot product of d_k terms grows like √d_k.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scores make softmax nearly one-hot.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one-hot ⇒ vanishing gradients, no learning.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keeps the variance near 1 at any head size.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548640" y="4434840"/>
            <a:ext cx="11091672" cy="1755648"/>
          </a:xfrm>
          <a:prstGeom prst="roundRect">
            <a:avLst>
              <a:gd name="adj" fmla="val 468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2960" y="46177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 × n matrix is the heart of the Transformer</a:t>
            </a:r>
            <a:endParaRPr lang="en-US" sz="1500" dirty="0"/>
          </a:p>
        </p:txBody>
      </p:sp>
      <p:sp>
        <p:nvSpPr>
          <p:cNvPr id="95" name="Shape 93"/>
          <p:cNvSpPr/>
          <p:nvPr/>
        </p:nvSpPr>
        <p:spPr>
          <a:xfrm>
            <a:off x="822960" y="5056632"/>
            <a:ext cx="237744" cy="23774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6" name="Text 94"/>
          <p:cNvSpPr/>
          <p:nvPr/>
        </p:nvSpPr>
        <p:spPr>
          <a:xfrm>
            <a:off x="1188720" y="5047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</a:t>
            </a:r>
            <a:endParaRPr lang="en-US" sz="1250" dirty="0"/>
          </a:p>
        </p:txBody>
      </p:sp>
      <p:sp>
        <p:nvSpPr>
          <p:cNvPr id="97" name="Text 95"/>
          <p:cNvSpPr/>
          <p:nvPr/>
        </p:nvSpPr>
        <p:spPr>
          <a:xfrm>
            <a:off x="1188720" y="53400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 dot products. Doubling the context quadruples this matrix.</a:t>
            </a:r>
            <a:endParaRPr lang="en-US" sz="1150" dirty="0"/>
          </a:p>
        </p:txBody>
      </p:sp>
      <p:sp>
        <p:nvSpPr>
          <p:cNvPr id="98" name="Shape 96"/>
          <p:cNvSpPr/>
          <p:nvPr/>
        </p:nvSpPr>
        <p:spPr>
          <a:xfrm>
            <a:off x="4425696" y="5056632"/>
            <a:ext cx="237744" cy="23774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99" name="Text 97"/>
          <p:cNvSpPr/>
          <p:nvPr/>
        </p:nvSpPr>
        <p:spPr>
          <a:xfrm>
            <a:off x="4791456" y="5047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1250" dirty="0"/>
          </a:p>
        </p:txBody>
      </p:sp>
      <p:sp>
        <p:nvSpPr>
          <p:cNvPr id="100" name="Text 98"/>
          <p:cNvSpPr/>
          <p:nvPr/>
        </p:nvSpPr>
        <p:spPr>
          <a:xfrm>
            <a:off x="4791456" y="53400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position is hard-coded — relevance is learned.</a:t>
            </a:r>
            <a:endParaRPr lang="en-US" sz="1150" dirty="0"/>
          </a:p>
        </p:txBody>
      </p:sp>
      <p:sp>
        <p:nvSpPr>
          <p:cNvPr id="101" name="Shape 99"/>
          <p:cNvSpPr/>
          <p:nvPr/>
        </p:nvSpPr>
        <p:spPr>
          <a:xfrm>
            <a:off x="8028432" y="5056632"/>
            <a:ext cx="237744" cy="237744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8394192" y="5047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head, per layer</a:t>
            </a:r>
            <a:endParaRPr lang="en-US" sz="1250" dirty="0"/>
          </a:p>
        </p:txBody>
      </p:sp>
      <p:sp>
        <p:nvSpPr>
          <p:cNvPr id="103" name="Text 101"/>
          <p:cNvSpPr/>
          <p:nvPr/>
        </p:nvSpPr>
        <p:spPr>
          <a:xfrm>
            <a:off x="8394192" y="53400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× N of these matrices exist in a single forward pass.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mask, then softmax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64240" y="5669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0" y="56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223760" cy="3200400"/>
          </a:xfrm>
          <a:prstGeom prst="roundRect">
            <a:avLst>
              <a:gd name="adj" fmla="val 2571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8528" y="2066544"/>
            <a:ext cx="36576" cy="14081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1938528" y="2066544"/>
            <a:ext cx="128016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0" name="Shape 8"/>
          <p:cNvSpPr/>
          <p:nvPr/>
        </p:nvSpPr>
        <p:spPr>
          <a:xfrm>
            <a:off x="1938528" y="3438144"/>
            <a:ext cx="128016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0" y="2066544"/>
            <a:ext cx="36576" cy="14081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2066544"/>
            <a:ext cx="128016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3438144"/>
            <a:ext cx="128016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2148840"/>
            <a:ext cx="566928" cy="38404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2057400" y="21488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70048" y="2148840"/>
            <a:ext cx="566928" cy="384048"/>
          </a:xfrm>
          <a:prstGeom prst="rect">
            <a:avLst/>
          </a:prstGeom>
          <a:solidFill>
            <a:srgbClr val="1B2145"/>
          </a:solidFill>
          <a:ln/>
        </p:spPr>
      </p:sp>
      <p:sp>
        <p:nvSpPr>
          <p:cNvPr id="17" name="Text 15"/>
          <p:cNvSpPr/>
          <p:nvPr/>
        </p:nvSpPr>
        <p:spPr>
          <a:xfrm>
            <a:off x="2670048" y="21488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82696" y="2148840"/>
            <a:ext cx="566928" cy="384048"/>
          </a:xfrm>
          <a:prstGeom prst="rect">
            <a:avLst/>
          </a:prstGeom>
          <a:solidFill>
            <a:srgbClr val="1B2145"/>
          </a:solidFill>
          <a:ln/>
        </p:spPr>
      </p:sp>
      <p:sp>
        <p:nvSpPr>
          <p:cNvPr id="19" name="Text 17"/>
          <p:cNvSpPr/>
          <p:nvPr/>
        </p:nvSpPr>
        <p:spPr>
          <a:xfrm>
            <a:off x="3282696" y="21488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2578608"/>
            <a:ext cx="566928" cy="38404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2057400" y="25786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1.563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70048" y="2578608"/>
            <a:ext cx="566928" cy="38404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3" name="Text 21"/>
          <p:cNvSpPr/>
          <p:nvPr/>
        </p:nvSpPr>
        <p:spPr>
          <a:xfrm>
            <a:off x="2670048" y="25786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1.706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82696" y="2578608"/>
            <a:ext cx="566928" cy="384048"/>
          </a:xfrm>
          <a:prstGeom prst="rect">
            <a:avLst/>
          </a:prstGeom>
          <a:solidFill>
            <a:srgbClr val="1B2145"/>
          </a:solidFill>
          <a:ln/>
        </p:spPr>
      </p:sp>
      <p:sp>
        <p:nvSpPr>
          <p:cNvPr id="25" name="Text 23"/>
          <p:cNvSpPr/>
          <p:nvPr/>
        </p:nvSpPr>
        <p:spPr>
          <a:xfrm>
            <a:off x="3282696" y="25786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57400" y="3008376"/>
            <a:ext cx="566928" cy="38404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057400" y="30083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1.366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70048" y="3008376"/>
            <a:ext cx="566928" cy="38404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9" name="Text 27"/>
          <p:cNvSpPr/>
          <p:nvPr/>
        </p:nvSpPr>
        <p:spPr>
          <a:xfrm>
            <a:off x="2670048" y="30083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1.463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82696" y="3008376"/>
            <a:ext cx="566928" cy="384048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1" name="Text 29"/>
          <p:cNvSpPr/>
          <p:nvPr/>
        </p:nvSpPr>
        <p:spPr>
          <a:xfrm>
            <a:off x="3282696" y="30083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1.328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08760" y="16459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 masked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2148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2578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30083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57400" y="1856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70048" y="1856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82696" y="1856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14800" y="2697480"/>
            <a:ext cx="640080" cy="0"/>
          </a:xfrm>
          <a:prstGeom prst="line">
            <a:avLst/>
          </a:prstGeom>
          <a:noFill/>
          <a:ln w="22225">
            <a:solidFill>
              <a:srgbClr val="FFB627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931920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10328" y="2066544"/>
            <a:ext cx="36576" cy="14081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2" name="Shape 40"/>
          <p:cNvSpPr/>
          <p:nvPr/>
        </p:nvSpPr>
        <p:spPr>
          <a:xfrm>
            <a:off x="4910328" y="2066544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3" name="Shape 41"/>
          <p:cNvSpPr/>
          <p:nvPr/>
        </p:nvSpPr>
        <p:spPr>
          <a:xfrm>
            <a:off x="4910328" y="3438144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4" name="Shape 42"/>
          <p:cNvSpPr/>
          <p:nvPr/>
        </p:nvSpPr>
        <p:spPr>
          <a:xfrm>
            <a:off x="6903720" y="2066544"/>
            <a:ext cx="36576" cy="14081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5" name="Shape 43"/>
          <p:cNvSpPr/>
          <p:nvPr/>
        </p:nvSpPr>
        <p:spPr>
          <a:xfrm>
            <a:off x="6812280" y="2066544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6" name="Shape 44"/>
          <p:cNvSpPr/>
          <p:nvPr/>
        </p:nvSpPr>
        <p:spPr>
          <a:xfrm>
            <a:off x="6812280" y="3438144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7" name="Shape 45"/>
          <p:cNvSpPr/>
          <p:nvPr/>
        </p:nvSpPr>
        <p:spPr>
          <a:xfrm>
            <a:off x="5029200" y="2148840"/>
            <a:ext cx="566928" cy="384048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21488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41848" y="2148840"/>
            <a:ext cx="566928" cy="384048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50" name="Text 48"/>
          <p:cNvSpPr/>
          <p:nvPr/>
        </p:nvSpPr>
        <p:spPr>
          <a:xfrm>
            <a:off x="5641848" y="21488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54496" y="2148840"/>
            <a:ext cx="566928" cy="384048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52" name="Text 50"/>
          <p:cNvSpPr/>
          <p:nvPr/>
        </p:nvSpPr>
        <p:spPr>
          <a:xfrm>
            <a:off x="6254496" y="21488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29200" y="2578608"/>
            <a:ext cx="566928" cy="384048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0" y="25786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0.464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41848" y="2578608"/>
            <a:ext cx="566928" cy="384048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56" name="Text 54"/>
          <p:cNvSpPr/>
          <p:nvPr/>
        </p:nvSpPr>
        <p:spPr>
          <a:xfrm>
            <a:off x="5641848" y="25786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0.536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54496" y="2578608"/>
            <a:ext cx="566928" cy="384048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58" name="Text 56"/>
          <p:cNvSpPr/>
          <p:nvPr/>
        </p:nvSpPr>
        <p:spPr>
          <a:xfrm>
            <a:off x="6254496" y="25786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029200" y="3008376"/>
            <a:ext cx="566928" cy="384048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0" y="30083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0.326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641848" y="3008376"/>
            <a:ext cx="566928" cy="384048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62" name="Text 60"/>
          <p:cNvSpPr/>
          <p:nvPr/>
        </p:nvSpPr>
        <p:spPr>
          <a:xfrm>
            <a:off x="5641848" y="30083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254496" y="3008376"/>
            <a:ext cx="566928" cy="384048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64" name="Text 62"/>
          <p:cNvSpPr/>
          <p:nvPr/>
        </p:nvSpPr>
        <p:spPr>
          <a:xfrm>
            <a:off x="6254496" y="30083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0.314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480560" y="16459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=  softmax(S)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777240" y="41148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sums to exactly 1 — the row is a probability distribution over which tokens to look at.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7973568" y="1371600"/>
            <a:ext cx="3666744" cy="3200400"/>
          </a:xfrm>
          <a:prstGeom prst="roundRect">
            <a:avLst>
              <a:gd name="adj" fmla="val 2571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11312" y="1572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formulas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8211312" y="1956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250" b="1" baseline="-40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r>
              <a:rPr lang="en-US" sz="12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 −∞   if  j &gt; i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8211312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may never attend to a token that comes after it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211312" y="28895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b="1" baseline="-400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exp(S</a:t>
            </a:r>
            <a:r>
              <a:rPr lang="en-US" sz="1250" b="1" baseline="-400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Σ</a:t>
            </a:r>
            <a:r>
              <a:rPr lang="en-US" sz="1250" b="1" baseline="-400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exp(S</a:t>
            </a:r>
            <a:r>
              <a:rPr lang="en-US" sz="1250" b="1" baseline="-400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ik</a:t>
            </a: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8211312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e^(−∞) = 0, so masked cells receive exactly zero weight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211312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is applied along each row, independently.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548640" y="4736592"/>
            <a:ext cx="11091672" cy="1463040"/>
          </a:xfrm>
          <a:prstGeom prst="roundRect">
            <a:avLst>
              <a:gd name="adj" fmla="val 5625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4919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mask at all?</a:t>
            </a:r>
            <a:endParaRPr lang="en-US" sz="1450" dirty="0"/>
          </a:p>
        </p:txBody>
      </p:sp>
      <p:sp>
        <p:nvSpPr>
          <p:cNvPr id="76" name="Text 74"/>
          <p:cNvSpPr/>
          <p:nvPr/>
        </p:nvSpPr>
        <p:spPr>
          <a:xfrm>
            <a:off x="822960" y="5230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to predict the next token. If position 2 could see position 3, predicting position 3 would be trivial — the answer would already be in the input. Masking lets us compute the loss for all n positions in a single forward pass while keeping every prediction honest.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 the values, then merge:  Z = A·V,  out = Z·W_O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64240" y="5669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0" y="56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2606040"/>
          </a:xfrm>
          <a:prstGeom prst="roundRect">
            <a:avLst>
              <a:gd name="adj" fmla="val 315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2002536"/>
            <a:ext cx="36576" cy="135331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Shape 7"/>
          <p:cNvSpPr/>
          <p:nvPr/>
        </p:nvSpPr>
        <p:spPr>
          <a:xfrm>
            <a:off x="1252728" y="2002536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Shape 8"/>
          <p:cNvSpPr/>
          <p:nvPr/>
        </p:nvSpPr>
        <p:spPr>
          <a:xfrm>
            <a:off x="1252728" y="3319272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3191256" y="2002536"/>
            <a:ext cx="36576" cy="135331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Shape 10"/>
          <p:cNvSpPr/>
          <p:nvPr/>
        </p:nvSpPr>
        <p:spPr>
          <a:xfrm>
            <a:off x="3099816" y="2002536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3099816" y="3319272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208483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65960" y="208483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7" name="Text 15"/>
          <p:cNvSpPr/>
          <p:nvPr/>
        </p:nvSpPr>
        <p:spPr>
          <a:xfrm>
            <a:off x="196596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208483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71600" y="249631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65960" y="249631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3" name="Text 21"/>
          <p:cNvSpPr/>
          <p:nvPr/>
        </p:nvSpPr>
        <p:spPr>
          <a:xfrm>
            <a:off x="196596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0" y="249631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371600" y="290779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965960" y="290779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9" name="Text 27"/>
          <p:cNvSpPr/>
          <p:nvPr/>
        </p:nvSpPr>
        <p:spPr>
          <a:xfrm>
            <a:off x="196596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290779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0.314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1581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3401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675888" y="2002536"/>
            <a:ext cx="36576" cy="135331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6" name="Shape 34"/>
          <p:cNvSpPr/>
          <p:nvPr/>
        </p:nvSpPr>
        <p:spPr>
          <a:xfrm>
            <a:off x="3675888" y="2002536"/>
            <a:ext cx="128016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7" name="Shape 35"/>
          <p:cNvSpPr/>
          <p:nvPr/>
        </p:nvSpPr>
        <p:spPr>
          <a:xfrm>
            <a:off x="3675888" y="3319272"/>
            <a:ext cx="128016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8" name="Shape 36"/>
          <p:cNvSpPr/>
          <p:nvPr/>
        </p:nvSpPr>
        <p:spPr>
          <a:xfrm>
            <a:off x="6208776" y="2002536"/>
            <a:ext cx="36576" cy="135331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9" name="Shape 37"/>
          <p:cNvSpPr/>
          <p:nvPr/>
        </p:nvSpPr>
        <p:spPr>
          <a:xfrm>
            <a:off x="6117336" y="2002536"/>
            <a:ext cx="128016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0" name="Shape 38"/>
          <p:cNvSpPr/>
          <p:nvPr/>
        </p:nvSpPr>
        <p:spPr>
          <a:xfrm>
            <a:off x="6117336" y="3319272"/>
            <a:ext cx="128016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1" name="Shape 39"/>
          <p:cNvSpPr/>
          <p:nvPr/>
        </p:nvSpPr>
        <p:spPr>
          <a:xfrm>
            <a:off x="3794760" y="208483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2" name="Text 40"/>
          <p:cNvSpPr/>
          <p:nvPr/>
        </p:nvSpPr>
        <p:spPr>
          <a:xfrm>
            <a:off x="379476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89120" y="208483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1.695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983480" y="208483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0.255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77840" y="208483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8" name="Text 46"/>
          <p:cNvSpPr/>
          <p:nvPr/>
        </p:nvSpPr>
        <p:spPr>
          <a:xfrm>
            <a:off x="557784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1.215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794760" y="249631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0" name="Text 48"/>
          <p:cNvSpPr/>
          <p:nvPr/>
        </p:nvSpPr>
        <p:spPr>
          <a:xfrm>
            <a:off x="379476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1.523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389120" y="249631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2" name="Text 50"/>
          <p:cNvSpPr/>
          <p:nvPr/>
        </p:nvSpPr>
        <p:spPr>
          <a:xfrm>
            <a:off x="438912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0.722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983480" y="249631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0.778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577840" y="249631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6" name="Text 54"/>
          <p:cNvSpPr/>
          <p:nvPr/>
        </p:nvSpPr>
        <p:spPr>
          <a:xfrm>
            <a:off x="557784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1.170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794760" y="290779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8" name="Text 56"/>
          <p:cNvSpPr/>
          <p:nvPr/>
        </p:nvSpPr>
        <p:spPr>
          <a:xfrm>
            <a:off x="379476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1.153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389120" y="290779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0" name="Text 58"/>
          <p:cNvSpPr/>
          <p:nvPr/>
        </p:nvSpPr>
        <p:spPr>
          <a:xfrm>
            <a:off x="438912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0.173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83480" y="290779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2" name="Text 60"/>
          <p:cNvSpPr/>
          <p:nvPr/>
        </p:nvSpPr>
        <p:spPr>
          <a:xfrm>
            <a:off x="498348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0.922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577840" y="2907792"/>
            <a:ext cx="548640" cy="36576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4" name="Text 62"/>
          <p:cNvSpPr/>
          <p:nvPr/>
        </p:nvSpPr>
        <p:spPr>
          <a:xfrm>
            <a:off x="557784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1.465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3246120" y="1581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3246120" y="3401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d_k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3093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6784848" y="2002536"/>
            <a:ext cx="36576" cy="135331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9" name="Shape 67"/>
          <p:cNvSpPr/>
          <p:nvPr/>
        </p:nvSpPr>
        <p:spPr>
          <a:xfrm>
            <a:off x="6784848" y="2002536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0" name="Shape 68"/>
          <p:cNvSpPr/>
          <p:nvPr/>
        </p:nvSpPr>
        <p:spPr>
          <a:xfrm>
            <a:off x="6784848" y="3319272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1" name="Shape 69"/>
          <p:cNvSpPr/>
          <p:nvPr/>
        </p:nvSpPr>
        <p:spPr>
          <a:xfrm>
            <a:off x="9317736" y="2002536"/>
            <a:ext cx="36576" cy="135331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2" name="Shape 70"/>
          <p:cNvSpPr/>
          <p:nvPr/>
        </p:nvSpPr>
        <p:spPr>
          <a:xfrm>
            <a:off x="9226296" y="2002536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3" name="Shape 71"/>
          <p:cNvSpPr/>
          <p:nvPr/>
        </p:nvSpPr>
        <p:spPr>
          <a:xfrm>
            <a:off x="9226296" y="3319272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4" name="Shape 72"/>
          <p:cNvSpPr/>
          <p:nvPr/>
        </p:nvSpPr>
        <p:spPr>
          <a:xfrm>
            <a:off x="6903720" y="208483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5" name="Text 73"/>
          <p:cNvSpPr/>
          <p:nvPr/>
        </p:nvSpPr>
        <p:spPr>
          <a:xfrm>
            <a:off x="690372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0.335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498080" y="208483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7" name="Text 75"/>
          <p:cNvSpPr/>
          <p:nvPr/>
        </p:nvSpPr>
        <p:spPr>
          <a:xfrm>
            <a:off x="749808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1.695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092440" y="208483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79" name="Text 77"/>
          <p:cNvSpPr/>
          <p:nvPr/>
        </p:nvSpPr>
        <p:spPr>
          <a:xfrm>
            <a:off x="809244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0.255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686800" y="208483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81" name="Text 79"/>
          <p:cNvSpPr/>
          <p:nvPr/>
        </p:nvSpPr>
        <p:spPr>
          <a:xfrm>
            <a:off x="868680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1.215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903720" y="249631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83" name="Text 81"/>
          <p:cNvSpPr/>
          <p:nvPr/>
        </p:nvSpPr>
        <p:spPr>
          <a:xfrm>
            <a:off x="690372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0.971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498080" y="249631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85" name="Text 83"/>
          <p:cNvSpPr/>
          <p:nvPr/>
        </p:nvSpPr>
        <p:spPr>
          <a:xfrm>
            <a:off x="749808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1.174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8092440" y="249631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87" name="Text 85"/>
          <p:cNvSpPr/>
          <p:nvPr/>
        </p:nvSpPr>
        <p:spPr>
          <a:xfrm>
            <a:off x="809244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0.535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8686800" y="2496312"/>
            <a:ext cx="548640" cy="36576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89" name="Text 87"/>
          <p:cNvSpPr/>
          <p:nvPr/>
        </p:nvSpPr>
        <p:spPr>
          <a:xfrm>
            <a:off x="868680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1.191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903720" y="2907792"/>
            <a:ext cx="548640" cy="365760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91" name="Text 89"/>
          <p:cNvSpPr/>
          <p:nvPr/>
        </p:nvSpPr>
        <p:spPr>
          <a:xfrm>
            <a:off x="690372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1.019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7498080" y="2907792"/>
            <a:ext cx="548640" cy="365760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93" name="Text 91"/>
          <p:cNvSpPr/>
          <p:nvPr/>
        </p:nvSpPr>
        <p:spPr>
          <a:xfrm>
            <a:off x="749808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0.867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8092440" y="2907792"/>
            <a:ext cx="548640" cy="365760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95" name="Text 93"/>
          <p:cNvSpPr/>
          <p:nvPr/>
        </p:nvSpPr>
        <p:spPr>
          <a:xfrm>
            <a:off x="809244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0.652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8686800" y="2907792"/>
            <a:ext cx="548640" cy="365760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97" name="Text 95"/>
          <p:cNvSpPr/>
          <p:nvPr/>
        </p:nvSpPr>
        <p:spPr>
          <a:xfrm>
            <a:off x="8686800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1.277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6355080" y="1581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6355080" y="3401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d_k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9601200" y="19659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765792" y="2148840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 of Z is a blend: 33% "the", 36% "cat", 31% "sat".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22960" y="35478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output row is a weighted average of the value vectors — attention is literally a soft lookup.</a:t>
            </a:r>
            <a:endParaRPr lang="en-US" sz="1150" dirty="0"/>
          </a:p>
        </p:txBody>
      </p:sp>
      <p:sp>
        <p:nvSpPr>
          <p:cNvPr id="103" name="Shape 101"/>
          <p:cNvSpPr/>
          <p:nvPr/>
        </p:nvSpPr>
        <p:spPr>
          <a:xfrm>
            <a:off x="548640" y="4224528"/>
            <a:ext cx="5422392" cy="1965960"/>
          </a:xfrm>
          <a:prstGeom prst="roundRect">
            <a:avLst>
              <a:gd name="adj" fmla="val 4186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04672" y="44074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merge the heads</a:t>
            </a:r>
            <a:endParaRPr lang="en-US" sz="1400" dirty="0"/>
          </a:p>
        </p:txBody>
      </p:sp>
      <p:sp>
        <p:nvSpPr>
          <p:cNvPr id="105" name="Text 103"/>
          <p:cNvSpPr/>
          <p:nvPr/>
        </p:nvSpPr>
        <p:spPr>
          <a:xfrm>
            <a:off x="804672" y="4754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Concat(head_1 … head_h) · W</a:t>
            </a:r>
            <a:r>
              <a:rPr lang="en-US" sz="13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804672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Concatenating h heads of width d_k gives width h · d_k = d again. W_O (d × d) lets the heads talk to each other before the result leaves the sub-layer.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6217920" y="4224528"/>
            <a:ext cx="5422392" cy="1965960"/>
          </a:xfrm>
          <a:prstGeom prst="roundRect">
            <a:avLst>
              <a:gd name="adj" fmla="val 4186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473952" y="44074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check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6473952" y="4754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n × n ) · ( n × d_k )  =  ( n × d_k )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× ( n × d_k )  →  ( n × d )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n × d ) · ( d × d )  =  ( n × d 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– 7, IN PARALLEL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Multi-head attention — h independent conversations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817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14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softmax( X W</a:t>
            </a:r>
            <a:r>
              <a:rPr lang="en-US" sz="14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1400" b="1" baseline="3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X W</a:t>
            </a:r>
            <a:r>
              <a:rPr lang="en-US" sz="14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400" b="1" baseline="3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ᵀ / √d_k ) · X W</a:t>
            </a:r>
            <a:r>
              <a:rPr lang="en-US" sz="14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400" b="1" baseline="3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MHA(X) = Concat( head_1 … head_h ) · W</a:t>
            </a:r>
            <a:r>
              <a:rPr lang="en-US" sz="14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91672" cy="2148840"/>
          </a:xfrm>
          <a:prstGeom prst="roundRect">
            <a:avLst>
              <a:gd name="adj" fmla="val 3830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412" y="283464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222A5C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0412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0412" y="3246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64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93292" y="3529584"/>
            <a:ext cx="1115568" cy="10972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7772" y="283464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222A5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7772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7772" y="3246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64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30652" y="3529584"/>
            <a:ext cx="111556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5132" y="283464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222A5C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5132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5132" y="3246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64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8012" y="3529584"/>
            <a:ext cx="1115568" cy="109728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222492" y="283464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222A5C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2492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22492" y="3246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64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5372" y="3529584"/>
            <a:ext cx="1115568" cy="10972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Shape 22"/>
          <p:cNvSpPr/>
          <p:nvPr/>
        </p:nvSpPr>
        <p:spPr>
          <a:xfrm>
            <a:off x="7959852" y="283464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222A5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9852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9852" y="3246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64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42732" y="3529584"/>
            <a:ext cx="1115568" cy="109728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8" name="Shape 26"/>
          <p:cNvSpPr/>
          <p:nvPr/>
        </p:nvSpPr>
        <p:spPr>
          <a:xfrm>
            <a:off x="9697212" y="283464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222A5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7212" y="29443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97212" y="3246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64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880092" y="3529584"/>
            <a:ext cx="1115568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977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concatenate  →  n × d          then  · W_O  →  n × 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35254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Small: h = 12 heads × d_k = 64 = 768 = 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3465576" cy="1298448"/>
          </a:xfrm>
          <a:prstGeom prst="roundRect">
            <a:avLst>
              <a:gd name="adj" fmla="val 633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50566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more than one?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68096" y="53309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head must average all relationships into one pattern. Twelve heads can specialise: one tracks the subject, one tracks the previous token, one tracks matching brackets.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70248" y="4892040"/>
            <a:ext cx="3465576" cy="1298448"/>
          </a:xfrm>
          <a:prstGeom prst="roundRect">
            <a:avLst>
              <a:gd name="adj" fmla="val 633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9704" y="50566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more expensive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489704" y="53309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d_k = d / h, splitting into h heads costs the same FLOPs as one head of width d. Multi-head is free specialisation.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91856" y="4892040"/>
            <a:ext cx="3465576" cy="1298448"/>
          </a:xfrm>
          <a:prstGeom prst="roundRect">
            <a:avLst>
              <a:gd name="adj" fmla="val 633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1312" y="50566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per block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211312" y="53309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W_Q, W_K, W_V, W_O across all heads = 4 d ² = 2,359,296 in GPT-2 Small. Times 12 blocks = 28.3 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connection and LayerNorm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64240" y="5669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0" y="56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727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— the gradient highway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1938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←  x  +  Sublayer(x)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" y="239572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sub-layer only has to learn a small correction to x.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flow straight through the + back to layer 1.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96-layer models simply do not converge.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371600"/>
            <a:ext cx="5285232" cy="2331720"/>
          </a:xfrm>
          <a:prstGeom prst="roundRect">
            <a:avLst>
              <a:gd name="adj" fmla="val 3529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572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— keep the scale sane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1112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LN(x) = γ ⊙ ( x − μ ) / √( σ² + ε )  +  β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11112" y="239572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and σ are computed across the d features of one token.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and β are learned vectors of length d — d + d parameters.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use RMSNorm: drop μ and β, keep only the scale.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7315200" cy="2304288"/>
          </a:xfrm>
          <a:prstGeom prst="roundRect">
            <a:avLst>
              <a:gd name="adj" fmla="val 3571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graphicFrame>
        <p:nvGraphicFramePr>
          <p:cNvPr id="16" name="Chart 0"/>
          <p:cNvGraphicFramePr/>
          <p:nvPr/>
        </p:nvGraphicFramePr>
        <p:xfrm>
          <a:off x="685800" y="4023360"/>
          <a:ext cx="7040880" cy="2029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8092440" y="3886200"/>
            <a:ext cx="3547872" cy="2304288"/>
          </a:xfrm>
          <a:prstGeom prst="roundRect">
            <a:avLst>
              <a:gd name="adj" fmla="val 3571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4069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321040" y="440740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decides what to keep; LayerNorm decides what scale to keep it at. Together they make deep stacks trainable.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321040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d per LayerNorm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LayerNorms per block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feed-forward network — where most parameters live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64240" y="5669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0" y="56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FFN(x)  =  GELU( x · W</a:t>
            </a:r>
            <a:r>
              <a:rPr lang="en-US" sz="16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6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b</a:t>
            </a:r>
            <a:r>
              <a:rPr lang="en-US" sz="16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6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· W</a:t>
            </a:r>
            <a:r>
              <a:rPr lang="en-US" sz="16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6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b</a:t>
            </a:r>
            <a:r>
              <a:rPr lang="en-US" sz="16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6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 d × d_ff ) then ( d_ff × d 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943600" cy="3767328"/>
          </a:xfrm>
          <a:prstGeom prst="roundRect">
            <a:avLst>
              <a:gd name="adj" fmla="val 2184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6700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Expand, activate, compress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51560" y="4037076"/>
            <a:ext cx="1143000" cy="886968"/>
          </a:xfrm>
          <a:prstGeom prst="roundRect">
            <a:avLst>
              <a:gd name="adj" fmla="val 9278"/>
            </a:avLst>
          </a:prstGeom>
          <a:solidFill>
            <a:srgbClr val="222A5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037076"/>
            <a:ext cx="11430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768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4480560"/>
            <a:ext cx="548640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4640" y="3576218"/>
            <a:ext cx="1143000" cy="1808683"/>
          </a:xfrm>
          <a:prstGeom prst="roundRect">
            <a:avLst>
              <a:gd name="adj" fmla="val 7200"/>
            </a:avLst>
          </a:prstGeom>
          <a:solidFill>
            <a:srgbClr val="222A5C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3576218"/>
            <a:ext cx="1143000" cy="180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1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</a:t>
            </a:r>
            <a:r>
              <a:rPr lang="en-US" sz="11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3072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4480560"/>
            <a:ext cx="548640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17720" y="4037076"/>
            <a:ext cx="1143000" cy="886968"/>
          </a:xfrm>
          <a:prstGeom prst="roundRect">
            <a:avLst>
              <a:gd name="adj" fmla="val 9278"/>
            </a:avLst>
          </a:prstGeom>
          <a:solidFill>
            <a:srgbClr val="222A5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037076"/>
            <a:ext cx="11430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768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7764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" y="5257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each token's row independently — the FFN never looks sideways at other tokens. Only attention does that.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57790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 is a smooth ReLU: it lets a small negative signal through instead of hard-zeroing 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2468880"/>
            <a:ext cx="4919472" cy="3767328"/>
          </a:xfrm>
          <a:prstGeom prst="roundRect">
            <a:avLst>
              <a:gd name="adj" fmla="val 2184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267004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967728" y="3108960"/>
            <a:ext cx="310896" cy="3108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6" name="Text 24"/>
          <p:cNvSpPr/>
          <p:nvPr/>
        </p:nvSpPr>
        <p:spPr>
          <a:xfrm>
            <a:off x="6967728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24928" y="31272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two thirds of the block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24928" y="340156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 · d_ff = 2 · 768 · 3072 = 4,718,592 parameters per block — versus 2,359,296 for all of attention.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67728" y="4142232"/>
            <a:ext cx="310896" cy="3108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0" name="Text 28"/>
          <p:cNvSpPr/>
          <p:nvPr/>
        </p:nvSpPr>
        <p:spPr>
          <a:xfrm>
            <a:off x="6967728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24928" y="4160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where facts seem to live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24928" y="44348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treats W₁ as keys and W₂ as values: a key fires on a pattern, the value writes a fact back into the stream.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67728" y="5175504"/>
            <a:ext cx="310896" cy="3108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4" name="Text 32"/>
          <p:cNvSpPr/>
          <p:nvPr/>
        </p:nvSpPr>
        <p:spPr>
          <a:xfrm>
            <a:off x="6967728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24928" y="51937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variants add a gate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424928" y="54681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Llama-style SwiGLU uses three matrices and a narrower d_ff to get better quality at the same cost.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language-model head:  logits = X · W_U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64240" y="56692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0" y="56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949440" cy="3017520"/>
          </a:xfrm>
          <a:prstGeom prst="roundRect">
            <a:avLst>
              <a:gd name="adj" fmla="val 2727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72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last block: normalise once more, then project to vocabulary size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78992" y="2395728"/>
            <a:ext cx="36576" cy="15179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" y="2395728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1078992" y="3877056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Shape 10"/>
          <p:cNvSpPr/>
          <p:nvPr/>
        </p:nvSpPr>
        <p:spPr>
          <a:xfrm>
            <a:off x="2496312" y="2395728"/>
            <a:ext cx="36576" cy="15179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14016" y="2395728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Shape 12"/>
          <p:cNvSpPr/>
          <p:nvPr/>
        </p:nvSpPr>
        <p:spPr>
          <a:xfrm>
            <a:off x="2414016" y="3877056"/>
            <a:ext cx="118872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246888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1508760" y="246888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246888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2148840" y="2468880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275234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508760" y="275234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0" y="275234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148840" y="2752344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8720" y="303580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508760" y="303580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0" y="303580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2148840" y="3035808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8720" y="331927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508760" y="331927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331927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148840" y="3319272"/>
            <a:ext cx="274320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" y="3602736"/>
            <a:ext cx="274320" cy="23774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2" name="Shape 30"/>
          <p:cNvSpPr/>
          <p:nvPr/>
        </p:nvSpPr>
        <p:spPr>
          <a:xfrm>
            <a:off x="1508760" y="3602736"/>
            <a:ext cx="274320" cy="23774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3602736"/>
            <a:ext cx="274320" cy="23774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4" name="Shape 32"/>
          <p:cNvSpPr/>
          <p:nvPr/>
        </p:nvSpPr>
        <p:spPr>
          <a:xfrm>
            <a:off x="2148840" y="3602736"/>
            <a:ext cx="274320" cy="23774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1993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9867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060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3044952" y="2395728"/>
            <a:ext cx="36576" cy="123444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9" name="Shape 37"/>
          <p:cNvSpPr/>
          <p:nvPr/>
        </p:nvSpPr>
        <p:spPr>
          <a:xfrm>
            <a:off x="3044952" y="2395728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0" name="Shape 38"/>
          <p:cNvSpPr/>
          <p:nvPr/>
        </p:nvSpPr>
        <p:spPr>
          <a:xfrm>
            <a:off x="3044952" y="3593592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1" name="Shape 39"/>
          <p:cNvSpPr/>
          <p:nvPr/>
        </p:nvSpPr>
        <p:spPr>
          <a:xfrm>
            <a:off x="5038344" y="2395728"/>
            <a:ext cx="36576" cy="123444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2" name="Shape 40"/>
          <p:cNvSpPr/>
          <p:nvPr/>
        </p:nvSpPr>
        <p:spPr>
          <a:xfrm>
            <a:off x="4956048" y="2395728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3" name="Shape 41"/>
          <p:cNvSpPr/>
          <p:nvPr/>
        </p:nvSpPr>
        <p:spPr>
          <a:xfrm>
            <a:off x="4956048" y="3593592"/>
            <a:ext cx="118872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4" name="Shape 42"/>
          <p:cNvSpPr/>
          <p:nvPr/>
        </p:nvSpPr>
        <p:spPr>
          <a:xfrm>
            <a:off x="3154680" y="2468880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45" name="Shape 43"/>
          <p:cNvSpPr/>
          <p:nvPr/>
        </p:nvSpPr>
        <p:spPr>
          <a:xfrm>
            <a:off x="3419856" y="2468880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46" name="Shape 44"/>
          <p:cNvSpPr/>
          <p:nvPr/>
        </p:nvSpPr>
        <p:spPr>
          <a:xfrm>
            <a:off x="3685032" y="2468880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47" name="Shape 45"/>
          <p:cNvSpPr/>
          <p:nvPr/>
        </p:nvSpPr>
        <p:spPr>
          <a:xfrm>
            <a:off x="3950208" y="2468880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48" name="Shape 46"/>
          <p:cNvSpPr/>
          <p:nvPr/>
        </p:nvSpPr>
        <p:spPr>
          <a:xfrm>
            <a:off x="4215384" y="2468880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2468880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0" name="Shape 48"/>
          <p:cNvSpPr/>
          <p:nvPr/>
        </p:nvSpPr>
        <p:spPr>
          <a:xfrm>
            <a:off x="4745736" y="2468880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1" name="Shape 49"/>
          <p:cNvSpPr/>
          <p:nvPr/>
        </p:nvSpPr>
        <p:spPr>
          <a:xfrm>
            <a:off x="3154680" y="2752344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2" name="Shape 50"/>
          <p:cNvSpPr/>
          <p:nvPr/>
        </p:nvSpPr>
        <p:spPr>
          <a:xfrm>
            <a:off x="3419856" y="2752344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3" name="Shape 51"/>
          <p:cNvSpPr/>
          <p:nvPr/>
        </p:nvSpPr>
        <p:spPr>
          <a:xfrm>
            <a:off x="3685032" y="2752344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4" name="Shape 52"/>
          <p:cNvSpPr/>
          <p:nvPr/>
        </p:nvSpPr>
        <p:spPr>
          <a:xfrm>
            <a:off x="3950208" y="2752344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5" name="Shape 53"/>
          <p:cNvSpPr/>
          <p:nvPr/>
        </p:nvSpPr>
        <p:spPr>
          <a:xfrm>
            <a:off x="4215384" y="2752344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6" name="Shape 54"/>
          <p:cNvSpPr/>
          <p:nvPr/>
        </p:nvSpPr>
        <p:spPr>
          <a:xfrm>
            <a:off x="4480560" y="2752344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7" name="Shape 55"/>
          <p:cNvSpPr/>
          <p:nvPr/>
        </p:nvSpPr>
        <p:spPr>
          <a:xfrm>
            <a:off x="4745736" y="2752344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8" name="Shape 56"/>
          <p:cNvSpPr/>
          <p:nvPr/>
        </p:nvSpPr>
        <p:spPr>
          <a:xfrm>
            <a:off x="3154680" y="3035808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59" name="Shape 57"/>
          <p:cNvSpPr/>
          <p:nvPr/>
        </p:nvSpPr>
        <p:spPr>
          <a:xfrm>
            <a:off x="3419856" y="3035808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60" name="Shape 58"/>
          <p:cNvSpPr/>
          <p:nvPr/>
        </p:nvSpPr>
        <p:spPr>
          <a:xfrm>
            <a:off x="3685032" y="3035808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61" name="Shape 59"/>
          <p:cNvSpPr/>
          <p:nvPr/>
        </p:nvSpPr>
        <p:spPr>
          <a:xfrm>
            <a:off x="3950208" y="3035808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62" name="Shape 60"/>
          <p:cNvSpPr/>
          <p:nvPr/>
        </p:nvSpPr>
        <p:spPr>
          <a:xfrm>
            <a:off x="4215384" y="3035808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63" name="Shape 61"/>
          <p:cNvSpPr/>
          <p:nvPr/>
        </p:nvSpPr>
        <p:spPr>
          <a:xfrm>
            <a:off x="4480560" y="3035808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64" name="Shape 62"/>
          <p:cNvSpPr/>
          <p:nvPr/>
        </p:nvSpPr>
        <p:spPr>
          <a:xfrm>
            <a:off x="4745736" y="3035808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65" name="Shape 63"/>
          <p:cNvSpPr/>
          <p:nvPr/>
        </p:nvSpPr>
        <p:spPr>
          <a:xfrm>
            <a:off x="3154680" y="3319272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66" name="Shape 64"/>
          <p:cNvSpPr/>
          <p:nvPr/>
        </p:nvSpPr>
        <p:spPr>
          <a:xfrm>
            <a:off x="3419856" y="3319272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67" name="Shape 65"/>
          <p:cNvSpPr/>
          <p:nvPr/>
        </p:nvSpPr>
        <p:spPr>
          <a:xfrm>
            <a:off x="3685032" y="3319272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68" name="Shape 66"/>
          <p:cNvSpPr/>
          <p:nvPr/>
        </p:nvSpPr>
        <p:spPr>
          <a:xfrm>
            <a:off x="3950208" y="3319272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69" name="Shape 67"/>
          <p:cNvSpPr/>
          <p:nvPr/>
        </p:nvSpPr>
        <p:spPr>
          <a:xfrm>
            <a:off x="4215384" y="3319272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70" name="Shape 68"/>
          <p:cNvSpPr/>
          <p:nvPr/>
        </p:nvSpPr>
        <p:spPr>
          <a:xfrm>
            <a:off x="4480560" y="3319272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71" name="Shape 69"/>
          <p:cNvSpPr/>
          <p:nvPr/>
        </p:nvSpPr>
        <p:spPr>
          <a:xfrm>
            <a:off x="4745736" y="3319272"/>
            <a:ext cx="219456" cy="237744"/>
          </a:xfrm>
          <a:prstGeom prst="rect">
            <a:avLst/>
          </a:prstGeom>
          <a:solidFill>
            <a:srgbClr val="2E3675"/>
          </a:solidFill>
          <a:ln/>
        </p:spPr>
      </p:sp>
      <p:sp>
        <p:nvSpPr>
          <p:cNvPr id="72" name="Text 70"/>
          <p:cNvSpPr/>
          <p:nvPr/>
        </p:nvSpPr>
        <p:spPr>
          <a:xfrm>
            <a:off x="2514600" y="19933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2514600" y="370332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× V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2120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000" dirty="0"/>
          </a:p>
        </p:txBody>
      </p:sp>
      <p:sp>
        <p:nvSpPr>
          <p:cNvPr id="75" name="Shape 73"/>
          <p:cNvSpPr/>
          <p:nvPr/>
        </p:nvSpPr>
        <p:spPr>
          <a:xfrm>
            <a:off x="5650992" y="2395728"/>
            <a:ext cx="36576" cy="151790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6" name="Shape 74"/>
          <p:cNvSpPr/>
          <p:nvPr/>
        </p:nvSpPr>
        <p:spPr>
          <a:xfrm>
            <a:off x="5650992" y="2395728"/>
            <a:ext cx="118872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7" name="Shape 75"/>
          <p:cNvSpPr/>
          <p:nvPr/>
        </p:nvSpPr>
        <p:spPr>
          <a:xfrm>
            <a:off x="5650992" y="3877056"/>
            <a:ext cx="118872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8" name="Shape 76"/>
          <p:cNvSpPr/>
          <p:nvPr/>
        </p:nvSpPr>
        <p:spPr>
          <a:xfrm>
            <a:off x="7644384" y="2395728"/>
            <a:ext cx="36576" cy="151790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9" name="Shape 77"/>
          <p:cNvSpPr/>
          <p:nvPr/>
        </p:nvSpPr>
        <p:spPr>
          <a:xfrm>
            <a:off x="7562088" y="2395728"/>
            <a:ext cx="118872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0" name="Shape 78"/>
          <p:cNvSpPr/>
          <p:nvPr/>
        </p:nvSpPr>
        <p:spPr>
          <a:xfrm>
            <a:off x="7562088" y="3877056"/>
            <a:ext cx="118872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1" name="Shape 79"/>
          <p:cNvSpPr/>
          <p:nvPr/>
        </p:nvSpPr>
        <p:spPr>
          <a:xfrm>
            <a:off x="5760720" y="2468880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2" name="Shape 80"/>
          <p:cNvSpPr/>
          <p:nvPr/>
        </p:nvSpPr>
        <p:spPr>
          <a:xfrm>
            <a:off x="6025896" y="2468880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3" name="Shape 81"/>
          <p:cNvSpPr/>
          <p:nvPr/>
        </p:nvSpPr>
        <p:spPr>
          <a:xfrm>
            <a:off x="6291072" y="2468880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4" name="Shape 82"/>
          <p:cNvSpPr/>
          <p:nvPr/>
        </p:nvSpPr>
        <p:spPr>
          <a:xfrm>
            <a:off x="6556248" y="2468880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5" name="Shape 83"/>
          <p:cNvSpPr/>
          <p:nvPr/>
        </p:nvSpPr>
        <p:spPr>
          <a:xfrm>
            <a:off x="6821424" y="2468880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6" name="Shape 84"/>
          <p:cNvSpPr/>
          <p:nvPr/>
        </p:nvSpPr>
        <p:spPr>
          <a:xfrm>
            <a:off x="7086600" y="2468880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7" name="Shape 85"/>
          <p:cNvSpPr/>
          <p:nvPr/>
        </p:nvSpPr>
        <p:spPr>
          <a:xfrm>
            <a:off x="7351776" y="2468880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8" name="Shape 86"/>
          <p:cNvSpPr/>
          <p:nvPr/>
        </p:nvSpPr>
        <p:spPr>
          <a:xfrm>
            <a:off x="5760720" y="2752344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89" name="Shape 87"/>
          <p:cNvSpPr/>
          <p:nvPr/>
        </p:nvSpPr>
        <p:spPr>
          <a:xfrm>
            <a:off x="6025896" y="2752344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90" name="Shape 88"/>
          <p:cNvSpPr/>
          <p:nvPr/>
        </p:nvSpPr>
        <p:spPr>
          <a:xfrm>
            <a:off x="6291072" y="2752344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91" name="Shape 89"/>
          <p:cNvSpPr/>
          <p:nvPr/>
        </p:nvSpPr>
        <p:spPr>
          <a:xfrm>
            <a:off x="6556248" y="2752344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92" name="Shape 90"/>
          <p:cNvSpPr/>
          <p:nvPr/>
        </p:nvSpPr>
        <p:spPr>
          <a:xfrm>
            <a:off x="6821424" y="2752344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93" name="Shape 91"/>
          <p:cNvSpPr/>
          <p:nvPr/>
        </p:nvSpPr>
        <p:spPr>
          <a:xfrm>
            <a:off x="7086600" y="2752344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94" name="Shape 92"/>
          <p:cNvSpPr/>
          <p:nvPr/>
        </p:nvSpPr>
        <p:spPr>
          <a:xfrm>
            <a:off x="7351776" y="2752344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95" name="Shape 93"/>
          <p:cNvSpPr/>
          <p:nvPr/>
        </p:nvSpPr>
        <p:spPr>
          <a:xfrm>
            <a:off x="5760720" y="3035808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96" name="Shape 94"/>
          <p:cNvSpPr/>
          <p:nvPr/>
        </p:nvSpPr>
        <p:spPr>
          <a:xfrm>
            <a:off x="6025896" y="3035808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97" name="Shape 95"/>
          <p:cNvSpPr/>
          <p:nvPr/>
        </p:nvSpPr>
        <p:spPr>
          <a:xfrm>
            <a:off x="6291072" y="3035808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98" name="Shape 96"/>
          <p:cNvSpPr/>
          <p:nvPr/>
        </p:nvSpPr>
        <p:spPr>
          <a:xfrm>
            <a:off x="6556248" y="3035808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99" name="Shape 97"/>
          <p:cNvSpPr/>
          <p:nvPr/>
        </p:nvSpPr>
        <p:spPr>
          <a:xfrm>
            <a:off x="6821424" y="3035808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00" name="Shape 98"/>
          <p:cNvSpPr/>
          <p:nvPr/>
        </p:nvSpPr>
        <p:spPr>
          <a:xfrm>
            <a:off x="7086600" y="3035808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01" name="Shape 99"/>
          <p:cNvSpPr/>
          <p:nvPr/>
        </p:nvSpPr>
        <p:spPr>
          <a:xfrm>
            <a:off x="7351776" y="3035808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760720" y="3319272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025896" y="3319272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291072" y="3319272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556248" y="3319272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821424" y="3319272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086600" y="3319272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351776" y="3319272"/>
            <a:ext cx="219456" cy="23774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760720" y="3602736"/>
            <a:ext cx="219456" cy="23774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025896" y="3602736"/>
            <a:ext cx="219456" cy="23774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291072" y="3602736"/>
            <a:ext cx="219456" cy="23774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556248" y="3602736"/>
            <a:ext cx="219456" cy="23774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821424" y="3602736"/>
            <a:ext cx="219456" cy="23774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14" name="Shape 112"/>
          <p:cNvSpPr/>
          <p:nvPr/>
        </p:nvSpPr>
        <p:spPr>
          <a:xfrm>
            <a:off x="7086600" y="3602736"/>
            <a:ext cx="219456" cy="23774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15" name="Shape 113"/>
          <p:cNvSpPr/>
          <p:nvPr/>
        </p:nvSpPr>
        <p:spPr>
          <a:xfrm>
            <a:off x="7351776" y="3602736"/>
            <a:ext cx="219456" cy="23774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16" name="Text 114"/>
          <p:cNvSpPr/>
          <p:nvPr/>
        </p:nvSpPr>
        <p:spPr>
          <a:xfrm>
            <a:off x="5120640" y="19933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</a:t>
            </a:r>
            <a:endParaRPr lang="en-US" sz="1300" dirty="0"/>
          </a:p>
        </p:txBody>
      </p:sp>
      <p:sp>
        <p:nvSpPr>
          <p:cNvPr id="117" name="Text 115"/>
          <p:cNvSpPr/>
          <p:nvPr/>
        </p:nvSpPr>
        <p:spPr>
          <a:xfrm>
            <a:off x="5120640" y="39867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V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804672" y="3977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 only the highlighted last row matters — it scores the token that comes next.</a:t>
            </a:r>
            <a:endParaRPr lang="en-US" sz="1150" dirty="0"/>
          </a:p>
        </p:txBody>
      </p:sp>
      <p:sp>
        <p:nvSpPr>
          <p:cNvPr id="119" name="Shape 117"/>
          <p:cNvSpPr/>
          <p:nvPr/>
        </p:nvSpPr>
        <p:spPr>
          <a:xfrm>
            <a:off x="7726680" y="1371600"/>
            <a:ext cx="3913632" cy="3017520"/>
          </a:xfrm>
          <a:prstGeom prst="roundRect">
            <a:avLst>
              <a:gd name="adj" fmla="val 2727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973568" y="1572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tying</a:t>
            </a:r>
            <a:endParaRPr lang="en-US" sz="1400" dirty="0"/>
          </a:p>
        </p:txBody>
      </p:sp>
      <p:sp>
        <p:nvSpPr>
          <p:cNvPr id="121" name="Text 119"/>
          <p:cNvSpPr/>
          <p:nvPr/>
        </p:nvSpPr>
        <p:spPr>
          <a:xfrm>
            <a:off x="7973568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8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E ᵀ</a:t>
            </a:r>
            <a:endParaRPr lang="en-US" sz="1800" dirty="0"/>
          </a:p>
        </p:txBody>
      </p:sp>
      <p:sp>
        <p:nvSpPr>
          <p:cNvPr id="122" name="Text 120"/>
          <p:cNvSpPr/>
          <p:nvPr/>
        </p:nvSpPr>
        <p:spPr>
          <a:xfrm>
            <a:off x="7973568" y="239572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models reuse the transposed embedding matrix as the output head. It saves V · d parameters and ties the two directions of the same vocabulary space together.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7973568" y="3703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saves 38.6 M parameters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GPT-2 Small</a:t>
            </a:r>
            <a:endParaRPr lang="en-US" sz="1150" dirty="0"/>
          </a:p>
        </p:txBody>
      </p:sp>
      <p:sp>
        <p:nvSpPr>
          <p:cNvPr id="124" name="Shape 122"/>
          <p:cNvSpPr/>
          <p:nvPr/>
        </p:nvSpPr>
        <p:spPr>
          <a:xfrm>
            <a:off x="548640" y="4572000"/>
            <a:ext cx="11091672" cy="1627632"/>
          </a:xfrm>
          <a:prstGeom prst="roundRect">
            <a:avLst>
              <a:gd name="adj" fmla="val 5056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22960" y="4754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logit is not a probability</a:t>
            </a:r>
            <a:endParaRPr lang="en-US" sz="1450" dirty="0"/>
          </a:p>
        </p:txBody>
      </p:sp>
      <p:sp>
        <p:nvSpPr>
          <p:cNvPr id="126" name="Text 124"/>
          <p:cNvSpPr/>
          <p:nvPr/>
        </p:nvSpPr>
        <p:spPr>
          <a:xfrm>
            <a:off x="822960" y="508406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are raw, unbounded scores — they can be −4.1 or +12.7. They only become meaningful after softmax turns the whole row into V numbers that are positive and sum to 1. The relative gaps between logits, not their absolute size, decide the outcome.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SCORES INTO WORDS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Softmax, temperature and sampling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6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6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e</a:t>
            </a:r>
            <a:r>
              <a:rPr lang="en-US" sz="1600" b="1" baseline="3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z_i / T )</a:t>
            </a:r>
            <a:r>
              <a:rPr lang="en-US" sz="16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Σ</a:t>
            </a:r>
            <a:r>
              <a:rPr lang="en-US" sz="16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r>
              <a:rPr lang="en-US" sz="16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</a:t>
            </a:r>
            <a:r>
              <a:rPr lang="en-US" sz="1600" b="1" baseline="3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z_j / T )</a:t>
            </a:r>
            <a:r>
              <a:rPr lang="en-US" sz="16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z = logits,  T = temperature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6903720" cy="3840480"/>
          </a:xfrm>
          <a:prstGeom prst="roundRect">
            <a:avLst>
              <a:gd name="adj" fmla="val 2143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713232" y="2560320"/>
          <a:ext cx="65836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680960" y="2395728"/>
            <a:ext cx="3959352" cy="3840480"/>
          </a:xfrm>
          <a:prstGeom prst="roundRect">
            <a:avLst>
              <a:gd name="adj" fmla="val 2143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36992" y="25968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token is chosen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36992" y="3081528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take the highest probability — repetitive but reproducible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36992" y="3867912"/>
            <a:ext cx="182880" cy="18288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0" y="3822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0" y="40782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&lt; 1 sharpens, T &gt; 1 flattens; T → 0 becomes greedy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36992" y="4654296"/>
            <a:ext cx="182880" cy="18288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46085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29600" y="4864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k best tokens, renormalise, then sample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44104" y="5321808"/>
            <a:ext cx="182880" cy="18288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0" y="5276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(nucleus)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29600" y="5540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smallest set whose probabilities sum to 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944104" y="58338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learned — sampling is a decision you make at run time, after the model has finished computing.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1 OF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cat sat"  through embedding and attention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settings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6      d = 4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      h = 1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d_k =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&lt;pad&gt; the cat sat on mat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ids  =  [ 1, 2, 3 ]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77640" y="1371600"/>
            <a:ext cx="7662672" cy="2286000"/>
          </a:xfrm>
          <a:prstGeom prst="roundRect">
            <a:avLst>
              <a:gd name="adj" fmla="val 3600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67528" y="2002536"/>
            <a:ext cx="36576" cy="124358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5367528" y="2002536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Shape 12"/>
          <p:cNvSpPr/>
          <p:nvPr/>
        </p:nvSpPr>
        <p:spPr>
          <a:xfrm>
            <a:off x="5367528" y="3209544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2002536"/>
            <a:ext cx="36576" cy="124358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2002536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Shape 15"/>
          <p:cNvSpPr/>
          <p:nvPr/>
        </p:nvSpPr>
        <p:spPr>
          <a:xfrm>
            <a:off x="7735824" y="3209544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2084832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20848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62472" y="2084832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062472" y="20848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38544" y="2084832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3" name="Text 21"/>
          <p:cNvSpPr/>
          <p:nvPr/>
        </p:nvSpPr>
        <p:spPr>
          <a:xfrm>
            <a:off x="6638544" y="20848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14616" y="2084832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5" name="Text 23"/>
          <p:cNvSpPr/>
          <p:nvPr/>
        </p:nvSpPr>
        <p:spPr>
          <a:xfrm>
            <a:off x="7214616" y="20848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0" y="2459736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24597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62472" y="2459736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29" name="Text 27"/>
          <p:cNvSpPr/>
          <p:nvPr/>
        </p:nvSpPr>
        <p:spPr>
          <a:xfrm>
            <a:off x="6062472" y="24597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38544" y="2459736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1" name="Text 29"/>
          <p:cNvSpPr/>
          <p:nvPr/>
        </p:nvSpPr>
        <p:spPr>
          <a:xfrm>
            <a:off x="6638544" y="24597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14616" y="2459736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3" name="Text 31"/>
          <p:cNvSpPr/>
          <p:nvPr/>
        </p:nvSpPr>
        <p:spPr>
          <a:xfrm>
            <a:off x="7214616" y="24597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0" y="2834640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0" y="283464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62472" y="2834640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7" name="Text 35"/>
          <p:cNvSpPr/>
          <p:nvPr/>
        </p:nvSpPr>
        <p:spPr>
          <a:xfrm>
            <a:off x="6062472" y="283464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38544" y="2834640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39" name="Text 37"/>
          <p:cNvSpPr/>
          <p:nvPr/>
        </p:nvSpPr>
        <p:spPr>
          <a:xfrm>
            <a:off x="6638544" y="283464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214616" y="2834640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1" name="Text 39"/>
          <p:cNvSpPr/>
          <p:nvPr/>
        </p:nvSpPr>
        <p:spPr>
          <a:xfrm>
            <a:off x="7214616" y="283464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37760" y="158191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3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</a:t>
            </a: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E[ids]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069080" y="20848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069080" y="245973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069080" y="28346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918704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339328" y="2002536"/>
            <a:ext cx="36576" cy="124358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8" name="Shape 46"/>
          <p:cNvSpPr/>
          <p:nvPr/>
        </p:nvSpPr>
        <p:spPr>
          <a:xfrm>
            <a:off x="8339328" y="2002536"/>
            <a:ext cx="128016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9" name="Shape 47"/>
          <p:cNvSpPr/>
          <p:nvPr/>
        </p:nvSpPr>
        <p:spPr>
          <a:xfrm>
            <a:off x="8339328" y="3209544"/>
            <a:ext cx="128016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0" name="Shape 48"/>
          <p:cNvSpPr/>
          <p:nvPr/>
        </p:nvSpPr>
        <p:spPr>
          <a:xfrm>
            <a:off x="10799064" y="2002536"/>
            <a:ext cx="36576" cy="124358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1" name="Shape 49"/>
          <p:cNvSpPr/>
          <p:nvPr/>
        </p:nvSpPr>
        <p:spPr>
          <a:xfrm>
            <a:off x="10707624" y="2002536"/>
            <a:ext cx="128016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07624" y="3209544"/>
            <a:ext cx="128016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3" name="Shape 51"/>
          <p:cNvSpPr/>
          <p:nvPr/>
        </p:nvSpPr>
        <p:spPr>
          <a:xfrm>
            <a:off x="8458200" y="2084832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20848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034272" y="2084832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6" name="Text 54"/>
          <p:cNvSpPr/>
          <p:nvPr/>
        </p:nvSpPr>
        <p:spPr>
          <a:xfrm>
            <a:off x="9034272" y="20848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610344" y="2084832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8" name="Text 56"/>
          <p:cNvSpPr/>
          <p:nvPr/>
        </p:nvSpPr>
        <p:spPr>
          <a:xfrm>
            <a:off x="9610344" y="20848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0186416" y="2084832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0" name="Text 58"/>
          <p:cNvSpPr/>
          <p:nvPr/>
        </p:nvSpPr>
        <p:spPr>
          <a:xfrm>
            <a:off x="10186416" y="20848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458200" y="2459736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2" name="Text 60"/>
          <p:cNvSpPr/>
          <p:nvPr/>
        </p:nvSpPr>
        <p:spPr>
          <a:xfrm>
            <a:off x="8458200" y="24597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034272" y="2459736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4" name="Text 62"/>
          <p:cNvSpPr/>
          <p:nvPr/>
        </p:nvSpPr>
        <p:spPr>
          <a:xfrm>
            <a:off x="9034272" y="24597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610344" y="2459736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6" name="Text 64"/>
          <p:cNvSpPr/>
          <p:nvPr/>
        </p:nvSpPr>
        <p:spPr>
          <a:xfrm>
            <a:off x="9610344" y="24597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0186416" y="2459736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68" name="Text 66"/>
          <p:cNvSpPr/>
          <p:nvPr/>
        </p:nvSpPr>
        <p:spPr>
          <a:xfrm>
            <a:off x="10186416" y="24597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458200" y="2834640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0" name="Text 68"/>
          <p:cNvSpPr/>
          <p:nvPr/>
        </p:nvSpPr>
        <p:spPr>
          <a:xfrm>
            <a:off x="8458200" y="283464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034272" y="2834640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2" name="Text 70"/>
          <p:cNvSpPr/>
          <p:nvPr/>
        </p:nvSpPr>
        <p:spPr>
          <a:xfrm>
            <a:off x="9034272" y="283464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-0.42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9610344" y="2834640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4" name="Text 72"/>
          <p:cNvSpPr/>
          <p:nvPr/>
        </p:nvSpPr>
        <p:spPr>
          <a:xfrm>
            <a:off x="9610344" y="283464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0186416" y="2834640"/>
            <a:ext cx="530352" cy="329184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76" name="Text 74"/>
          <p:cNvSpPr/>
          <p:nvPr/>
        </p:nvSpPr>
        <p:spPr>
          <a:xfrm>
            <a:off x="10186416" y="283464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7909560" y="158191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10881360" y="2212848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X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 × 4)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548640" y="3858768"/>
            <a:ext cx="5577840" cy="2377440"/>
          </a:xfrm>
          <a:prstGeom prst="roundRect">
            <a:avLst>
              <a:gd name="adj" fmla="val 346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04672" y="40416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A = softmax( mask( Q·Kᵀ / √4 ) )</a:t>
            </a: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2029968" y="4535424"/>
            <a:ext cx="36576" cy="124358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2" name="Shape 80"/>
          <p:cNvSpPr/>
          <p:nvPr/>
        </p:nvSpPr>
        <p:spPr>
          <a:xfrm>
            <a:off x="2029968" y="4535424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3" name="Shape 81"/>
          <p:cNvSpPr/>
          <p:nvPr/>
        </p:nvSpPr>
        <p:spPr>
          <a:xfrm>
            <a:off x="2029968" y="5742432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4" name="Shape 82"/>
          <p:cNvSpPr/>
          <p:nvPr/>
        </p:nvSpPr>
        <p:spPr>
          <a:xfrm>
            <a:off x="4187952" y="4535424"/>
            <a:ext cx="36576" cy="124358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5" name="Shape 83"/>
          <p:cNvSpPr/>
          <p:nvPr/>
        </p:nvSpPr>
        <p:spPr>
          <a:xfrm>
            <a:off x="4096512" y="4535424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6" name="Shape 84"/>
          <p:cNvSpPr/>
          <p:nvPr/>
        </p:nvSpPr>
        <p:spPr>
          <a:xfrm>
            <a:off x="4096512" y="5742432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7" name="Shape 85"/>
          <p:cNvSpPr/>
          <p:nvPr/>
        </p:nvSpPr>
        <p:spPr>
          <a:xfrm>
            <a:off x="2148840" y="4617720"/>
            <a:ext cx="621792" cy="32918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88" name="Text 86"/>
          <p:cNvSpPr/>
          <p:nvPr/>
        </p:nvSpPr>
        <p:spPr>
          <a:xfrm>
            <a:off x="2148840" y="461772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816352" y="4617720"/>
            <a:ext cx="621792" cy="32918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90" name="Text 88"/>
          <p:cNvSpPr/>
          <p:nvPr/>
        </p:nvSpPr>
        <p:spPr>
          <a:xfrm>
            <a:off x="2816352" y="461772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483864" y="4617720"/>
            <a:ext cx="621792" cy="32918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92" name="Text 90"/>
          <p:cNvSpPr/>
          <p:nvPr/>
        </p:nvSpPr>
        <p:spPr>
          <a:xfrm>
            <a:off x="3483864" y="461772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148840" y="4992624"/>
            <a:ext cx="621792" cy="32918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94" name="Text 92"/>
          <p:cNvSpPr/>
          <p:nvPr/>
        </p:nvSpPr>
        <p:spPr>
          <a:xfrm>
            <a:off x="2148840" y="499262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0.464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2816352" y="4992624"/>
            <a:ext cx="621792" cy="32918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96" name="Text 94"/>
          <p:cNvSpPr/>
          <p:nvPr/>
        </p:nvSpPr>
        <p:spPr>
          <a:xfrm>
            <a:off x="2816352" y="499262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0.536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483864" y="4992624"/>
            <a:ext cx="621792" cy="32918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98" name="Text 96"/>
          <p:cNvSpPr/>
          <p:nvPr/>
        </p:nvSpPr>
        <p:spPr>
          <a:xfrm>
            <a:off x="3483864" y="499262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2148840" y="5367528"/>
            <a:ext cx="621792" cy="32918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00" name="Text 98"/>
          <p:cNvSpPr/>
          <p:nvPr/>
        </p:nvSpPr>
        <p:spPr>
          <a:xfrm>
            <a:off x="2148840" y="5367528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0.326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2816352" y="5367528"/>
            <a:ext cx="621792" cy="32918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02" name="Text 100"/>
          <p:cNvSpPr/>
          <p:nvPr/>
        </p:nvSpPr>
        <p:spPr>
          <a:xfrm>
            <a:off x="2816352" y="5367528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0.360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3483864" y="5367528"/>
            <a:ext cx="621792" cy="329184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04" name="Text 102"/>
          <p:cNvSpPr/>
          <p:nvPr/>
        </p:nvSpPr>
        <p:spPr>
          <a:xfrm>
            <a:off x="3483864" y="5367528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0.314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731520" y="46177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731520" y="49926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731520" y="53675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2148840" y="43251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2816352" y="43251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3483864" y="43251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804672" y="5852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"the" can only see itself; "sat" spreads its attention over all three.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6336792" y="3858768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58368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matrix like a table</a:t>
            </a:r>
            <a:endParaRPr lang="en-US" sz="1350" dirty="0"/>
          </a:p>
        </p:txBody>
      </p:sp>
      <p:sp>
        <p:nvSpPr>
          <p:cNvPr id="114" name="Text 112"/>
          <p:cNvSpPr/>
          <p:nvPr/>
        </p:nvSpPr>
        <p:spPr>
          <a:xfrm>
            <a:off x="6583680" y="4407408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= the token doing the looking. Column = the token being looked at.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is [1, 0, 0]: with nothing before it, "the" must attend to itself.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 sums to 1.000 — softmax guarantees it.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zero above the diagonal is the causal mask at work.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2 OF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hidden states to the predicted word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965960"/>
          </a:xfrm>
          <a:prstGeom prst="roundRect">
            <a:avLst>
              <a:gd name="adj" fmla="val 4186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1929384"/>
            <a:ext cx="36576" cy="1216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929384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3108960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Shape 7"/>
          <p:cNvSpPr/>
          <p:nvPr/>
        </p:nvSpPr>
        <p:spPr>
          <a:xfrm>
            <a:off x="3858768" y="1929384"/>
            <a:ext cx="36576" cy="1216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Shape 8"/>
          <p:cNvSpPr/>
          <p:nvPr/>
        </p:nvSpPr>
        <p:spPr>
          <a:xfrm>
            <a:off x="3767328" y="1929384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3767328" y="3108960"/>
            <a:ext cx="128016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2011680"/>
            <a:ext cx="566928" cy="32004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01168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84248" y="2011680"/>
            <a:ext cx="566928" cy="32004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5" name="Text 13"/>
          <p:cNvSpPr/>
          <p:nvPr/>
        </p:nvSpPr>
        <p:spPr>
          <a:xfrm>
            <a:off x="1984248" y="201168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1.695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96896" y="2011680"/>
            <a:ext cx="566928" cy="32004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7" name="Text 15"/>
          <p:cNvSpPr/>
          <p:nvPr/>
        </p:nvSpPr>
        <p:spPr>
          <a:xfrm>
            <a:off x="2596896" y="201168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9544" y="2011680"/>
            <a:ext cx="566928" cy="32004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19" name="Text 17"/>
          <p:cNvSpPr/>
          <p:nvPr/>
        </p:nvSpPr>
        <p:spPr>
          <a:xfrm>
            <a:off x="3209544" y="201168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1.215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71600" y="2377440"/>
            <a:ext cx="566928" cy="32004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237744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84248" y="2377440"/>
            <a:ext cx="566928" cy="32004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3" name="Text 21"/>
          <p:cNvSpPr/>
          <p:nvPr/>
        </p:nvSpPr>
        <p:spPr>
          <a:xfrm>
            <a:off x="1984248" y="237744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1.174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96896" y="2377440"/>
            <a:ext cx="566928" cy="32004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5" name="Text 23"/>
          <p:cNvSpPr/>
          <p:nvPr/>
        </p:nvSpPr>
        <p:spPr>
          <a:xfrm>
            <a:off x="2596896" y="237744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9544" y="2377440"/>
            <a:ext cx="566928" cy="320040"/>
          </a:xfrm>
          <a:prstGeom prst="rect">
            <a:avLst/>
          </a:prstGeom>
          <a:solidFill>
            <a:srgbClr val="1B3B52"/>
          </a:solidFill>
          <a:ln/>
        </p:spPr>
      </p:sp>
      <p:sp>
        <p:nvSpPr>
          <p:cNvPr id="27" name="Text 25"/>
          <p:cNvSpPr/>
          <p:nvPr/>
        </p:nvSpPr>
        <p:spPr>
          <a:xfrm>
            <a:off x="3209544" y="237744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1.191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371600" y="2743200"/>
            <a:ext cx="566928" cy="320040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2743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1.019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984248" y="2743200"/>
            <a:ext cx="566928" cy="320040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31" name="Text 29"/>
          <p:cNvSpPr/>
          <p:nvPr/>
        </p:nvSpPr>
        <p:spPr>
          <a:xfrm>
            <a:off x="1984248" y="2743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0.867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96896" y="2743200"/>
            <a:ext cx="566928" cy="320040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33" name="Text 31"/>
          <p:cNvSpPr/>
          <p:nvPr/>
        </p:nvSpPr>
        <p:spPr>
          <a:xfrm>
            <a:off x="2596896" y="2743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0.652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9544" y="2743200"/>
            <a:ext cx="566928" cy="320040"/>
          </a:xfrm>
          <a:prstGeom prst="rect">
            <a:avLst/>
          </a:prstGeom>
          <a:solidFill>
            <a:srgbClr val="1E5A4E"/>
          </a:solidFill>
          <a:ln/>
        </p:spPr>
      </p:sp>
      <p:sp>
        <p:nvSpPr>
          <p:cNvPr id="35" name="Text 33"/>
          <p:cNvSpPr/>
          <p:nvPr/>
        </p:nvSpPr>
        <p:spPr>
          <a:xfrm>
            <a:off x="3209544" y="2743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1.277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" y="15087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 =  A · V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14800" y="2377440"/>
            <a:ext cx="777240" cy="0"/>
          </a:xfrm>
          <a:prstGeom prst="line">
            <a:avLst/>
          </a:prstGeom>
          <a:noFill/>
          <a:ln w="22225">
            <a:solidFill>
              <a:srgbClr val="FFB627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977640" y="2048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W_U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138928" y="1929384"/>
            <a:ext cx="36576" cy="4846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0" name="Shape 38"/>
          <p:cNvSpPr/>
          <p:nvPr/>
        </p:nvSpPr>
        <p:spPr>
          <a:xfrm>
            <a:off x="5138928" y="1929384"/>
            <a:ext cx="128016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1" name="Shape 39"/>
          <p:cNvSpPr/>
          <p:nvPr/>
        </p:nvSpPr>
        <p:spPr>
          <a:xfrm>
            <a:off x="5138928" y="2377440"/>
            <a:ext cx="128016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2" name="Shape 40"/>
          <p:cNvSpPr/>
          <p:nvPr/>
        </p:nvSpPr>
        <p:spPr>
          <a:xfrm>
            <a:off x="9518904" y="1929384"/>
            <a:ext cx="36576" cy="4846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3" name="Shape 41"/>
          <p:cNvSpPr/>
          <p:nvPr/>
        </p:nvSpPr>
        <p:spPr>
          <a:xfrm>
            <a:off x="9427464" y="1929384"/>
            <a:ext cx="128016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4" name="Shape 42"/>
          <p:cNvSpPr/>
          <p:nvPr/>
        </p:nvSpPr>
        <p:spPr>
          <a:xfrm>
            <a:off x="9427464" y="2377440"/>
            <a:ext cx="128016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5" name="Shape 43"/>
          <p:cNvSpPr/>
          <p:nvPr/>
        </p:nvSpPr>
        <p:spPr>
          <a:xfrm>
            <a:off x="5257800" y="2011680"/>
            <a:ext cx="658368" cy="32004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6" name="Text 44"/>
          <p:cNvSpPr/>
          <p:nvPr/>
        </p:nvSpPr>
        <p:spPr>
          <a:xfrm>
            <a:off x="5257800" y="20116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961888" y="2011680"/>
            <a:ext cx="658368" cy="32004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48" name="Text 46"/>
          <p:cNvSpPr/>
          <p:nvPr/>
        </p:nvSpPr>
        <p:spPr>
          <a:xfrm>
            <a:off x="5961888" y="20116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1.432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665976" y="2011680"/>
            <a:ext cx="658368" cy="32004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0" name="Text 48"/>
          <p:cNvSpPr/>
          <p:nvPr/>
        </p:nvSpPr>
        <p:spPr>
          <a:xfrm>
            <a:off x="6665976" y="20116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1.614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370064" y="2011680"/>
            <a:ext cx="658368" cy="32004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2" name="Text 50"/>
          <p:cNvSpPr/>
          <p:nvPr/>
        </p:nvSpPr>
        <p:spPr>
          <a:xfrm>
            <a:off x="7370064" y="20116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2.006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074152" y="2011680"/>
            <a:ext cx="658368" cy="320040"/>
          </a:xfrm>
          <a:prstGeom prst="rect">
            <a:avLst/>
          </a:prstGeom>
          <a:solidFill>
            <a:srgbClr val="6A4A00"/>
          </a:solidFill>
          <a:ln/>
        </p:spPr>
      </p:sp>
      <p:sp>
        <p:nvSpPr>
          <p:cNvPr id="54" name="Text 52"/>
          <p:cNvSpPr/>
          <p:nvPr/>
        </p:nvSpPr>
        <p:spPr>
          <a:xfrm>
            <a:off x="8074152" y="20116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2.269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778240" y="2011680"/>
            <a:ext cx="658368" cy="320040"/>
          </a:xfrm>
          <a:prstGeom prst="rect">
            <a:avLst/>
          </a:prstGeom>
          <a:solidFill>
            <a:srgbClr val="222A5C"/>
          </a:solidFill>
          <a:ln/>
        </p:spPr>
      </p:sp>
      <p:sp>
        <p:nvSpPr>
          <p:cNvPr id="56" name="Text 54"/>
          <p:cNvSpPr/>
          <p:nvPr/>
        </p:nvSpPr>
        <p:spPr>
          <a:xfrm>
            <a:off x="8778240" y="20116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1.479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709160" y="1508760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 ( last row only )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257800" y="1719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&lt;pad&gt;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961888" y="1719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665976" y="1719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370064" y="1719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074152" y="1719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778240" y="1719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692640" y="2377440"/>
            <a:ext cx="685800" cy="0"/>
          </a:xfrm>
          <a:prstGeom prst="line">
            <a:avLst/>
          </a:prstGeom>
          <a:noFill/>
          <a:ln w="22225">
            <a:solidFill>
              <a:srgbClr val="FFB627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9509760" y="2048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0607040" y="2240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48640" y="3520440"/>
            <a:ext cx="6720840" cy="2697480"/>
          </a:xfrm>
          <a:prstGeom prst="roundRect">
            <a:avLst>
              <a:gd name="adj" fmla="val 3051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4672" y="37033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distribution over the whole vocabulary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68680" y="4096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1874520" y="4142232"/>
            <a:ext cx="4114800" cy="182880"/>
          </a:xfrm>
          <a:prstGeom prst="rect">
            <a:avLst/>
          </a:prstGeom>
          <a:solidFill>
            <a:srgbClr val="1B2145"/>
          </a:solidFill>
          <a:ln/>
        </p:spPr>
      </p:sp>
      <p:sp>
        <p:nvSpPr>
          <p:cNvPr id="71" name="Shape 69"/>
          <p:cNvSpPr/>
          <p:nvPr/>
        </p:nvSpPr>
        <p:spPr>
          <a:xfrm>
            <a:off x="1874520" y="4142232"/>
            <a:ext cx="3585754" cy="18288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2" name="Text 70"/>
          <p:cNvSpPr/>
          <p:nvPr/>
        </p:nvSpPr>
        <p:spPr>
          <a:xfrm>
            <a:off x="6126480" y="4096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68680" y="4434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1874520" y="4480560"/>
            <a:ext cx="4114800" cy="182880"/>
          </a:xfrm>
          <a:prstGeom prst="rect">
            <a:avLst/>
          </a:prstGeom>
          <a:solidFill>
            <a:srgbClr val="1B2145"/>
          </a:solidFill>
          <a:ln/>
        </p:spPr>
      </p:sp>
      <p:sp>
        <p:nvSpPr>
          <p:cNvPr id="75" name="Shape 73"/>
          <p:cNvSpPr/>
          <p:nvPr/>
        </p:nvSpPr>
        <p:spPr>
          <a:xfrm>
            <a:off x="1874520" y="4480560"/>
            <a:ext cx="2751038" cy="18288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76" name="Text 74"/>
          <p:cNvSpPr/>
          <p:nvPr/>
        </p:nvSpPr>
        <p:spPr>
          <a:xfrm>
            <a:off x="6126480" y="4434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0.234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68680" y="4773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1874520" y="4818888"/>
            <a:ext cx="4114800" cy="182880"/>
          </a:xfrm>
          <a:prstGeom prst="rect">
            <a:avLst/>
          </a:prstGeom>
          <a:solidFill>
            <a:srgbClr val="1B2145"/>
          </a:solidFill>
          <a:ln/>
        </p:spPr>
      </p:sp>
      <p:sp>
        <p:nvSpPr>
          <p:cNvPr id="79" name="Shape 77"/>
          <p:cNvSpPr/>
          <p:nvPr/>
        </p:nvSpPr>
        <p:spPr>
          <a:xfrm>
            <a:off x="1874520" y="4818888"/>
            <a:ext cx="1857538" cy="18288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80" name="Text 78"/>
          <p:cNvSpPr/>
          <p:nvPr/>
        </p:nvSpPr>
        <p:spPr>
          <a:xfrm>
            <a:off x="6126480" y="4773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0.158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68680" y="51114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1874520" y="5157216"/>
            <a:ext cx="4114800" cy="182880"/>
          </a:xfrm>
          <a:prstGeom prst="rect">
            <a:avLst/>
          </a:prstGeom>
          <a:solidFill>
            <a:srgbClr val="1B2145"/>
          </a:solidFill>
          <a:ln/>
        </p:spPr>
      </p:sp>
      <p:sp>
        <p:nvSpPr>
          <p:cNvPr id="83" name="Shape 81"/>
          <p:cNvSpPr/>
          <p:nvPr/>
        </p:nvSpPr>
        <p:spPr>
          <a:xfrm>
            <a:off x="1874520" y="5157216"/>
            <a:ext cx="1622407" cy="18288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84" name="Text 82"/>
          <p:cNvSpPr/>
          <p:nvPr/>
        </p:nvSpPr>
        <p:spPr>
          <a:xfrm>
            <a:off x="6126480" y="51114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0.138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68680" y="5449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1874520" y="5495544"/>
            <a:ext cx="4114800" cy="182880"/>
          </a:xfrm>
          <a:prstGeom prst="rect">
            <a:avLst/>
          </a:prstGeom>
          <a:solidFill>
            <a:srgbClr val="1B2145"/>
          </a:solidFill>
          <a:ln/>
        </p:spPr>
      </p:sp>
      <p:sp>
        <p:nvSpPr>
          <p:cNvPr id="87" name="Shape 85"/>
          <p:cNvSpPr/>
          <p:nvPr/>
        </p:nvSpPr>
        <p:spPr>
          <a:xfrm>
            <a:off x="1874520" y="5495544"/>
            <a:ext cx="1551867" cy="18288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88" name="Text 86"/>
          <p:cNvSpPr/>
          <p:nvPr/>
        </p:nvSpPr>
        <p:spPr>
          <a:xfrm>
            <a:off x="6126480" y="5449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0.132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68680" y="57881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&lt;pad&gt;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1874520" y="5833872"/>
            <a:ext cx="4114800" cy="182880"/>
          </a:xfrm>
          <a:prstGeom prst="rect">
            <a:avLst/>
          </a:prstGeom>
          <a:solidFill>
            <a:srgbClr val="1B2145"/>
          </a:solidFill>
          <a:ln/>
        </p:spPr>
      </p:sp>
      <p:sp>
        <p:nvSpPr>
          <p:cNvPr id="91" name="Shape 89"/>
          <p:cNvSpPr/>
          <p:nvPr/>
        </p:nvSpPr>
        <p:spPr>
          <a:xfrm>
            <a:off x="1874520" y="5833872"/>
            <a:ext cx="376210" cy="182880"/>
          </a:xfrm>
          <a:prstGeom prst="rect">
            <a:avLst/>
          </a:prstGeom>
          <a:solidFill>
            <a:srgbClr val="3A4794"/>
          </a:solidFill>
          <a:ln/>
        </p:spPr>
      </p:sp>
      <p:sp>
        <p:nvSpPr>
          <p:cNvPr id="92" name="Text 90"/>
          <p:cNvSpPr/>
          <p:nvPr/>
        </p:nvSpPr>
        <p:spPr>
          <a:xfrm>
            <a:off x="6126480" y="57881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0.032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68680" y="58521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1.000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7479792" y="3520440"/>
            <a:ext cx="4160520" cy="2697480"/>
          </a:xfrm>
          <a:prstGeom prst="roundRect">
            <a:avLst>
              <a:gd name="adj" fmla="val 3051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735824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7735824" y="4023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"on"</a:t>
            </a:r>
            <a:endParaRPr lang="en-US" sz="3800" dirty="0"/>
          </a:p>
        </p:txBody>
      </p:sp>
      <p:sp>
        <p:nvSpPr>
          <p:cNvPr id="97" name="Text 95"/>
          <p:cNvSpPr/>
          <p:nvPr/>
        </p:nvSpPr>
        <p:spPr>
          <a:xfrm>
            <a:off x="7735824" y="4754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cat sat  →  on</a:t>
            </a:r>
            <a:endParaRPr lang="en-US" sz="1250" dirty="0"/>
          </a:p>
        </p:txBody>
      </p:sp>
      <p:sp>
        <p:nvSpPr>
          <p:cNvPr id="98" name="Shape 96"/>
          <p:cNvSpPr/>
          <p:nvPr/>
        </p:nvSpPr>
        <p:spPr>
          <a:xfrm>
            <a:off x="7955280" y="5138928"/>
            <a:ext cx="3200400" cy="914400"/>
          </a:xfrm>
          <a:prstGeom prst="rect">
            <a:avLst/>
          </a:prstGeom>
          <a:solidFill>
            <a:srgbClr val="1B2145"/>
          </a:solidFill>
          <a:ln/>
        </p:spPr>
      </p:sp>
      <p:sp>
        <p:nvSpPr>
          <p:cNvPr id="99" name="Text 97"/>
          <p:cNvSpPr/>
          <p:nvPr/>
        </p:nvSpPr>
        <p:spPr>
          <a:xfrm>
            <a:off x="8101584" y="5257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append "on" to the input and run all ten steps again to get the next word. That loop is the entire generation process.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THE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the 124 million parameters live?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949440" cy="4846320"/>
          </a:xfrm>
          <a:prstGeom prst="roundRect">
            <a:avLst>
              <a:gd name="adj" fmla="val 169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31520" y="1572768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371600"/>
            <a:ext cx="3913632" cy="2286000"/>
          </a:xfrm>
          <a:prstGeom prst="roundRect">
            <a:avLst>
              <a:gd name="adj" fmla="val 36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73568" y="1572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73568" y="1938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 ≈  12 · N · d ²  +  V · 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73568" y="2377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12 · 768²  =  84.9 M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50,257 · 768   =  38.6 M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        ≈ 124 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26680" y="3840480"/>
            <a:ext cx="3913632" cy="2377440"/>
          </a:xfrm>
          <a:prstGeom prst="roundRect">
            <a:avLst>
              <a:gd name="adj" fmla="val 3462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73568" y="4023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12 · d² per block?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973568" y="437083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d ²   attention (Q,K,V,O)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d ²   feed-forward (4d wide)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d ²  per block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73568" y="5532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same shape up: GPT-3 uses d = 12,288 and N = 96 → 175 billion.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long context is expensive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949440" cy="4846320"/>
          </a:xfrm>
          <a:prstGeom prst="roundRect">
            <a:avLst>
              <a:gd name="adj" fmla="val 169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31520" y="1572768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371600"/>
            <a:ext cx="3913632" cy="2331720"/>
          </a:xfrm>
          <a:prstGeom prst="roundRect">
            <a:avLst>
              <a:gd name="adj" fmla="val 3529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73568" y="1572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crossover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73568" y="1920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overtakes everything else once n ≈ 6 · d. Below that, the linear layers dominate and people wrongly assume attention is cheap.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73568" y="3017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16,384  →  attention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3.5 × the rest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3886200"/>
            <a:ext cx="3913632" cy="2331720"/>
          </a:xfrm>
          <a:prstGeom prst="roundRect">
            <a:avLst>
              <a:gd name="adj" fmla="val 3529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73568" y="4069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KV cache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973568" y="4416552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generation, K and V for earlier tokens never change — so they are cached. Each new token then costs O(n·d) instead of O(n²·d).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73568" y="5486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trade: memory. The cache grows linearly with context and is often the real limit on how long a conversation can get.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matrices, used two different ways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22392" cy="4846320"/>
          </a:xfrm>
          <a:prstGeom prst="roundRect">
            <a:avLst>
              <a:gd name="adj" fmla="val 169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627632"/>
            <a:ext cx="292608" cy="292608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16642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2084832"/>
            <a:ext cx="4892040" cy="868680"/>
          </a:xfrm>
          <a:prstGeom prst="roundRect">
            <a:avLst>
              <a:gd name="adj" fmla="val 9474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08483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 =  − (1/n) Σ</a:t>
            </a:r>
            <a:r>
              <a:rPr lang="en-US" sz="135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 p( x</a:t>
            </a:r>
            <a:r>
              <a:rPr lang="en-US" sz="135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t+1</a:t>
            </a:r>
            <a:r>
              <a:rPr lang="en-US" sz="13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x</a:t>
            </a:r>
            <a:r>
              <a:rPr lang="en-US" sz="135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≤t</a:t>
            </a:r>
            <a:r>
              <a:rPr lang="en-US" sz="13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127248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 predicts all n next-tokens at once — that is what the causal mask buys us.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compares each predicted distribution with the true next token.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computes ∂L/∂W for every matrix: E, W_Q…W_O, W₁, W₂, γ, β, W_U.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optimiser (AdamW) nudges each one. Repeat for trillions of tokens.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57607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is learned here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22392" cy="4846320"/>
          </a:xfrm>
          <a:prstGeom prst="roundRect">
            <a:avLst>
              <a:gd name="adj" fmla="val 1698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1627632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876288" y="16642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73952" y="2084832"/>
            <a:ext cx="4892040" cy="868680"/>
          </a:xfrm>
          <a:prstGeom prst="roundRect">
            <a:avLst>
              <a:gd name="adj" fmla="val 9474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208483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400" b="1" baseline="-400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t+1</a:t>
            </a:r>
            <a:r>
              <a:rPr lang="en-US" sz="1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~  softmax( logits_t / T 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3127248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weights are frozen. Not one number in any matrix changes.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last row of the logits is needed — the rest is wasted work.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and V of previous tokens are cached, so each new token is cheap.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sampled token is appended and the loop repeats until a stop token appears.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73952" y="57607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is learned here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the data at every step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8A93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42616" y="1975104"/>
            <a:ext cx="164592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25496" y="1481328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664208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[464, 3797, 3332]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98648" y="2066544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integers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9744" y="1975104"/>
            <a:ext cx="164592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92624" y="1481328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664208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65776" y="2066544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76872" y="1975104"/>
            <a:ext cx="164592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59752" y="1481328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2904" y="1664208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32904" y="2066544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+ 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0" y="1975104"/>
            <a:ext cx="164592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326880" y="1481328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1664208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</a:t>
            </a:r>
            <a:r>
              <a:rPr lang="en-US" sz="1200" b="1" baseline="-40000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2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00032" y="2066544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2779776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962656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36499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 → 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42616" y="3273552"/>
            <a:ext cx="164592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825496" y="2779776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98648" y="2962656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</a:t>
            </a:r>
            <a:r>
              <a:rPr lang="en-US" sz="1200" b="1" baseline="-40000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98648" y="336499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A·V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9744" y="3273552"/>
            <a:ext cx="164592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992624" y="2779776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5776" y="2962656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65776" y="336499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W_O, +, LN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76872" y="3273552"/>
            <a:ext cx="164592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159752" y="2779776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32904" y="2962656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32904" y="336499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FFN, +, LN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0" y="3273552"/>
            <a:ext cx="164592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326880" y="2779776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00032" y="2962656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× V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400032" y="336499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8368" y="4078224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51A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426110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token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" y="466344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314432" y="2505456"/>
            <a:ext cx="0" cy="292608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314432" y="3803904"/>
            <a:ext cx="0" cy="292608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679192" y="4572000"/>
            <a:ext cx="502920" cy="0"/>
          </a:xfrm>
          <a:prstGeom prst="line">
            <a:avLst/>
          </a:prstGeom>
          <a:noFill/>
          <a:ln w="22225">
            <a:solidFill>
              <a:srgbClr val="323B7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246120" y="4608576"/>
            <a:ext cx="8394192" cy="1572768"/>
          </a:xfrm>
          <a:prstGeom prst="roundRect">
            <a:avLst>
              <a:gd name="adj" fmla="val 5233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479145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2 … N repeat the middle of this journey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20440" y="5120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embedding and the LM head, the hidden state stays n × d for the entire depth of the network. Every block reads an n × d matrix and writes an n × d matrix — only the numbers inside change. That single invariant is what makes the architecture so easy to scale.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worth remembering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29284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818120" cy="822960"/>
          </a:xfrm>
          <a:prstGeom prst="roundRect">
            <a:avLst>
              <a:gd name="adj" fmla="val 10000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18488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15453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is a next-token probability function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53312" y="18379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impressive it does is downstream of that one objective.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7818120" cy="822960"/>
          </a:xfrm>
          <a:prstGeom prst="roundRect">
            <a:avLst>
              <a:gd name="adj" fmla="val 100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51176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53312" y="24780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it is matrix multiplication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53312" y="27706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matrix families: E, P, W_Q, W_K, W_V, W_O, W₁, W₂, W_U — plus γ and β.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82696"/>
            <a:ext cx="7818120" cy="822960"/>
          </a:xfrm>
          <a:prstGeom prst="roundRect">
            <a:avLst>
              <a:gd name="adj" fmla="val 10000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483864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53312" y="34107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 soft lookup, not magic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53312" y="37033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· Key gives relevance; softmax turns relevance into weights; the weights average the values.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15384"/>
            <a:ext cx="7818120" cy="822960"/>
          </a:xfrm>
          <a:prstGeom prst="roundRect">
            <a:avLst>
              <a:gd name="adj" fmla="val 10000"/>
            </a:avLst>
          </a:prstGeom>
          <a:solidFill>
            <a:srgbClr val="222A5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416552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3434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never changes shape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53312" y="46360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d in, n × d out, N times over. That invariant is why the architecture scales.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148072"/>
            <a:ext cx="7818120" cy="822960"/>
          </a:xfrm>
          <a:prstGeom prst="roundRect">
            <a:avLst>
              <a:gd name="adj" fmla="val 10000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349240"/>
            <a:ext cx="420624" cy="420624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53312" y="52760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happens after the model is done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53312" y="55686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top-k and top-p are choices you control, not properties the model learned.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95360" y="1417320"/>
            <a:ext cx="3044952" cy="4681728"/>
          </a:xfrm>
          <a:prstGeom prst="roundRect">
            <a:avLst>
              <a:gd name="adj" fmla="val 2703"/>
            </a:avLst>
          </a:prstGeom>
          <a:solidFill>
            <a:srgbClr val="151A3C"/>
          </a:solidFill>
          <a:ln w="12700">
            <a:solidFill>
              <a:srgbClr val="323B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51392" y="1645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851392" y="2112264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9125712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25712" y="24780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al., 2017 — the original architecture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851392" y="3136392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6" name="Text 34"/>
          <p:cNvSpPr/>
          <p:nvPr/>
        </p:nvSpPr>
        <p:spPr>
          <a:xfrm>
            <a:off x="9125712" y="30815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Illustrated Transformer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25712" y="35021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Alammar — the best visual walkthrough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851392" y="4160520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9" name="Text 37"/>
          <p:cNvSpPr/>
          <p:nvPr/>
        </p:nvSpPr>
        <p:spPr>
          <a:xfrm>
            <a:off x="9125712" y="41056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nanoGPT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25712" y="4526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— a full GPT in ~300 lines of PyTorch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851392" y="5184648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2" name="Text 40"/>
          <p:cNvSpPr/>
          <p:nvPr/>
        </p:nvSpPr>
        <p:spPr>
          <a:xfrm>
            <a:off x="9125712" y="51297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notebook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25712" y="55504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every matrix on this deck yourself, in NumPy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4670</Words>
  <Application>Microsoft Office PowerPoint</Application>
  <PresentationFormat>Widescreen</PresentationFormat>
  <Paragraphs>751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a Large Language Model</dc:title>
  <dc:subject>PptxGenJS Presentation</dc:subject>
  <dc:creator>AI/ML Course</dc:creator>
  <cp:lastModifiedBy>MINESH PRADHAN</cp:lastModifiedBy>
  <cp:revision>2</cp:revision>
  <dcterms:created xsi:type="dcterms:W3CDTF">2026-07-26T05:47:42Z</dcterms:created>
  <dcterms:modified xsi:type="dcterms:W3CDTF">2026-07-26T06:05:24Z</dcterms:modified>
</cp:coreProperties>
</file>