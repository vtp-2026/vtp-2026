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in one line: RAG fixes what the model knows, MCP fixes what the model can reach. Everything today hangs off that sentence. Ask the room who has already built a chatbot that hallucinated a policy — that is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on depth. Part 1 is the longest because retrieval quality is where most projects actually fail. Tell students the lab brief on slide 28 is the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each card. Emphasise that these are four distinct failures with two distinct fixes — students routinely try to solve a tooling problem with more prompt engineering. Ask: which of these four would fine-tuning actually fix? (Only partially the first three, and expensively.)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slide for orientation. RAG is read-only context injection. MCP is a bidirectional capability channel that can also write. Students often think MCP replaces RAG — it does not; it is a delivery mechanism that a RAG system can live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open-book exam analogy: fine-tuning is making the student memorise the textbook; RAG is letting them bring it into the exam and teaching them to look things up. Long-context stuffing is photocopying the whole book onto the desk. Note the 'lost in the middle' effect for option B — a real, measured phenomenon.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to bottom. The key structural insight: Phase A is offline and runs rarely; Phase B and C run on every single question and are latency-critical. The vector store is the only shared state. Have students screenshot this slide — it is the map for the rest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demos ship fixed-size chunking and never revisit it. Start at 500 tokens with 15% overlap, then measure. Emphasise: always keep source metadata (title, URL, section, date) attached to each chunk — you need it for citations and for filtering. A chunk that loses its heading is often unusable out of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demos worth running live: (1) show that 'reset my password' and 'lost login credentials' score ~0.85 cosine with no words in common; (2) show that a rare product code scores badly, which motivates hybrid search on slide 11. Stress that query and document must use the SAME embedding model — mixing them silently destroys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students against premature scaling. A 50,000-chunk corpus runs fine on FAISS flat in memory on a laptop. Also flag access control: if two users must not see the same documents, that filter belongs in the query, not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two-stage pattern (cheap bi-encoder recall, expensive cross-encoder re-rank) is the highest-value upgrade to a naive pipeline and usually the cheapest to add. Mention BM25: dense vectors are bad at exact identifiers — order numbers, error codes, surnames — and keyword search is excellent at them. Reciprocal Rank Fusion is the standard way to merge the two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delete the 'ONLY from the CONTEXT' line and re-run — the model will happily blend in training-data trivia. That live failure teaches grounding better than any slide. Also note: token budget. If context plus question exceeds the window, drop chunks by score, never truncate mid-chunk.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runs entirely locally — MiniLM is ~90MB and needs no API key, so the whole class can execute it. Assign: swap the encoder for a larger model and measure the retrieval difference on a fixed set of ten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jump usually pays off: query rewriting (users ask terrible questions), and re-ranking. Agentic RAG is worth it when a question genuinely needs several lookups — 'how did our refund policy change and how many tickets did it cause?' cannot be answered by one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to teach: never tune blind. Build a golden set of 50 real questions with known-correct source passages before touching parameters. RAGAS and TruLens automate the scoring, often using an LLM as judge. Retrieval metrics (precision, recall) do not need an LLM at all — they only need labelled passages.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this into a diagnostic exercise: read out a user complaint and have the class name the stage before you reveal it. The leak card deserves a pause — it is the failure that ends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historical analogy that lands best: this is USB. Before it, every peripheral shipped its own port and driver. MCP was published by Anthropic as an open specification in late 2024 and has since been adopted well beyond it — the value of a protocol is precisely that it is not owned by one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vocabulary — students conflate host and client constantly. Host = the application (Claude Desktop, your agent script). Client = the connection object inside it, one per server. Server = the separate program exposing capabilities. Transport = stdio for local subprocesses, Streamable HTTP for remote.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axis is the exam question. Tools: the model decides (so they need good descriptions and can have side effects). Resources: the application decides what to load (read-only, URI-addressed). Prompts: the user decides (slash commands). Also mention the reverse direction — sampling lets a server ask the host's model for a completion, and roots tell a server which directories it may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tools/list is what makes MCP dynamic: the host discovers capabilities at runtime rather than compiling them in, which is exactly why one host works with servers it has never seen. Also point at the JSON Schema in the tool definition — that schema is what the model reads to decide the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on mcp 1.28.1 (negotiated protocol version 2025-11-25): search_docs(query: str, k: int = 4) generates inputSchema {'query': {'type':'string'}, 'k': {'type':'integer','default':4}} with required: ['query'] — show that output next to the source. Pin the SDK version in requirements.txt; the MCP spec is still moving and minor releases have changed decorator behaviour. Stress the docstring point hard: students write 'searches docs' and then wonder why the model never calls their tool. The description is the model's only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against mcp 1.28.1: a bare command="python" inside a venv fails with McpError: Connection closed and a long, unhelpful ExceptionGroup traceback — worth triggering deliberately so students recognise it. The stdout warning saves an hour per student too: add a print() to the server and watch the host silently drop the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through tool results is the genuinely new risk class and the one students underestimate: a poisoned wiki page can instruct the model to exfiltrate data via a later tool call. The mitigation is architectural, not a better prompt — least privilege, human confirmation on destructive actions, and full audit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punchline of the module. Note the subtle upgrade this brings: in classic RAG you retrieve on every turn whether or not it helps. Behind a tool, the model decides — 'thanks!' does not trigger a vector search, and a hard question can trigger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back on the framing that these compete. The honest summary: RAG is a technique for grounding, MCP is a protocol for connectivity. You can do RAG with no MCP and MCP with no RAG, but a capable assistant almost always ends up with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on the day-3 measurement, not on the demo polish — that is where the learning is. Offer an extension for fast students: add a second MCP server (SQL or ticketing) and let the model choose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opening sentence: RAG for knowledge, MCP for reach. Then get them building — the concepts only stick once retrieval returns something wrong and they have to work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38"/>
        </a:solidFill>
      </p:bgPr>
    </p:bg>
    <p:spTree>
      <p:nvGrpSpPr>
        <p:cNvPr id="1" name=""/>
        <p:cNvGrpSpPr/>
        <p:nvPr/>
      </p:nvGrpSpPr>
      <p:grpSpPr>
        <a:xfrm>
          <a:off x="0" y="0"/>
          <a:ext cx="0" cy="0"/>
          <a:chOff x="0" y="0"/>
          <a:chExt cx="0" cy="0"/>
        </a:xfrm>
      </p:grpSpPr>
      <p:pic>
        <p:nvPicPr>
          <p:cNvPr id="2" name="Image 0" descr="img/hero.png">    </p:cNvPr>
          <p:cNvPicPr>
            <a:picLocks noChangeAspect="1"/>
          </p:cNvPicPr>
          <p:nvPr/>
        </p:nvPicPr>
        <p:blipFill>
          <a:blip r:embed="rId1"/>
          <a:stretch>
            <a:fillRect/>
          </a:stretch>
        </p:blipFill>
        <p:spPr>
          <a:xfrm>
            <a:off x="6903720" y="502920"/>
            <a:ext cx="4846320" cy="4087368"/>
          </a:xfrm>
          <a:prstGeom prst="rect">
            <a:avLst/>
          </a:prstGeom>
        </p:spPr>
      </p:pic>
      <p:sp>
        <p:nvSpPr>
          <p:cNvPr id="3" name="Text 0"/>
          <p:cNvSpPr/>
          <p:nvPr/>
        </p:nvSpPr>
        <p:spPr>
          <a:xfrm>
            <a:off x="566928" y="1298448"/>
            <a:ext cx="6400800" cy="310896"/>
          </a:xfrm>
          <a:prstGeom prst="rect">
            <a:avLst/>
          </a:prstGeom>
          <a:noFill/>
          <a:ln/>
        </p:spPr>
        <p:txBody>
          <a:bodyPr wrap="square" lIns="0" tIns="0" rIns="0" bIns="0" rtlCol="0" anchor="ctr"/>
          <a:lstStyle/>
          <a:p>
            <a:pPr indent="0" marL="0">
              <a:buNone/>
            </a:pPr>
            <a:r>
              <a:rPr lang="en-US" sz="1300" b="1" spc="240" kern="0" dirty="0">
                <a:solidFill>
                  <a:srgbClr val="00A08C"/>
                </a:solidFill>
                <a:latin typeface="Calibri" pitchFamily="34" charset="0"/>
                <a:ea typeface="Calibri" pitchFamily="34" charset="-122"/>
                <a:cs typeface="Calibri" pitchFamily="34" charset="-120"/>
              </a:rPr>
              <a:t>AI ENGINEERING  ·  MODULE 07</a:t>
            </a:r>
            <a:endParaRPr lang="en-US" sz="1300" dirty="0"/>
          </a:p>
        </p:txBody>
      </p:sp>
      <p:sp>
        <p:nvSpPr>
          <p:cNvPr id="4" name="Text 1"/>
          <p:cNvSpPr/>
          <p:nvPr/>
        </p:nvSpPr>
        <p:spPr>
          <a:xfrm>
            <a:off x="566928" y="1719072"/>
            <a:ext cx="6583680" cy="1371600"/>
          </a:xfrm>
          <a:prstGeom prst="rect">
            <a:avLst/>
          </a:prstGeom>
          <a:noFill/>
          <a:ln/>
        </p:spPr>
        <p:txBody>
          <a:bodyPr wrap="square" lIns="0" tIns="0" rIns="0" bIns="0" rtlCol="0" anchor="ctr"/>
          <a:lstStyle/>
          <a:p>
            <a:pPr indent="0" marL="0">
              <a:buNone/>
            </a:pPr>
            <a:r>
              <a:rPr lang="en-US" sz="7600" b="1" dirty="0">
                <a:solidFill>
                  <a:srgbClr val="FFFFFF"/>
                </a:solidFill>
                <a:latin typeface="Cambria" pitchFamily="34" charset="0"/>
                <a:ea typeface="Cambria" pitchFamily="34" charset="-122"/>
                <a:cs typeface="Cambria" pitchFamily="34" charset="-120"/>
              </a:rPr>
              <a:t>RAG &amp; MCP</a:t>
            </a:r>
            <a:endParaRPr lang="en-US" sz="7600" dirty="0"/>
          </a:p>
        </p:txBody>
      </p:sp>
      <p:sp>
        <p:nvSpPr>
          <p:cNvPr id="5" name="Text 2"/>
          <p:cNvSpPr/>
          <p:nvPr/>
        </p:nvSpPr>
        <p:spPr>
          <a:xfrm>
            <a:off x="566928" y="3200400"/>
            <a:ext cx="6035040" cy="914400"/>
          </a:xfrm>
          <a:prstGeom prst="rect">
            <a:avLst/>
          </a:prstGeom>
          <a:noFill/>
          <a:ln/>
        </p:spPr>
        <p:txBody>
          <a:bodyPr wrap="square" lIns="0" tIns="0" rIns="0" bIns="0" rtlCol="0" anchor="ctr"/>
          <a:lstStyle/>
          <a:p>
            <a:pPr indent="0" marL="0">
              <a:lnSpc>
                <a:spcPts val="3000"/>
              </a:lnSpc>
              <a:buNone/>
            </a:pPr>
            <a:r>
              <a:rPr lang="en-US" sz="2000" dirty="0">
                <a:solidFill>
                  <a:srgbClr val="AEB6DC"/>
                </a:solidFill>
                <a:latin typeface="Calibri" pitchFamily="34" charset="0"/>
                <a:ea typeface="Calibri" pitchFamily="34" charset="-122"/>
                <a:cs typeface="Calibri" pitchFamily="34" charset="-120"/>
              </a:rPr>
              <a:t>Giving language models the knowledge they lack</a:t>
            </a:r>
            <a:endParaRPr lang="en-US" sz="2000" dirty="0"/>
          </a:p>
          <a:p>
            <a:pPr indent="0" marL="0">
              <a:lnSpc>
                <a:spcPts val="3000"/>
              </a:lnSpc>
              <a:buNone/>
            </a:pPr>
            <a:r>
              <a:rPr lang="en-US" sz="2000" dirty="0">
                <a:solidFill>
                  <a:srgbClr val="AEB6DC"/>
                </a:solidFill>
                <a:latin typeface="Calibri" pitchFamily="34" charset="0"/>
                <a:ea typeface="Calibri" pitchFamily="34" charset="-122"/>
                <a:cs typeface="Calibri" pitchFamily="34" charset="-120"/>
              </a:rPr>
              <a:t>and the hands they never had</a:t>
            </a:r>
            <a:endParaRPr lang="en-US" sz="2000" dirty="0"/>
          </a:p>
        </p:txBody>
      </p:sp>
      <p:sp>
        <p:nvSpPr>
          <p:cNvPr id="6" name="Shape 3"/>
          <p:cNvSpPr/>
          <p:nvPr/>
        </p:nvSpPr>
        <p:spPr>
          <a:xfrm>
            <a:off x="566928" y="4315968"/>
            <a:ext cx="2377440" cy="402336"/>
          </a:xfrm>
          <a:prstGeom prst="roundRect">
            <a:avLst>
              <a:gd name="adj" fmla="val 20455"/>
            </a:avLst>
          </a:prstGeom>
          <a:solidFill>
            <a:srgbClr val="00705F"/>
          </a:solidFill>
          <a:ln/>
        </p:spPr>
      </p:sp>
      <p:sp>
        <p:nvSpPr>
          <p:cNvPr id="7" name="Text 4"/>
          <p:cNvSpPr/>
          <p:nvPr/>
        </p:nvSpPr>
        <p:spPr>
          <a:xfrm>
            <a:off x="566928" y="4315968"/>
            <a:ext cx="237744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Retrieval-Augmented</a:t>
            </a:r>
            <a:endParaRPr lang="en-US" sz="1250" dirty="0"/>
          </a:p>
        </p:txBody>
      </p:sp>
      <p:sp>
        <p:nvSpPr>
          <p:cNvPr id="8" name="Shape 5"/>
          <p:cNvSpPr/>
          <p:nvPr/>
        </p:nvSpPr>
        <p:spPr>
          <a:xfrm>
            <a:off x="3108960" y="4315968"/>
            <a:ext cx="2377440" cy="402336"/>
          </a:xfrm>
          <a:prstGeom prst="roundRect">
            <a:avLst>
              <a:gd name="adj" fmla="val 20455"/>
            </a:avLst>
          </a:prstGeom>
          <a:solidFill>
            <a:srgbClr val="A85708"/>
          </a:solidFill>
          <a:ln/>
        </p:spPr>
      </p:sp>
      <p:sp>
        <p:nvSpPr>
          <p:cNvPr id="9" name="Text 6"/>
          <p:cNvSpPr/>
          <p:nvPr/>
        </p:nvSpPr>
        <p:spPr>
          <a:xfrm>
            <a:off x="3108960" y="4315968"/>
            <a:ext cx="237744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Model Context Protocol</a:t>
            </a:r>
            <a:endParaRPr lang="en-US" sz="1250" dirty="0"/>
          </a:p>
        </p:txBody>
      </p:sp>
      <p:sp>
        <p:nvSpPr>
          <p:cNvPr id="10" name="Text 7"/>
          <p:cNvSpPr/>
          <p:nvPr/>
        </p:nvSpPr>
        <p:spPr>
          <a:xfrm>
            <a:off x="566928" y="5120640"/>
            <a:ext cx="6766560" cy="822960"/>
          </a:xfrm>
          <a:prstGeom prst="rect">
            <a:avLst/>
          </a:prstGeom>
          <a:noFill/>
          <a:ln/>
        </p:spPr>
        <p:txBody>
          <a:bodyPr wrap="square" lIns="0" tIns="0" rIns="0" bIns="0" rtlCol="0" anchor="ctr"/>
          <a:lstStyle/>
          <a:p>
            <a:pPr indent="0" marL="0">
              <a:lnSpc>
                <a:spcPts val="2200"/>
              </a:lnSpc>
              <a:buNone/>
            </a:pPr>
            <a:r>
              <a:rPr lang="en-US" sz="1400" i="1" dirty="0">
                <a:solidFill>
                  <a:srgbClr val="AEB6DC"/>
                </a:solidFill>
                <a:latin typeface="Calibri" pitchFamily="34" charset="0"/>
                <a:ea typeface="Calibri" pitchFamily="34" charset="-122"/>
                <a:cs typeface="Calibri" pitchFamily="34" charset="-120"/>
              </a:rPr>
              <a:t>A hands-on session for students who know Python and have used an LLM API.</a:t>
            </a:r>
            <a:endParaRPr lang="en-US" sz="1400" dirty="0"/>
          </a:p>
          <a:p>
            <a:pPr indent="0" marL="0">
              <a:lnSpc>
                <a:spcPts val="2200"/>
              </a:lnSpc>
              <a:buNone/>
            </a:pPr>
            <a:r>
              <a:rPr lang="en-US" sz="1400" i="1" dirty="0">
                <a:solidFill>
                  <a:srgbClr val="AEB6DC"/>
                </a:solidFill>
                <a:latin typeface="Calibri" pitchFamily="34" charset="0"/>
                <a:ea typeface="Calibri" pitchFamily="34" charset="-122"/>
                <a:cs typeface="Calibri" pitchFamily="34" charset="-120"/>
              </a:rPr>
              <a:t>No prior retrieval or protocol experience assumed.</a:t>
            </a:r>
            <a:endParaRPr lang="en-US" sz="1400" dirty="0"/>
          </a:p>
        </p:txBody>
      </p:sp>
      <p:sp>
        <p:nvSpPr>
          <p:cNvPr id="11" name="Text 8"/>
          <p:cNvSpPr/>
          <p:nvPr/>
        </p:nvSpPr>
        <p:spPr>
          <a:xfrm>
            <a:off x="566928" y="6437376"/>
            <a:ext cx="5486400" cy="256032"/>
          </a:xfrm>
          <a:prstGeom prst="rect">
            <a:avLst/>
          </a:prstGeom>
          <a:noFill/>
          <a:ln/>
        </p:spPr>
        <p:txBody>
          <a:bodyPr wrap="square" lIns="0" tIns="0" rIns="0" bIns="0" rtlCol="0" anchor="ctr"/>
          <a:lstStyle/>
          <a:p>
            <a:pPr indent="0" marL="0">
              <a:buNone/>
            </a:pPr>
            <a:endParaRPr lang="en-US" sz="1000" dirty="0"/>
          </a:p>
        </p:txBody>
      </p:sp>
      <p:sp>
        <p:nvSpPr>
          <p:cNvPr id="12" name="Text 9"/>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AEB6D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4C5FD5"/>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Where we're going</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Three parts, one continuous example: an internal help desk assistant.</a:t>
            </a:r>
            <a:endParaRPr lang="en-US" sz="1500" dirty="0"/>
          </a:p>
        </p:txBody>
      </p:sp>
      <p:sp>
        <p:nvSpPr>
          <p:cNvPr id="6" name="Shape 4"/>
          <p:cNvSpPr/>
          <p:nvPr/>
        </p:nvSpPr>
        <p:spPr>
          <a:xfrm>
            <a:off x="566928" y="1481328"/>
            <a:ext cx="3490874" cy="4187952"/>
          </a:xfrm>
          <a:prstGeom prst="roundRect">
            <a:avLst>
              <a:gd name="adj" fmla="val 1310"/>
            </a:avLst>
          </a:prstGeom>
          <a:solidFill>
            <a:srgbClr val="FFFFFF"/>
          </a:solidFill>
          <a:ln w="15875">
            <a:solidFill>
              <a:srgbClr val="00705F"/>
            </a:solidFill>
            <a:prstDash val="solid"/>
          </a:ln>
        </p:spPr>
      </p:sp>
      <p:sp>
        <p:nvSpPr>
          <p:cNvPr id="7" name="Shape 5"/>
          <p:cNvSpPr/>
          <p:nvPr/>
        </p:nvSpPr>
        <p:spPr>
          <a:xfrm>
            <a:off x="566928" y="1481328"/>
            <a:ext cx="3490874" cy="566928"/>
          </a:xfrm>
          <a:prstGeom prst="roundRect">
            <a:avLst>
              <a:gd name="adj" fmla="val 8065"/>
            </a:avLst>
          </a:prstGeom>
          <a:solidFill>
            <a:srgbClr val="D8F3EE"/>
          </a:solidFill>
          <a:ln w="12700">
            <a:solidFill>
              <a:srgbClr val="D8F3EE"/>
            </a:solidFill>
            <a:prstDash val="solid"/>
          </a:ln>
        </p:spPr>
      </p:sp>
      <p:sp>
        <p:nvSpPr>
          <p:cNvPr id="8" name="Shape 6"/>
          <p:cNvSpPr/>
          <p:nvPr/>
        </p:nvSpPr>
        <p:spPr>
          <a:xfrm>
            <a:off x="566928" y="1755648"/>
            <a:ext cx="3490874" cy="292608"/>
          </a:xfrm>
          <a:prstGeom prst="rect">
            <a:avLst/>
          </a:prstGeom>
          <a:solidFill>
            <a:srgbClr val="D8F3EE"/>
          </a:solidFill>
          <a:ln w="12700">
            <a:solidFill>
              <a:srgbClr val="D8F3EE"/>
            </a:solidFill>
            <a:prstDash val="solid"/>
          </a:ln>
        </p:spPr>
      </p:sp>
      <p:sp>
        <p:nvSpPr>
          <p:cNvPr id="9" name="Text 7"/>
          <p:cNvSpPr/>
          <p:nvPr/>
        </p:nvSpPr>
        <p:spPr>
          <a:xfrm>
            <a:off x="768096" y="1554480"/>
            <a:ext cx="3088538" cy="182880"/>
          </a:xfrm>
          <a:prstGeom prst="rect">
            <a:avLst/>
          </a:prstGeom>
          <a:noFill/>
          <a:ln/>
        </p:spPr>
        <p:txBody>
          <a:bodyPr wrap="square" lIns="0" tIns="0" rIns="0" bIns="0" rtlCol="0" anchor="ctr"/>
          <a:lstStyle/>
          <a:p>
            <a:pPr indent="0" marL="0">
              <a:buNone/>
            </a:pPr>
            <a:r>
              <a:rPr lang="en-US" sz="950" b="1" spc="120" kern="0" dirty="0">
                <a:solidFill>
                  <a:srgbClr val="00705F"/>
                </a:solidFill>
                <a:latin typeface="Calibri" pitchFamily="34" charset="0"/>
                <a:ea typeface="Calibri" pitchFamily="34" charset="-122"/>
                <a:cs typeface="Calibri" pitchFamily="34" charset="-120"/>
              </a:rPr>
              <a:t>PART 01</a:t>
            </a:r>
            <a:endParaRPr lang="en-US" sz="950" dirty="0"/>
          </a:p>
        </p:txBody>
      </p:sp>
      <p:sp>
        <p:nvSpPr>
          <p:cNvPr id="10" name="Text 8"/>
          <p:cNvSpPr/>
          <p:nvPr/>
        </p:nvSpPr>
        <p:spPr>
          <a:xfrm>
            <a:off x="768096"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RAG</a:t>
            </a:r>
            <a:endParaRPr lang="en-US" sz="1600" dirty="0"/>
          </a:p>
        </p:txBody>
      </p:sp>
      <p:sp>
        <p:nvSpPr>
          <p:cNvPr id="11" name="Text 9"/>
          <p:cNvSpPr/>
          <p:nvPr/>
        </p:nvSpPr>
        <p:spPr>
          <a:xfrm>
            <a:off x="877824"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Why retrieval beats fine-tuning for facts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Chunking, embeddings, vector stores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Ranking, re-ranking, hybrid search</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Prompt assembly and grounding</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Evaluation and failure diagnosis</a:t>
            </a:r>
            <a:endParaRPr lang="en-US" sz="1250" dirty="0"/>
          </a:p>
        </p:txBody>
      </p:sp>
      <p:sp>
        <p:nvSpPr>
          <p:cNvPr id="12" name="Text 10"/>
          <p:cNvSpPr/>
          <p:nvPr/>
        </p:nvSpPr>
        <p:spPr>
          <a:xfrm>
            <a:off x="768096" y="5285232"/>
            <a:ext cx="3088538" cy="274320"/>
          </a:xfrm>
          <a:prstGeom prst="rect">
            <a:avLst/>
          </a:prstGeom>
          <a:noFill/>
          <a:ln/>
        </p:spPr>
        <p:txBody>
          <a:bodyPr wrap="square" lIns="0" tIns="0" rIns="0" bIns="0" rtlCol="0" anchor="ctr"/>
          <a:lstStyle/>
          <a:p>
            <a:pPr indent="0" marL="0">
              <a:buNone/>
            </a:pPr>
            <a:r>
              <a:rPr lang="en-US" sz="1150" b="1" dirty="0">
                <a:solidFill>
                  <a:srgbClr val="00705F"/>
                </a:solidFill>
                <a:latin typeface="Calibri" pitchFamily="34" charset="0"/>
                <a:ea typeface="Calibri" pitchFamily="34" charset="-122"/>
                <a:cs typeface="Calibri" pitchFamily="34" charset="-120"/>
              </a:rPr>
              <a:t>Slides 5 – 16</a:t>
            </a:r>
            <a:endParaRPr lang="en-US" sz="1150" dirty="0"/>
          </a:p>
        </p:txBody>
      </p:sp>
      <p:sp>
        <p:nvSpPr>
          <p:cNvPr id="13" name="Shape 11"/>
          <p:cNvSpPr/>
          <p:nvPr/>
        </p:nvSpPr>
        <p:spPr>
          <a:xfrm>
            <a:off x="4350410" y="1481328"/>
            <a:ext cx="3490874" cy="4187952"/>
          </a:xfrm>
          <a:prstGeom prst="roundRect">
            <a:avLst>
              <a:gd name="adj" fmla="val 1310"/>
            </a:avLst>
          </a:prstGeom>
          <a:solidFill>
            <a:srgbClr val="FFFFFF"/>
          </a:solidFill>
          <a:ln w="15875">
            <a:solidFill>
              <a:srgbClr val="A85708"/>
            </a:solidFill>
            <a:prstDash val="solid"/>
          </a:ln>
        </p:spPr>
      </p:sp>
      <p:sp>
        <p:nvSpPr>
          <p:cNvPr id="14" name="Shape 12"/>
          <p:cNvSpPr/>
          <p:nvPr/>
        </p:nvSpPr>
        <p:spPr>
          <a:xfrm>
            <a:off x="4350410" y="1481328"/>
            <a:ext cx="3490874" cy="566928"/>
          </a:xfrm>
          <a:prstGeom prst="roundRect">
            <a:avLst>
              <a:gd name="adj" fmla="val 8065"/>
            </a:avLst>
          </a:prstGeom>
          <a:solidFill>
            <a:srgbClr val="FCE9D4"/>
          </a:solidFill>
          <a:ln w="12700">
            <a:solidFill>
              <a:srgbClr val="FCE9D4"/>
            </a:solidFill>
            <a:prstDash val="solid"/>
          </a:ln>
        </p:spPr>
      </p:sp>
      <p:sp>
        <p:nvSpPr>
          <p:cNvPr id="15" name="Shape 13"/>
          <p:cNvSpPr/>
          <p:nvPr/>
        </p:nvSpPr>
        <p:spPr>
          <a:xfrm>
            <a:off x="4350410" y="1755648"/>
            <a:ext cx="3490874" cy="292608"/>
          </a:xfrm>
          <a:prstGeom prst="rect">
            <a:avLst/>
          </a:prstGeom>
          <a:solidFill>
            <a:srgbClr val="FCE9D4"/>
          </a:solidFill>
          <a:ln w="12700">
            <a:solidFill>
              <a:srgbClr val="FCE9D4"/>
            </a:solidFill>
            <a:prstDash val="solid"/>
          </a:ln>
        </p:spPr>
      </p:sp>
      <p:sp>
        <p:nvSpPr>
          <p:cNvPr id="16" name="Text 14"/>
          <p:cNvSpPr/>
          <p:nvPr/>
        </p:nvSpPr>
        <p:spPr>
          <a:xfrm>
            <a:off x="4551578" y="1554480"/>
            <a:ext cx="3088538" cy="182880"/>
          </a:xfrm>
          <a:prstGeom prst="rect">
            <a:avLst/>
          </a:prstGeom>
          <a:noFill/>
          <a:ln/>
        </p:spPr>
        <p:txBody>
          <a:bodyPr wrap="square" lIns="0" tIns="0" rIns="0" bIns="0" rtlCol="0" anchor="ctr"/>
          <a:lstStyle/>
          <a:p>
            <a:pPr indent="0" marL="0">
              <a:buNone/>
            </a:pPr>
            <a:r>
              <a:rPr lang="en-US" sz="950" b="1" spc="120" kern="0" dirty="0">
                <a:solidFill>
                  <a:srgbClr val="A85708"/>
                </a:solidFill>
                <a:latin typeface="Calibri" pitchFamily="34" charset="0"/>
                <a:ea typeface="Calibri" pitchFamily="34" charset="-122"/>
                <a:cs typeface="Calibri" pitchFamily="34" charset="-120"/>
              </a:rPr>
              <a:t>PART 02</a:t>
            </a:r>
            <a:endParaRPr lang="en-US" sz="950" dirty="0"/>
          </a:p>
        </p:txBody>
      </p:sp>
      <p:sp>
        <p:nvSpPr>
          <p:cNvPr id="17" name="Text 15"/>
          <p:cNvSpPr/>
          <p:nvPr/>
        </p:nvSpPr>
        <p:spPr>
          <a:xfrm>
            <a:off x="4551578"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MCP</a:t>
            </a:r>
            <a:endParaRPr lang="en-US" sz="1600" dirty="0"/>
          </a:p>
        </p:txBody>
      </p:sp>
      <p:sp>
        <p:nvSpPr>
          <p:cNvPr id="18" name="Text 16"/>
          <p:cNvSpPr/>
          <p:nvPr/>
        </p:nvSpPr>
        <p:spPr>
          <a:xfrm>
            <a:off x="4661306"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The N × M integration problem</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Host, client, server, transport</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Tools, resources and prompts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The JSON-RPC handshake</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Building a server; security</a:t>
            </a:r>
            <a:endParaRPr lang="en-US" sz="1250" dirty="0"/>
          </a:p>
        </p:txBody>
      </p:sp>
      <p:sp>
        <p:nvSpPr>
          <p:cNvPr id="19" name="Text 17"/>
          <p:cNvSpPr/>
          <p:nvPr/>
        </p:nvSpPr>
        <p:spPr>
          <a:xfrm>
            <a:off x="4551578" y="5285232"/>
            <a:ext cx="3088538" cy="274320"/>
          </a:xfrm>
          <a:prstGeom prst="rect">
            <a:avLst/>
          </a:prstGeom>
          <a:noFill/>
          <a:ln/>
        </p:spPr>
        <p:txBody>
          <a:bodyPr wrap="square" lIns="0" tIns="0" rIns="0" bIns="0" rtlCol="0" anchor="ctr"/>
          <a:lstStyle/>
          <a:p>
            <a:pPr indent="0" marL="0">
              <a:buNone/>
            </a:pPr>
            <a:r>
              <a:rPr lang="en-US" sz="1150" b="1" dirty="0">
                <a:solidFill>
                  <a:srgbClr val="A85708"/>
                </a:solidFill>
                <a:latin typeface="Calibri" pitchFamily="34" charset="0"/>
                <a:ea typeface="Calibri" pitchFamily="34" charset="-122"/>
                <a:cs typeface="Calibri" pitchFamily="34" charset="-120"/>
              </a:rPr>
              <a:t>Slides 17 – 24</a:t>
            </a:r>
            <a:endParaRPr lang="en-US" sz="1150" dirty="0"/>
          </a:p>
        </p:txBody>
      </p:sp>
      <p:sp>
        <p:nvSpPr>
          <p:cNvPr id="20" name="Shape 18"/>
          <p:cNvSpPr/>
          <p:nvPr/>
        </p:nvSpPr>
        <p:spPr>
          <a:xfrm>
            <a:off x="8133893" y="1481328"/>
            <a:ext cx="3490874" cy="4187952"/>
          </a:xfrm>
          <a:prstGeom prst="roundRect">
            <a:avLst>
              <a:gd name="adj" fmla="val 1310"/>
            </a:avLst>
          </a:prstGeom>
          <a:solidFill>
            <a:srgbClr val="FFFFFF"/>
          </a:solidFill>
          <a:ln w="15875">
            <a:solidFill>
              <a:srgbClr val="2B3583"/>
            </a:solidFill>
            <a:prstDash val="solid"/>
          </a:ln>
        </p:spPr>
      </p:sp>
      <p:sp>
        <p:nvSpPr>
          <p:cNvPr id="21" name="Shape 19"/>
          <p:cNvSpPr/>
          <p:nvPr/>
        </p:nvSpPr>
        <p:spPr>
          <a:xfrm>
            <a:off x="8133893" y="1481328"/>
            <a:ext cx="3490874" cy="566928"/>
          </a:xfrm>
          <a:prstGeom prst="roundRect">
            <a:avLst>
              <a:gd name="adj" fmla="val 8065"/>
            </a:avLst>
          </a:prstGeom>
          <a:solidFill>
            <a:srgbClr val="E7EAFB"/>
          </a:solidFill>
          <a:ln w="12700">
            <a:solidFill>
              <a:srgbClr val="E7EAFB"/>
            </a:solidFill>
            <a:prstDash val="solid"/>
          </a:ln>
        </p:spPr>
      </p:sp>
      <p:sp>
        <p:nvSpPr>
          <p:cNvPr id="22" name="Shape 20"/>
          <p:cNvSpPr/>
          <p:nvPr/>
        </p:nvSpPr>
        <p:spPr>
          <a:xfrm>
            <a:off x="8133893" y="1755648"/>
            <a:ext cx="3490874" cy="292608"/>
          </a:xfrm>
          <a:prstGeom prst="rect">
            <a:avLst/>
          </a:prstGeom>
          <a:solidFill>
            <a:srgbClr val="E7EAFB"/>
          </a:solidFill>
          <a:ln w="12700">
            <a:solidFill>
              <a:srgbClr val="E7EAFB"/>
            </a:solidFill>
            <a:prstDash val="solid"/>
          </a:ln>
        </p:spPr>
      </p:sp>
      <p:sp>
        <p:nvSpPr>
          <p:cNvPr id="23" name="Text 21"/>
          <p:cNvSpPr/>
          <p:nvPr/>
        </p:nvSpPr>
        <p:spPr>
          <a:xfrm>
            <a:off x="8335061" y="1554480"/>
            <a:ext cx="3088538" cy="182880"/>
          </a:xfrm>
          <a:prstGeom prst="rect">
            <a:avLst/>
          </a:prstGeom>
          <a:noFill/>
          <a:ln/>
        </p:spPr>
        <p:txBody>
          <a:bodyPr wrap="square" lIns="0" tIns="0" rIns="0" bIns="0" rtlCol="0" anchor="ctr"/>
          <a:lstStyle/>
          <a:p>
            <a:pPr indent="0" marL="0">
              <a:buNone/>
            </a:pPr>
            <a:r>
              <a:rPr lang="en-US" sz="950" b="1" spc="120" kern="0" dirty="0">
                <a:solidFill>
                  <a:srgbClr val="2B3583"/>
                </a:solidFill>
                <a:latin typeface="Calibri" pitchFamily="34" charset="0"/>
                <a:ea typeface="Calibri" pitchFamily="34" charset="-122"/>
                <a:cs typeface="Calibri" pitchFamily="34" charset="-120"/>
              </a:rPr>
              <a:t>PART 03</a:t>
            </a:r>
            <a:endParaRPr lang="en-US" sz="950" dirty="0"/>
          </a:p>
        </p:txBody>
      </p:sp>
      <p:sp>
        <p:nvSpPr>
          <p:cNvPr id="24" name="Text 22"/>
          <p:cNvSpPr/>
          <p:nvPr/>
        </p:nvSpPr>
        <p:spPr>
          <a:xfrm>
            <a:off x="8335061"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Both together</a:t>
            </a:r>
            <a:endParaRPr lang="en-US" sz="1600" dirty="0"/>
          </a:p>
        </p:txBody>
      </p:sp>
      <p:sp>
        <p:nvSpPr>
          <p:cNvPr id="25" name="Text 23"/>
          <p:cNvSpPr/>
          <p:nvPr/>
        </p:nvSpPr>
        <p:spPr>
          <a:xfrm>
            <a:off x="8444789"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Wrapping a RAG pipeline as a tool</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Agent loops over multiple servers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Choosing between them</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Your lab brief for this week</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Reading list and next steps</a:t>
            </a:r>
            <a:endParaRPr lang="en-US" sz="1250" dirty="0"/>
          </a:p>
        </p:txBody>
      </p:sp>
      <p:sp>
        <p:nvSpPr>
          <p:cNvPr id="26" name="Text 24"/>
          <p:cNvSpPr/>
          <p:nvPr/>
        </p:nvSpPr>
        <p:spPr>
          <a:xfrm>
            <a:off x="8335061" y="5285232"/>
            <a:ext cx="3088538" cy="274320"/>
          </a:xfrm>
          <a:prstGeom prst="rect">
            <a:avLst/>
          </a:prstGeom>
          <a:noFill/>
          <a:ln/>
        </p:spPr>
        <p:txBody>
          <a:bodyPr wrap="square" lIns="0" tIns="0" rIns="0" bIns="0" rtlCol="0" anchor="ctr"/>
          <a:lstStyle/>
          <a:p>
            <a:pPr indent="0" marL="0">
              <a:buNone/>
            </a:pPr>
            <a:r>
              <a:rPr lang="en-US" sz="1150" b="1" dirty="0">
                <a:solidFill>
                  <a:srgbClr val="2B3583"/>
                </a:solidFill>
                <a:latin typeface="Calibri" pitchFamily="34" charset="0"/>
                <a:ea typeface="Calibri" pitchFamily="34" charset="-122"/>
                <a:cs typeface="Calibri" pitchFamily="34" charset="-120"/>
              </a:rPr>
              <a:t>Slides 25 – 29</a:t>
            </a:r>
            <a:endParaRPr lang="en-US" sz="1150" dirty="0"/>
          </a:p>
        </p:txBody>
      </p:sp>
      <p:sp>
        <p:nvSpPr>
          <p:cNvPr id="27" name="Shape 25"/>
          <p:cNvSpPr/>
          <p:nvPr/>
        </p:nvSpPr>
        <p:spPr>
          <a:xfrm>
            <a:off x="566928" y="5870448"/>
            <a:ext cx="11057839" cy="512064"/>
          </a:xfrm>
          <a:prstGeom prst="roundRect">
            <a:avLst>
              <a:gd name="adj" fmla="val 14286"/>
            </a:avLst>
          </a:prstGeom>
          <a:solidFill>
            <a:srgbClr val="E7EAFB"/>
          </a:solidFill>
          <a:ln/>
        </p:spPr>
      </p:sp>
      <p:sp>
        <p:nvSpPr>
          <p:cNvPr id="28" name="Text 26"/>
          <p:cNvSpPr/>
          <p:nvPr/>
        </p:nvSpPr>
        <p:spPr>
          <a:xfrm>
            <a:off x="804672" y="5870448"/>
            <a:ext cx="10582351" cy="512064"/>
          </a:xfrm>
          <a:prstGeom prst="rect">
            <a:avLst/>
          </a:prstGeom>
          <a:noFill/>
          <a:ln/>
        </p:spPr>
        <p:txBody>
          <a:bodyPr wrap="square" lIns="0" tIns="0" rIns="0" bIns="0" rtlCol="0" anchor="ctr"/>
          <a:lstStyle/>
          <a:p>
            <a:pPr indent="0" marL="0">
              <a:buNone/>
            </a:pPr>
            <a:r>
              <a:rPr lang="en-US" sz="1350" b="1" dirty="0">
                <a:solidFill>
                  <a:srgbClr val="2B3583"/>
                </a:solidFill>
                <a:latin typeface="Calibri" pitchFamily="34" charset="0"/>
                <a:ea typeface="Calibri" pitchFamily="34" charset="-122"/>
                <a:cs typeface="Calibri" pitchFamily="34" charset="-120"/>
              </a:rPr>
              <a:t>Running example: a help desk assistant that answers from the company handbook and can open a ticket.</a:t>
            </a:r>
            <a:endParaRPr lang="en-US" sz="1350" dirty="0"/>
          </a:p>
        </p:txBody>
      </p:sp>
      <p:sp>
        <p:nvSpPr>
          <p:cNvPr id="29" name="Text 27"/>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Roadmap</a:t>
            </a:r>
            <a:endParaRPr lang="en-US" sz="1000" dirty="0"/>
          </a:p>
        </p:txBody>
      </p:sp>
      <p:sp>
        <p:nvSpPr>
          <p:cNvPr id="30" name="Text 28"/>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C8496B"/>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What a sealed model cannot do</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The base model is a brilliant reasoner with no eyes, no memory of your world, and no hands.</a:t>
            </a:r>
            <a:endParaRPr lang="en-US" sz="1500" dirty="0"/>
          </a:p>
        </p:txBody>
      </p:sp>
      <p:pic>
        <p:nvPicPr>
          <p:cNvPr id="6" name="Image 0" descr="img/limits.png">    </p:cNvPr>
          <p:cNvPicPr>
            <a:picLocks noChangeAspect="1"/>
          </p:cNvPicPr>
          <p:nvPr/>
        </p:nvPicPr>
        <p:blipFill>
          <a:blip r:embed="rId1"/>
          <a:stretch>
            <a:fillRect/>
          </a:stretch>
        </p:blipFill>
        <p:spPr>
          <a:xfrm>
            <a:off x="566928" y="2401910"/>
            <a:ext cx="11057839" cy="3114884"/>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The problem</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4C5FD5"/>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Two problems, two protocols</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Retrieval pushes information in. The protocol lets the model reach out.</a:t>
            </a:r>
            <a:endParaRPr lang="en-US" sz="1500" dirty="0"/>
          </a:p>
        </p:txBody>
      </p:sp>
      <p:pic>
        <p:nvPicPr>
          <p:cNvPr id="6" name="Image 0" descr="img/rag_vs_mcp.png">    </p:cNvPr>
          <p:cNvPicPr>
            <a:picLocks noChangeAspect="1"/>
          </p:cNvPicPr>
          <p:nvPr/>
        </p:nvPicPr>
        <p:blipFill>
          <a:blip r:embed="rId1"/>
          <a:stretch>
            <a:fillRect/>
          </a:stretch>
        </p:blipFill>
        <p:spPr>
          <a:xfrm>
            <a:off x="566928" y="1545317"/>
            <a:ext cx="11057839" cy="4828071"/>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The problem</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A38"/>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00A08C">
              <a:alpha val="12000"/>
            </a:srgbClr>
          </a:solidFill>
          <a:ln/>
        </p:spPr>
      </p:sp>
      <p:sp>
        <p:nvSpPr>
          <p:cNvPr id="3" name="Shape 1"/>
          <p:cNvSpPr/>
          <p:nvPr/>
        </p:nvSpPr>
        <p:spPr>
          <a:xfrm>
            <a:off x="10058400" y="3108960"/>
            <a:ext cx="4023360" cy="4023360"/>
          </a:xfrm>
          <a:prstGeom prst="ellipse">
            <a:avLst/>
          </a:prstGeom>
          <a:solidFill>
            <a:srgbClr val="00A08C">
              <a:alpha val="8000"/>
            </a:srgbClr>
          </a:solidFill>
          <a:ln/>
        </p:spPr>
      </p:sp>
      <p:sp>
        <p:nvSpPr>
          <p:cNvPr id="4" name="Text 2"/>
          <p:cNvSpPr/>
          <p:nvPr/>
        </p:nvSpPr>
        <p:spPr>
          <a:xfrm>
            <a:off x="566928" y="1371600"/>
            <a:ext cx="3657600" cy="1463040"/>
          </a:xfrm>
          <a:prstGeom prst="rect">
            <a:avLst/>
          </a:prstGeom>
          <a:noFill/>
          <a:ln/>
        </p:spPr>
        <p:txBody>
          <a:bodyPr wrap="square" lIns="0" tIns="0" rIns="0" bIns="0" rtlCol="0" anchor="ctr"/>
          <a:lstStyle/>
          <a:p>
            <a:pPr indent="0" marL="0">
              <a:buNone/>
            </a:pPr>
            <a:r>
              <a:rPr lang="en-US" sz="9600" b="1" dirty="0">
                <a:solidFill>
                  <a:srgbClr val="00A08C"/>
                </a:solidFill>
                <a:latin typeface="Cambria" pitchFamily="34" charset="0"/>
                <a:ea typeface="Cambria" pitchFamily="34" charset="-122"/>
                <a:cs typeface="Cambria" pitchFamily="34" charset="-120"/>
              </a:rPr>
              <a:t>01</a:t>
            </a:r>
            <a:endParaRPr lang="en-US" sz="9600" dirty="0"/>
          </a:p>
        </p:txBody>
      </p:sp>
      <p:sp>
        <p:nvSpPr>
          <p:cNvPr id="5" name="Text 3"/>
          <p:cNvSpPr/>
          <p:nvPr/>
        </p:nvSpPr>
        <p:spPr>
          <a:xfrm>
            <a:off x="566928" y="288036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Retrieval-Augmented Generation</a:t>
            </a:r>
            <a:endParaRPr lang="en-US" sz="4400" dirty="0"/>
          </a:p>
        </p:txBody>
      </p:sp>
      <p:sp>
        <p:nvSpPr>
          <p:cNvPr id="6" name="Text 4"/>
          <p:cNvSpPr/>
          <p:nvPr/>
        </p:nvSpPr>
        <p:spPr>
          <a:xfrm>
            <a:off x="566928" y="3749040"/>
            <a:ext cx="7680960" cy="457200"/>
          </a:xfrm>
          <a:prstGeom prst="rect">
            <a:avLst/>
          </a:prstGeom>
          <a:noFill/>
          <a:ln/>
        </p:spPr>
        <p:txBody>
          <a:bodyPr wrap="square" lIns="0" tIns="0" rIns="0" bIns="0" rtlCol="0" anchor="ctr"/>
          <a:lstStyle/>
          <a:p>
            <a:pPr indent="0" marL="0">
              <a:buNone/>
            </a:pPr>
            <a:r>
              <a:rPr lang="en-US" sz="1800" dirty="0">
                <a:solidFill>
                  <a:srgbClr val="AEB6DC"/>
                </a:solidFill>
                <a:latin typeface="Calibri" pitchFamily="34" charset="0"/>
                <a:ea typeface="Calibri" pitchFamily="34" charset="-122"/>
                <a:cs typeface="Calibri" pitchFamily="34" charset="-120"/>
              </a:rPr>
              <a:t>Answer from evidence you fetched, not from memory you might be inventing.</a:t>
            </a:r>
            <a:endParaRPr lang="en-US" sz="1800" dirty="0"/>
          </a:p>
        </p:txBody>
      </p:sp>
      <p:sp>
        <p:nvSpPr>
          <p:cNvPr id="7" name="Text 5"/>
          <p:cNvSpPr/>
          <p:nvPr/>
        </p:nvSpPr>
        <p:spPr>
          <a:xfrm>
            <a:off x="621792" y="4434840"/>
            <a:ext cx="7680960" cy="1463040"/>
          </a:xfrm>
          <a:prstGeom prst="rect">
            <a:avLst/>
          </a:prstGeom>
          <a:noFill/>
          <a:ln/>
        </p:spPr>
        <p:txBody>
          <a:bodyPr wrap="square" lIns="0" tIns="0" rIns="0" bIns="0" rtlCol="0" anchor="ctr"/>
          <a:lstStyle/>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The open-book exam analogy</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Indexing: chunk, embed, store</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Query: search, rank, ground</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Measuring whether it works</a:t>
            </a:r>
            <a:endParaRPr lang="en-US" sz="1500" dirty="0"/>
          </a:p>
        </p:txBody>
      </p:sp>
      <p:sp>
        <p:nvSpPr>
          <p:cNvPr id="8" name="Text 6"/>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AEB6DC"/>
                </a:solidFill>
                <a:latin typeface="Calibri" pitchFamily="34" charset="0"/>
                <a:ea typeface="Calibri" pitchFamily="34" charset="-122"/>
                <a:cs typeface="Calibri" pitchFamily="34" charset="-120"/>
              </a:rPr>
              <a:t>Part 1 · RAG</a:t>
            </a:r>
            <a:endParaRPr lang="en-US" sz="1000" dirty="0"/>
          </a:p>
        </p:txBody>
      </p:sp>
      <p:sp>
        <p:nvSpPr>
          <p:cNvPr id="9" name="Text 7"/>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AEB6D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00A08C"/>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Why retrieval, not retraining</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Three ways to give a model knowledge it wasn't born with — and why one of them wins for facts.</a:t>
            </a:r>
            <a:endParaRPr lang="en-US" sz="1500" dirty="0"/>
          </a:p>
        </p:txBody>
      </p:sp>
      <p:sp>
        <p:nvSpPr>
          <p:cNvPr id="6" name="Shape 4"/>
          <p:cNvSpPr/>
          <p:nvPr/>
        </p:nvSpPr>
        <p:spPr>
          <a:xfrm>
            <a:off x="566928" y="1481328"/>
            <a:ext cx="3490874" cy="4187952"/>
          </a:xfrm>
          <a:prstGeom prst="roundRect">
            <a:avLst>
              <a:gd name="adj" fmla="val 1310"/>
            </a:avLst>
          </a:prstGeom>
          <a:solidFill>
            <a:srgbClr val="FFFFFF"/>
          </a:solidFill>
          <a:ln w="15875">
            <a:solidFill>
              <a:srgbClr val="C8496B"/>
            </a:solidFill>
            <a:prstDash val="solid"/>
          </a:ln>
        </p:spPr>
      </p:sp>
      <p:sp>
        <p:nvSpPr>
          <p:cNvPr id="7" name="Shape 5"/>
          <p:cNvSpPr/>
          <p:nvPr/>
        </p:nvSpPr>
        <p:spPr>
          <a:xfrm>
            <a:off x="566928" y="1481328"/>
            <a:ext cx="3490874" cy="566928"/>
          </a:xfrm>
          <a:prstGeom prst="roundRect">
            <a:avLst>
              <a:gd name="adj" fmla="val 8065"/>
            </a:avLst>
          </a:prstGeom>
          <a:solidFill>
            <a:srgbClr val="FBDEE6"/>
          </a:solidFill>
          <a:ln w="12700">
            <a:solidFill>
              <a:srgbClr val="FBDEE6"/>
            </a:solidFill>
            <a:prstDash val="solid"/>
          </a:ln>
        </p:spPr>
      </p:sp>
      <p:sp>
        <p:nvSpPr>
          <p:cNvPr id="8" name="Shape 6"/>
          <p:cNvSpPr/>
          <p:nvPr/>
        </p:nvSpPr>
        <p:spPr>
          <a:xfrm>
            <a:off x="566928" y="1755648"/>
            <a:ext cx="3490874" cy="292608"/>
          </a:xfrm>
          <a:prstGeom prst="rect">
            <a:avLst/>
          </a:prstGeom>
          <a:solidFill>
            <a:srgbClr val="FBDEE6"/>
          </a:solidFill>
          <a:ln w="12700">
            <a:solidFill>
              <a:srgbClr val="FBDEE6"/>
            </a:solidFill>
            <a:prstDash val="solid"/>
          </a:ln>
        </p:spPr>
      </p:sp>
      <p:sp>
        <p:nvSpPr>
          <p:cNvPr id="9" name="Text 7"/>
          <p:cNvSpPr/>
          <p:nvPr/>
        </p:nvSpPr>
        <p:spPr>
          <a:xfrm>
            <a:off x="768096" y="1554480"/>
            <a:ext cx="3088538" cy="182880"/>
          </a:xfrm>
          <a:prstGeom prst="rect">
            <a:avLst/>
          </a:prstGeom>
          <a:noFill/>
          <a:ln/>
        </p:spPr>
        <p:txBody>
          <a:bodyPr wrap="square" lIns="0" tIns="0" rIns="0" bIns="0" rtlCol="0" anchor="ctr"/>
          <a:lstStyle/>
          <a:p>
            <a:pPr indent="0" marL="0">
              <a:buNone/>
            </a:pPr>
            <a:r>
              <a:rPr lang="en-US" sz="950" b="1" spc="120" kern="0" dirty="0">
                <a:solidFill>
                  <a:srgbClr val="C8496B"/>
                </a:solidFill>
                <a:latin typeface="Calibri" pitchFamily="34" charset="0"/>
                <a:ea typeface="Calibri" pitchFamily="34" charset="-122"/>
                <a:cs typeface="Calibri" pitchFamily="34" charset="-120"/>
              </a:rPr>
              <a:t>OPTION A</a:t>
            </a:r>
            <a:endParaRPr lang="en-US" sz="950" dirty="0"/>
          </a:p>
        </p:txBody>
      </p:sp>
      <p:sp>
        <p:nvSpPr>
          <p:cNvPr id="10" name="Text 8"/>
          <p:cNvSpPr/>
          <p:nvPr/>
        </p:nvSpPr>
        <p:spPr>
          <a:xfrm>
            <a:off x="768096"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Fine-tuning</a:t>
            </a:r>
            <a:endParaRPr lang="en-US" sz="1600" dirty="0"/>
          </a:p>
        </p:txBody>
      </p:sp>
      <p:sp>
        <p:nvSpPr>
          <p:cNvPr id="11" name="Text 9"/>
          <p:cNvSpPr/>
          <p:nvPr/>
        </p:nvSpPr>
        <p:spPr>
          <a:xfrm>
            <a:off x="877824"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Teaches style, format and behaviour well</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Teaches facts badly — and expensively</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Every update means another training run</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No citations; you cannot audit an answer</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Stale the moment the source changes</a:t>
            </a:r>
            <a:endParaRPr lang="en-US" sz="1250" dirty="0"/>
          </a:p>
        </p:txBody>
      </p:sp>
      <p:sp>
        <p:nvSpPr>
          <p:cNvPr id="12" name="Text 10"/>
          <p:cNvSpPr/>
          <p:nvPr/>
        </p:nvSpPr>
        <p:spPr>
          <a:xfrm>
            <a:off x="768096" y="5285232"/>
            <a:ext cx="3088538" cy="274320"/>
          </a:xfrm>
          <a:prstGeom prst="rect">
            <a:avLst/>
          </a:prstGeom>
          <a:noFill/>
          <a:ln/>
        </p:spPr>
        <p:txBody>
          <a:bodyPr wrap="square" lIns="0" tIns="0" rIns="0" bIns="0" rtlCol="0" anchor="ctr"/>
          <a:lstStyle/>
          <a:p>
            <a:pPr indent="0" marL="0">
              <a:buNone/>
            </a:pPr>
            <a:r>
              <a:rPr lang="en-US" sz="1150" b="1" dirty="0">
                <a:solidFill>
                  <a:srgbClr val="C8496B"/>
                </a:solidFill>
                <a:latin typeface="Calibri" pitchFamily="34" charset="0"/>
                <a:ea typeface="Calibri" pitchFamily="34" charset="-122"/>
                <a:cs typeface="Calibri" pitchFamily="34" charset="-120"/>
              </a:rPr>
              <a:t>Use it to change how the model speaks</a:t>
            </a:r>
            <a:endParaRPr lang="en-US" sz="1150" dirty="0"/>
          </a:p>
        </p:txBody>
      </p:sp>
      <p:sp>
        <p:nvSpPr>
          <p:cNvPr id="13" name="Shape 11"/>
          <p:cNvSpPr/>
          <p:nvPr/>
        </p:nvSpPr>
        <p:spPr>
          <a:xfrm>
            <a:off x="4350410" y="1481328"/>
            <a:ext cx="3490874" cy="4187952"/>
          </a:xfrm>
          <a:prstGeom prst="roundRect">
            <a:avLst>
              <a:gd name="adj" fmla="val 1310"/>
            </a:avLst>
          </a:prstGeom>
          <a:solidFill>
            <a:srgbClr val="FFFFFF"/>
          </a:solidFill>
          <a:ln w="15875">
            <a:solidFill>
              <a:srgbClr val="7B5EA7"/>
            </a:solidFill>
            <a:prstDash val="solid"/>
          </a:ln>
        </p:spPr>
      </p:sp>
      <p:sp>
        <p:nvSpPr>
          <p:cNvPr id="14" name="Shape 12"/>
          <p:cNvSpPr/>
          <p:nvPr/>
        </p:nvSpPr>
        <p:spPr>
          <a:xfrm>
            <a:off x="4350410" y="1481328"/>
            <a:ext cx="3490874" cy="566928"/>
          </a:xfrm>
          <a:prstGeom prst="roundRect">
            <a:avLst>
              <a:gd name="adj" fmla="val 8065"/>
            </a:avLst>
          </a:prstGeom>
          <a:solidFill>
            <a:srgbClr val="EFE9F7"/>
          </a:solidFill>
          <a:ln w="12700">
            <a:solidFill>
              <a:srgbClr val="EFE9F7"/>
            </a:solidFill>
            <a:prstDash val="solid"/>
          </a:ln>
        </p:spPr>
      </p:sp>
      <p:sp>
        <p:nvSpPr>
          <p:cNvPr id="15" name="Shape 13"/>
          <p:cNvSpPr/>
          <p:nvPr/>
        </p:nvSpPr>
        <p:spPr>
          <a:xfrm>
            <a:off x="4350410" y="1755648"/>
            <a:ext cx="3490874" cy="292608"/>
          </a:xfrm>
          <a:prstGeom prst="rect">
            <a:avLst/>
          </a:prstGeom>
          <a:solidFill>
            <a:srgbClr val="EFE9F7"/>
          </a:solidFill>
          <a:ln w="12700">
            <a:solidFill>
              <a:srgbClr val="EFE9F7"/>
            </a:solidFill>
            <a:prstDash val="solid"/>
          </a:ln>
        </p:spPr>
      </p:sp>
      <p:sp>
        <p:nvSpPr>
          <p:cNvPr id="16" name="Text 14"/>
          <p:cNvSpPr/>
          <p:nvPr/>
        </p:nvSpPr>
        <p:spPr>
          <a:xfrm>
            <a:off x="4551578" y="1554480"/>
            <a:ext cx="3088538" cy="182880"/>
          </a:xfrm>
          <a:prstGeom prst="rect">
            <a:avLst/>
          </a:prstGeom>
          <a:noFill/>
          <a:ln/>
        </p:spPr>
        <p:txBody>
          <a:bodyPr wrap="square" lIns="0" tIns="0" rIns="0" bIns="0" rtlCol="0" anchor="ctr"/>
          <a:lstStyle/>
          <a:p>
            <a:pPr indent="0" marL="0">
              <a:buNone/>
            </a:pPr>
            <a:r>
              <a:rPr lang="en-US" sz="950" b="1" spc="120" kern="0" dirty="0">
                <a:solidFill>
                  <a:srgbClr val="7B5EA7"/>
                </a:solidFill>
                <a:latin typeface="Calibri" pitchFamily="34" charset="0"/>
                <a:ea typeface="Calibri" pitchFamily="34" charset="-122"/>
                <a:cs typeface="Calibri" pitchFamily="34" charset="-120"/>
              </a:rPr>
              <a:t>OPTION B</a:t>
            </a:r>
            <a:endParaRPr lang="en-US" sz="950" dirty="0"/>
          </a:p>
        </p:txBody>
      </p:sp>
      <p:sp>
        <p:nvSpPr>
          <p:cNvPr id="17" name="Text 15"/>
          <p:cNvSpPr/>
          <p:nvPr/>
        </p:nvSpPr>
        <p:spPr>
          <a:xfrm>
            <a:off x="4551578"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Stuff the context window</a:t>
            </a:r>
            <a:endParaRPr lang="en-US" sz="1600" dirty="0"/>
          </a:p>
        </p:txBody>
      </p:sp>
      <p:sp>
        <p:nvSpPr>
          <p:cNvPr id="18" name="Text 16"/>
          <p:cNvSpPr/>
          <p:nvPr/>
        </p:nvSpPr>
        <p:spPr>
          <a:xfrm>
            <a:off x="4661306"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Simple: paste everything into the prompt</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Breaks past a few hundred pages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Cost and latency scale with every token</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Accuracy drops in the middle of long inputs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Fine as a baseline to beat</a:t>
            </a:r>
            <a:endParaRPr lang="en-US" sz="1250" dirty="0"/>
          </a:p>
        </p:txBody>
      </p:sp>
      <p:sp>
        <p:nvSpPr>
          <p:cNvPr id="19" name="Text 17"/>
          <p:cNvSpPr/>
          <p:nvPr/>
        </p:nvSpPr>
        <p:spPr>
          <a:xfrm>
            <a:off x="4551578" y="5285232"/>
            <a:ext cx="3088538" cy="274320"/>
          </a:xfrm>
          <a:prstGeom prst="rect">
            <a:avLst/>
          </a:prstGeom>
          <a:noFill/>
          <a:ln/>
        </p:spPr>
        <p:txBody>
          <a:bodyPr wrap="square" lIns="0" tIns="0" rIns="0" bIns="0" rtlCol="0" anchor="ctr"/>
          <a:lstStyle/>
          <a:p>
            <a:pPr indent="0" marL="0">
              <a:buNone/>
            </a:pPr>
            <a:r>
              <a:rPr lang="en-US" sz="1150" b="1" dirty="0">
                <a:solidFill>
                  <a:srgbClr val="7B5EA7"/>
                </a:solidFill>
                <a:latin typeface="Calibri" pitchFamily="34" charset="0"/>
                <a:ea typeface="Calibri" pitchFamily="34" charset="-122"/>
                <a:cs typeface="Calibri" pitchFamily="34" charset="-120"/>
              </a:rPr>
              <a:t>Use it when the corpus is genuinely small</a:t>
            </a:r>
            <a:endParaRPr lang="en-US" sz="1150" dirty="0"/>
          </a:p>
        </p:txBody>
      </p:sp>
      <p:sp>
        <p:nvSpPr>
          <p:cNvPr id="20" name="Shape 18"/>
          <p:cNvSpPr/>
          <p:nvPr/>
        </p:nvSpPr>
        <p:spPr>
          <a:xfrm>
            <a:off x="8133893" y="1481328"/>
            <a:ext cx="3490874" cy="4187952"/>
          </a:xfrm>
          <a:prstGeom prst="roundRect">
            <a:avLst>
              <a:gd name="adj" fmla="val 1310"/>
            </a:avLst>
          </a:prstGeom>
          <a:solidFill>
            <a:srgbClr val="FFFFFF"/>
          </a:solidFill>
          <a:ln w="15875">
            <a:solidFill>
              <a:srgbClr val="00705F"/>
            </a:solidFill>
            <a:prstDash val="solid"/>
          </a:ln>
        </p:spPr>
      </p:sp>
      <p:sp>
        <p:nvSpPr>
          <p:cNvPr id="21" name="Shape 19"/>
          <p:cNvSpPr/>
          <p:nvPr/>
        </p:nvSpPr>
        <p:spPr>
          <a:xfrm>
            <a:off x="8133893" y="1481328"/>
            <a:ext cx="3490874" cy="566928"/>
          </a:xfrm>
          <a:prstGeom prst="roundRect">
            <a:avLst>
              <a:gd name="adj" fmla="val 8065"/>
            </a:avLst>
          </a:prstGeom>
          <a:solidFill>
            <a:srgbClr val="D8F3EE"/>
          </a:solidFill>
          <a:ln w="12700">
            <a:solidFill>
              <a:srgbClr val="D8F3EE"/>
            </a:solidFill>
            <a:prstDash val="solid"/>
          </a:ln>
        </p:spPr>
      </p:sp>
      <p:sp>
        <p:nvSpPr>
          <p:cNvPr id="22" name="Shape 20"/>
          <p:cNvSpPr/>
          <p:nvPr/>
        </p:nvSpPr>
        <p:spPr>
          <a:xfrm>
            <a:off x="8133893" y="1755648"/>
            <a:ext cx="3490874" cy="292608"/>
          </a:xfrm>
          <a:prstGeom prst="rect">
            <a:avLst/>
          </a:prstGeom>
          <a:solidFill>
            <a:srgbClr val="D8F3EE"/>
          </a:solidFill>
          <a:ln w="12700">
            <a:solidFill>
              <a:srgbClr val="D8F3EE"/>
            </a:solidFill>
            <a:prstDash val="solid"/>
          </a:ln>
        </p:spPr>
      </p:sp>
      <p:sp>
        <p:nvSpPr>
          <p:cNvPr id="23" name="Text 21"/>
          <p:cNvSpPr/>
          <p:nvPr/>
        </p:nvSpPr>
        <p:spPr>
          <a:xfrm>
            <a:off x="8335061" y="1554480"/>
            <a:ext cx="3088538" cy="182880"/>
          </a:xfrm>
          <a:prstGeom prst="rect">
            <a:avLst/>
          </a:prstGeom>
          <a:noFill/>
          <a:ln/>
        </p:spPr>
        <p:txBody>
          <a:bodyPr wrap="square" lIns="0" tIns="0" rIns="0" bIns="0" rtlCol="0" anchor="ctr"/>
          <a:lstStyle/>
          <a:p>
            <a:pPr indent="0" marL="0">
              <a:buNone/>
            </a:pPr>
            <a:r>
              <a:rPr lang="en-US" sz="950" b="1" spc="120" kern="0" dirty="0">
                <a:solidFill>
                  <a:srgbClr val="00705F"/>
                </a:solidFill>
                <a:latin typeface="Calibri" pitchFamily="34" charset="0"/>
                <a:ea typeface="Calibri" pitchFamily="34" charset="-122"/>
                <a:cs typeface="Calibri" pitchFamily="34" charset="-120"/>
              </a:rPr>
              <a:t>OPTION C</a:t>
            </a:r>
            <a:endParaRPr lang="en-US" sz="950" dirty="0"/>
          </a:p>
        </p:txBody>
      </p:sp>
      <p:sp>
        <p:nvSpPr>
          <p:cNvPr id="24" name="Text 22"/>
          <p:cNvSpPr/>
          <p:nvPr/>
        </p:nvSpPr>
        <p:spPr>
          <a:xfrm>
            <a:off x="8335061"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RAG</a:t>
            </a:r>
            <a:endParaRPr lang="en-US" sz="1600" dirty="0"/>
          </a:p>
        </p:txBody>
      </p:sp>
      <p:sp>
        <p:nvSpPr>
          <p:cNvPr id="25" name="Text 23"/>
          <p:cNvSpPr/>
          <p:nvPr/>
        </p:nvSpPr>
        <p:spPr>
          <a:xfrm>
            <a:off x="8444789"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Fetch only the few passages that matter</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Update knowledge by updating the store</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Every claim traces to a source document</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Access control travels with the metadata</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Cheap: no gradients, only a search</a:t>
            </a:r>
            <a:endParaRPr lang="en-US" sz="1250" dirty="0"/>
          </a:p>
        </p:txBody>
      </p:sp>
      <p:sp>
        <p:nvSpPr>
          <p:cNvPr id="26" name="Text 24"/>
          <p:cNvSpPr/>
          <p:nvPr/>
        </p:nvSpPr>
        <p:spPr>
          <a:xfrm>
            <a:off x="8335061" y="5285232"/>
            <a:ext cx="3088538" cy="274320"/>
          </a:xfrm>
          <a:prstGeom prst="rect">
            <a:avLst/>
          </a:prstGeom>
          <a:noFill/>
          <a:ln/>
        </p:spPr>
        <p:txBody>
          <a:bodyPr wrap="square" lIns="0" tIns="0" rIns="0" bIns="0" rtlCol="0" anchor="ctr"/>
          <a:lstStyle/>
          <a:p>
            <a:pPr indent="0" marL="0">
              <a:buNone/>
            </a:pPr>
            <a:r>
              <a:rPr lang="en-US" sz="1150" b="1" dirty="0">
                <a:solidFill>
                  <a:srgbClr val="00705F"/>
                </a:solidFill>
                <a:latin typeface="Calibri" pitchFamily="34" charset="0"/>
                <a:ea typeface="Calibri" pitchFamily="34" charset="-122"/>
                <a:cs typeface="Calibri" pitchFamily="34" charset="-120"/>
              </a:rPr>
              <a:t>Use it to change what the model knows</a:t>
            </a:r>
            <a:endParaRPr lang="en-US" sz="1150" dirty="0"/>
          </a:p>
        </p:txBody>
      </p:sp>
      <p:sp>
        <p:nvSpPr>
          <p:cNvPr id="27" name="Shape 25"/>
          <p:cNvSpPr/>
          <p:nvPr/>
        </p:nvSpPr>
        <p:spPr>
          <a:xfrm>
            <a:off x="566928" y="5870448"/>
            <a:ext cx="11057839" cy="512064"/>
          </a:xfrm>
          <a:prstGeom prst="roundRect">
            <a:avLst>
              <a:gd name="adj" fmla="val 14286"/>
            </a:avLst>
          </a:prstGeom>
          <a:solidFill>
            <a:srgbClr val="E7EAFB"/>
          </a:solidFill>
          <a:ln/>
        </p:spPr>
      </p:sp>
      <p:sp>
        <p:nvSpPr>
          <p:cNvPr id="28" name="Text 26"/>
          <p:cNvSpPr/>
          <p:nvPr/>
        </p:nvSpPr>
        <p:spPr>
          <a:xfrm>
            <a:off x="804672" y="5870448"/>
            <a:ext cx="10582351" cy="512064"/>
          </a:xfrm>
          <a:prstGeom prst="rect">
            <a:avLst/>
          </a:prstGeom>
          <a:noFill/>
          <a:ln/>
        </p:spPr>
        <p:txBody>
          <a:bodyPr wrap="square" lIns="0" tIns="0" rIns="0" bIns="0" rtlCol="0" anchor="ctr"/>
          <a:lstStyle/>
          <a:p>
            <a:pPr indent="0" marL="0">
              <a:buNone/>
            </a:pPr>
            <a:r>
              <a:rPr lang="en-US" sz="1350" b="1" dirty="0">
                <a:solidFill>
                  <a:srgbClr val="2B3583"/>
                </a:solidFill>
                <a:latin typeface="Calibri" pitchFamily="34" charset="0"/>
                <a:ea typeface="Calibri" pitchFamily="34" charset="-122"/>
                <a:cs typeface="Calibri" pitchFamily="34" charset="-120"/>
              </a:rPr>
              <a:t>Rule of thumb — fine-tune for behaviour, retrieve for facts. In practice you often do both.</a:t>
            </a:r>
            <a:endParaRPr lang="en-US" sz="1350" dirty="0"/>
          </a:p>
        </p:txBody>
      </p:sp>
      <p:sp>
        <p:nvSpPr>
          <p:cNvPr id="29" name="Text 27"/>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30" name="Text 28"/>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00A08C"/>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The whole pipeline, end to end</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Twelve steps in three phases. Everything else in Part 1 is a zoom-in on one of these boxes.</a:t>
            </a:r>
            <a:endParaRPr lang="en-US" sz="1500" dirty="0"/>
          </a:p>
        </p:txBody>
      </p:sp>
      <p:pic>
        <p:nvPicPr>
          <p:cNvPr id="6" name="Image 0" descr="img/rag_pipeline.png">    </p:cNvPr>
          <p:cNvPicPr>
            <a:picLocks noChangeAspect="1"/>
          </p:cNvPicPr>
          <p:nvPr/>
        </p:nvPicPr>
        <p:blipFill>
          <a:blip r:embed="rId1"/>
          <a:stretch>
            <a:fillRect/>
          </a:stretch>
        </p:blipFill>
        <p:spPr>
          <a:xfrm>
            <a:off x="2341266" y="1481328"/>
            <a:ext cx="7509164"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7B5EA7"/>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Chunking: the decision that quietly sets your ceiling</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Retrieval can only return chunks you created. Bad splits cannot be recovered downstream.</a:t>
            </a:r>
            <a:endParaRPr lang="en-US" sz="1500" dirty="0"/>
          </a:p>
        </p:txBody>
      </p:sp>
      <p:pic>
        <p:nvPicPr>
          <p:cNvPr id="6" name="Image 0" descr="img/chunking.png">    </p:cNvPr>
          <p:cNvPicPr>
            <a:picLocks noChangeAspect="1"/>
          </p:cNvPicPr>
          <p:nvPr/>
        </p:nvPicPr>
        <p:blipFill>
          <a:blip r:embed="rId1"/>
          <a:stretch>
            <a:fillRect/>
          </a:stretch>
        </p:blipFill>
        <p:spPr>
          <a:xfrm>
            <a:off x="1068999" y="1481328"/>
            <a:ext cx="10053697"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4C5FD5"/>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Embeddings: turning meaning into geometry</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An embedding model maps text to a point. Similar meaning, nearby point — regardless of shared words.</a:t>
            </a:r>
            <a:endParaRPr lang="en-US" sz="1500" dirty="0"/>
          </a:p>
        </p:txBody>
      </p:sp>
      <p:pic>
        <p:nvPicPr>
          <p:cNvPr id="6" name="Image 0" descr="img/embeddings.png">    </p:cNvPr>
          <p:cNvPicPr>
            <a:picLocks noChangeAspect="1"/>
          </p:cNvPicPr>
          <p:nvPr/>
        </p:nvPicPr>
        <p:blipFill>
          <a:blip r:embed="rId1"/>
          <a:stretch>
            <a:fillRect/>
          </a:stretch>
        </p:blipFill>
        <p:spPr>
          <a:xfrm>
            <a:off x="764341" y="1481328"/>
            <a:ext cx="10663012"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00705F"/>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Inside the vector store</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It is a search index, not a database of truth — three things determine whether it performs.</a:t>
            </a:r>
            <a:endParaRPr lang="en-US" sz="1500" dirty="0"/>
          </a:p>
        </p:txBody>
      </p:sp>
      <p:sp>
        <p:nvSpPr>
          <p:cNvPr id="6" name="Shape 4"/>
          <p:cNvSpPr/>
          <p:nvPr/>
        </p:nvSpPr>
        <p:spPr>
          <a:xfrm>
            <a:off x="566928" y="1481328"/>
            <a:ext cx="3490874" cy="4187952"/>
          </a:xfrm>
          <a:prstGeom prst="roundRect">
            <a:avLst>
              <a:gd name="adj" fmla="val 1310"/>
            </a:avLst>
          </a:prstGeom>
          <a:solidFill>
            <a:srgbClr val="FFFFFF"/>
          </a:solidFill>
          <a:ln w="15875">
            <a:solidFill>
              <a:srgbClr val="00A08C"/>
            </a:solidFill>
            <a:prstDash val="solid"/>
          </a:ln>
        </p:spPr>
      </p:sp>
      <p:sp>
        <p:nvSpPr>
          <p:cNvPr id="7" name="Shape 5"/>
          <p:cNvSpPr/>
          <p:nvPr/>
        </p:nvSpPr>
        <p:spPr>
          <a:xfrm>
            <a:off x="566928" y="1481328"/>
            <a:ext cx="3490874" cy="566928"/>
          </a:xfrm>
          <a:prstGeom prst="roundRect">
            <a:avLst>
              <a:gd name="adj" fmla="val 8065"/>
            </a:avLst>
          </a:prstGeom>
          <a:solidFill>
            <a:srgbClr val="D8F3EE"/>
          </a:solidFill>
          <a:ln w="12700">
            <a:solidFill>
              <a:srgbClr val="D8F3EE"/>
            </a:solidFill>
            <a:prstDash val="solid"/>
          </a:ln>
        </p:spPr>
      </p:sp>
      <p:sp>
        <p:nvSpPr>
          <p:cNvPr id="8" name="Shape 6"/>
          <p:cNvSpPr/>
          <p:nvPr/>
        </p:nvSpPr>
        <p:spPr>
          <a:xfrm>
            <a:off x="566928" y="1755648"/>
            <a:ext cx="3490874" cy="292608"/>
          </a:xfrm>
          <a:prstGeom prst="rect">
            <a:avLst/>
          </a:prstGeom>
          <a:solidFill>
            <a:srgbClr val="D8F3EE"/>
          </a:solidFill>
          <a:ln w="12700">
            <a:solidFill>
              <a:srgbClr val="D8F3EE"/>
            </a:solidFill>
            <a:prstDash val="solid"/>
          </a:ln>
        </p:spPr>
      </p:sp>
      <p:sp>
        <p:nvSpPr>
          <p:cNvPr id="9" name="Text 7"/>
          <p:cNvSpPr/>
          <p:nvPr/>
        </p:nvSpPr>
        <p:spPr>
          <a:xfrm>
            <a:off x="768096" y="1554480"/>
            <a:ext cx="3088538" cy="182880"/>
          </a:xfrm>
          <a:prstGeom prst="rect">
            <a:avLst/>
          </a:prstGeom>
          <a:noFill/>
          <a:ln/>
        </p:spPr>
        <p:txBody>
          <a:bodyPr wrap="square" lIns="0" tIns="0" rIns="0" bIns="0" rtlCol="0" anchor="ctr"/>
          <a:lstStyle/>
          <a:p>
            <a:pPr indent="0" marL="0">
              <a:buNone/>
            </a:pPr>
            <a:r>
              <a:rPr lang="en-US" sz="950" b="1" spc="120" kern="0" dirty="0">
                <a:solidFill>
                  <a:srgbClr val="00A08C"/>
                </a:solidFill>
                <a:latin typeface="Calibri" pitchFamily="34" charset="0"/>
                <a:ea typeface="Calibri" pitchFamily="34" charset="-122"/>
                <a:cs typeface="Calibri" pitchFamily="34" charset="-120"/>
              </a:rPr>
              <a:t>WHAT IS STORED</a:t>
            </a:r>
            <a:endParaRPr lang="en-US" sz="950" dirty="0"/>
          </a:p>
        </p:txBody>
      </p:sp>
      <p:sp>
        <p:nvSpPr>
          <p:cNvPr id="10" name="Text 8"/>
          <p:cNvSpPr/>
          <p:nvPr/>
        </p:nvSpPr>
        <p:spPr>
          <a:xfrm>
            <a:off x="768096"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One row per chunk</a:t>
            </a:r>
            <a:endParaRPr lang="en-US" sz="1600" dirty="0"/>
          </a:p>
        </p:txBody>
      </p:sp>
      <p:sp>
        <p:nvSpPr>
          <p:cNvPr id="11" name="Text 9"/>
          <p:cNvSpPr/>
          <p:nvPr/>
        </p:nvSpPr>
        <p:spPr>
          <a:xfrm>
            <a:off x="877824"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id — stable, so you can re-index safely</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vector — the embedding, e.g. 768 floats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text — the chunk itself, returned verbatim</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metadata — source, section, date, ACL tags</a:t>
            </a:r>
            <a:endParaRPr lang="en-US" sz="1250" dirty="0"/>
          </a:p>
        </p:txBody>
      </p:sp>
      <p:sp>
        <p:nvSpPr>
          <p:cNvPr id="12" name="Text 10"/>
          <p:cNvSpPr/>
          <p:nvPr/>
        </p:nvSpPr>
        <p:spPr>
          <a:xfrm>
            <a:off x="768096" y="5285232"/>
            <a:ext cx="3088538" cy="274320"/>
          </a:xfrm>
          <a:prstGeom prst="rect">
            <a:avLst/>
          </a:prstGeom>
          <a:noFill/>
          <a:ln/>
        </p:spPr>
        <p:txBody>
          <a:bodyPr wrap="square" lIns="0" tIns="0" rIns="0" bIns="0" rtlCol="0" anchor="ctr"/>
          <a:lstStyle/>
          <a:p>
            <a:pPr indent="0" marL="0">
              <a:buNone/>
            </a:pPr>
            <a:r>
              <a:rPr lang="en-US" sz="1150" b="1" dirty="0">
                <a:solidFill>
                  <a:srgbClr val="00A08C"/>
                </a:solidFill>
                <a:latin typeface="Calibri" pitchFamily="34" charset="0"/>
                <a:ea typeface="Calibri" pitchFamily="34" charset="-122"/>
                <a:cs typeface="Calibri" pitchFamily="34" charset="-120"/>
              </a:rPr>
              <a:t>Metadata is not optional</a:t>
            </a:r>
            <a:endParaRPr lang="en-US" sz="1150" dirty="0"/>
          </a:p>
        </p:txBody>
      </p:sp>
      <p:sp>
        <p:nvSpPr>
          <p:cNvPr id="13" name="Shape 11"/>
          <p:cNvSpPr/>
          <p:nvPr/>
        </p:nvSpPr>
        <p:spPr>
          <a:xfrm>
            <a:off x="4350410" y="1481328"/>
            <a:ext cx="3490874" cy="4187952"/>
          </a:xfrm>
          <a:prstGeom prst="roundRect">
            <a:avLst>
              <a:gd name="adj" fmla="val 1310"/>
            </a:avLst>
          </a:prstGeom>
          <a:solidFill>
            <a:srgbClr val="FFFFFF"/>
          </a:solidFill>
          <a:ln w="15875">
            <a:solidFill>
              <a:srgbClr val="7B5EA7"/>
            </a:solidFill>
            <a:prstDash val="solid"/>
          </a:ln>
        </p:spPr>
      </p:sp>
      <p:sp>
        <p:nvSpPr>
          <p:cNvPr id="14" name="Shape 12"/>
          <p:cNvSpPr/>
          <p:nvPr/>
        </p:nvSpPr>
        <p:spPr>
          <a:xfrm>
            <a:off x="4350410" y="1481328"/>
            <a:ext cx="3490874" cy="566928"/>
          </a:xfrm>
          <a:prstGeom prst="roundRect">
            <a:avLst>
              <a:gd name="adj" fmla="val 8065"/>
            </a:avLst>
          </a:prstGeom>
          <a:solidFill>
            <a:srgbClr val="EFE9F7"/>
          </a:solidFill>
          <a:ln w="12700">
            <a:solidFill>
              <a:srgbClr val="EFE9F7"/>
            </a:solidFill>
            <a:prstDash val="solid"/>
          </a:ln>
        </p:spPr>
      </p:sp>
      <p:sp>
        <p:nvSpPr>
          <p:cNvPr id="15" name="Shape 13"/>
          <p:cNvSpPr/>
          <p:nvPr/>
        </p:nvSpPr>
        <p:spPr>
          <a:xfrm>
            <a:off x="4350410" y="1755648"/>
            <a:ext cx="3490874" cy="292608"/>
          </a:xfrm>
          <a:prstGeom prst="rect">
            <a:avLst/>
          </a:prstGeom>
          <a:solidFill>
            <a:srgbClr val="EFE9F7"/>
          </a:solidFill>
          <a:ln w="12700">
            <a:solidFill>
              <a:srgbClr val="EFE9F7"/>
            </a:solidFill>
            <a:prstDash val="solid"/>
          </a:ln>
        </p:spPr>
      </p:sp>
      <p:sp>
        <p:nvSpPr>
          <p:cNvPr id="16" name="Text 14"/>
          <p:cNvSpPr/>
          <p:nvPr/>
        </p:nvSpPr>
        <p:spPr>
          <a:xfrm>
            <a:off x="4551578" y="1554480"/>
            <a:ext cx="3088538" cy="182880"/>
          </a:xfrm>
          <a:prstGeom prst="rect">
            <a:avLst/>
          </a:prstGeom>
          <a:noFill/>
          <a:ln/>
        </p:spPr>
        <p:txBody>
          <a:bodyPr wrap="square" lIns="0" tIns="0" rIns="0" bIns="0" rtlCol="0" anchor="ctr"/>
          <a:lstStyle/>
          <a:p>
            <a:pPr indent="0" marL="0">
              <a:buNone/>
            </a:pPr>
            <a:r>
              <a:rPr lang="en-US" sz="950" b="1" spc="120" kern="0" dirty="0">
                <a:solidFill>
                  <a:srgbClr val="7B5EA7"/>
                </a:solidFill>
                <a:latin typeface="Calibri" pitchFamily="34" charset="0"/>
                <a:ea typeface="Calibri" pitchFamily="34" charset="-122"/>
                <a:cs typeface="Calibri" pitchFamily="34" charset="-120"/>
              </a:rPr>
              <a:t>HOW IT SEARCHES</a:t>
            </a:r>
            <a:endParaRPr lang="en-US" sz="950" dirty="0"/>
          </a:p>
        </p:txBody>
      </p:sp>
      <p:sp>
        <p:nvSpPr>
          <p:cNvPr id="17" name="Text 15"/>
          <p:cNvSpPr/>
          <p:nvPr/>
        </p:nvSpPr>
        <p:spPr>
          <a:xfrm>
            <a:off x="4551578"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Approximate nearest neighbour</a:t>
            </a:r>
            <a:endParaRPr lang="en-US" sz="1600" dirty="0"/>
          </a:p>
        </p:txBody>
      </p:sp>
      <p:sp>
        <p:nvSpPr>
          <p:cNvPr id="18" name="Text 16"/>
          <p:cNvSpPr/>
          <p:nvPr/>
        </p:nvSpPr>
        <p:spPr>
          <a:xfrm>
            <a:off x="4661306"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Exact scan is O(n) — fine to ~50k chunks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HNSW: graph index, fast, memory-hungry</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IVF / PQ: clustered + compressed, scales bigger</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You trade a little recall for a lot of speed</a:t>
            </a:r>
            <a:endParaRPr lang="en-US" sz="1250" dirty="0"/>
          </a:p>
        </p:txBody>
      </p:sp>
      <p:sp>
        <p:nvSpPr>
          <p:cNvPr id="19" name="Text 17"/>
          <p:cNvSpPr/>
          <p:nvPr/>
        </p:nvSpPr>
        <p:spPr>
          <a:xfrm>
            <a:off x="4551578" y="5285232"/>
            <a:ext cx="3088538" cy="274320"/>
          </a:xfrm>
          <a:prstGeom prst="rect">
            <a:avLst/>
          </a:prstGeom>
          <a:noFill/>
          <a:ln/>
        </p:spPr>
        <p:txBody>
          <a:bodyPr wrap="square" lIns="0" tIns="0" rIns="0" bIns="0" rtlCol="0" anchor="ctr"/>
          <a:lstStyle/>
          <a:p>
            <a:pPr indent="0" marL="0">
              <a:buNone/>
            </a:pPr>
            <a:r>
              <a:rPr lang="en-US" sz="1150" b="1" dirty="0">
                <a:solidFill>
                  <a:srgbClr val="7B5EA7"/>
                </a:solidFill>
                <a:latin typeface="Calibri" pitchFamily="34" charset="0"/>
                <a:ea typeface="Calibri" pitchFamily="34" charset="-122"/>
                <a:cs typeface="Calibri" pitchFamily="34" charset="-120"/>
              </a:rPr>
              <a:t>Tune ef_search / nprobe, then measure recall</a:t>
            </a:r>
            <a:endParaRPr lang="en-US" sz="1150" dirty="0"/>
          </a:p>
        </p:txBody>
      </p:sp>
      <p:sp>
        <p:nvSpPr>
          <p:cNvPr id="20" name="Shape 18"/>
          <p:cNvSpPr/>
          <p:nvPr/>
        </p:nvSpPr>
        <p:spPr>
          <a:xfrm>
            <a:off x="8133893" y="1481328"/>
            <a:ext cx="3490874" cy="4187952"/>
          </a:xfrm>
          <a:prstGeom prst="roundRect">
            <a:avLst>
              <a:gd name="adj" fmla="val 1310"/>
            </a:avLst>
          </a:prstGeom>
          <a:solidFill>
            <a:srgbClr val="FFFFFF"/>
          </a:solidFill>
          <a:ln w="15875">
            <a:solidFill>
              <a:srgbClr val="2B3583"/>
            </a:solidFill>
            <a:prstDash val="solid"/>
          </a:ln>
        </p:spPr>
      </p:sp>
      <p:sp>
        <p:nvSpPr>
          <p:cNvPr id="21" name="Shape 19"/>
          <p:cNvSpPr/>
          <p:nvPr/>
        </p:nvSpPr>
        <p:spPr>
          <a:xfrm>
            <a:off x="8133893" y="1481328"/>
            <a:ext cx="3490874" cy="566928"/>
          </a:xfrm>
          <a:prstGeom prst="roundRect">
            <a:avLst>
              <a:gd name="adj" fmla="val 8065"/>
            </a:avLst>
          </a:prstGeom>
          <a:solidFill>
            <a:srgbClr val="E7EAFB"/>
          </a:solidFill>
          <a:ln w="12700">
            <a:solidFill>
              <a:srgbClr val="E7EAFB"/>
            </a:solidFill>
            <a:prstDash val="solid"/>
          </a:ln>
        </p:spPr>
      </p:sp>
      <p:sp>
        <p:nvSpPr>
          <p:cNvPr id="22" name="Shape 20"/>
          <p:cNvSpPr/>
          <p:nvPr/>
        </p:nvSpPr>
        <p:spPr>
          <a:xfrm>
            <a:off x="8133893" y="1755648"/>
            <a:ext cx="3490874" cy="292608"/>
          </a:xfrm>
          <a:prstGeom prst="rect">
            <a:avLst/>
          </a:prstGeom>
          <a:solidFill>
            <a:srgbClr val="E7EAFB"/>
          </a:solidFill>
          <a:ln w="12700">
            <a:solidFill>
              <a:srgbClr val="E7EAFB"/>
            </a:solidFill>
            <a:prstDash val="solid"/>
          </a:ln>
        </p:spPr>
      </p:sp>
      <p:sp>
        <p:nvSpPr>
          <p:cNvPr id="23" name="Text 21"/>
          <p:cNvSpPr/>
          <p:nvPr/>
        </p:nvSpPr>
        <p:spPr>
          <a:xfrm>
            <a:off x="8335061" y="1554480"/>
            <a:ext cx="3088538" cy="182880"/>
          </a:xfrm>
          <a:prstGeom prst="rect">
            <a:avLst/>
          </a:prstGeom>
          <a:noFill/>
          <a:ln/>
        </p:spPr>
        <p:txBody>
          <a:bodyPr wrap="square" lIns="0" tIns="0" rIns="0" bIns="0" rtlCol="0" anchor="ctr"/>
          <a:lstStyle/>
          <a:p>
            <a:pPr indent="0" marL="0">
              <a:buNone/>
            </a:pPr>
            <a:r>
              <a:rPr lang="en-US" sz="950" b="1" spc="120" kern="0" dirty="0">
                <a:solidFill>
                  <a:srgbClr val="2B3583"/>
                </a:solidFill>
                <a:latin typeface="Calibri" pitchFamily="34" charset="0"/>
                <a:ea typeface="Calibri" pitchFamily="34" charset="-122"/>
                <a:cs typeface="Calibri" pitchFamily="34" charset="-120"/>
              </a:rPr>
              <a:t>WHICH ONE</a:t>
            </a:r>
            <a:endParaRPr lang="en-US" sz="950" dirty="0"/>
          </a:p>
        </p:txBody>
      </p:sp>
      <p:sp>
        <p:nvSpPr>
          <p:cNvPr id="24" name="Text 22"/>
          <p:cNvSpPr/>
          <p:nvPr/>
        </p:nvSpPr>
        <p:spPr>
          <a:xfrm>
            <a:off x="8335061"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Pick for your stage</a:t>
            </a:r>
            <a:endParaRPr lang="en-US" sz="1600" dirty="0"/>
          </a:p>
        </p:txBody>
      </p:sp>
      <p:sp>
        <p:nvSpPr>
          <p:cNvPr id="25" name="Text 23"/>
          <p:cNvSpPr/>
          <p:nvPr/>
        </p:nvSpPr>
        <p:spPr>
          <a:xfrm>
            <a:off x="8444789"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Learning / prototype: Chroma, FAISS, LanceDB</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Already on Postgres: pgvector</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Managed at scale: Pinecone, Weaviate, Qdrant</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Hybrid + filters built in: Elasticsearch, Vespa</a:t>
            </a:r>
            <a:endParaRPr lang="en-US" sz="1250" dirty="0"/>
          </a:p>
        </p:txBody>
      </p:sp>
      <p:sp>
        <p:nvSpPr>
          <p:cNvPr id="26" name="Text 24"/>
          <p:cNvSpPr/>
          <p:nvPr/>
        </p:nvSpPr>
        <p:spPr>
          <a:xfrm>
            <a:off x="8335061" y="5285232"/>
            <a:ext cx="3088538" cy="274320"/>
          </a:xfrm>
          <a:prstGeom prst="rect">
            <a:avLst/>
          </a:prstGeom>
          <a:noFill/>
          <a:ln/>
        </p:spPr>
        <p:txBody>
          <a:bodyPr wrap="square" lIns="0" tIns="0" rIns="0" bIns="0" rtlCol="0" anchor="ctr"/>
          <a:lstStyle/>
          <a:p>
            <a:pPr indent="0" marL="0">
              <a:buNone/>
            </a:pPr>
            <a:r>
              <a:rPr lang="en-US" sz="1150" b="1" dirty="0">
                <a:solidFill>
                  <a:srgbClr val="2B3583"/>
                </a:solidFill>
                <a:latin typeface="Calibri" pitchFamily="34" charset="0"/>
                <a:ea typeface="Calibri" pitchFamily="34" charset="-122"/>
                <a:cs typeface="Calibri" pitchFamily="34" charset="-120"/>
              </a:rPr>
              <a:t>The store is rarely your bottleneck</a:t>
            </a:r>
            <a:endParaRPr lang="en-US" sz="1150" dirty="0"/>
          </a:p>
        </p:txBody>
      </p:sp>
      <p:sp>
        <p:nvSpPr>
          <p:cNvPr id="27" name="Shape 25"/>
          <p:cNvSpPr/>
          <p:nvPr/>
        </p:nvSpPr>
        <p:spPr>
          <a:xfrm>
            <a:off x="566928" y="5870448"/>
            <a:ext cx="11057839" cy="512064"/>
          </a:xfrm>
          <a:prstGeom prst="roundRect">
            <a:avLst>
              <a:gd name="adj" fmla="val 14286"/>
            </a:avLst>
          </a:prstGeom>
          <a:solidFill>
            <a:srgbClr val="E7EAFB"/>
          </a:solidFill>
          <a:ln/>
        </p:spPr>
      </p:sp>
      <p:sp>
        <p:nvSpPr>
          <p:cNvPr id="28" name="Text 26"/>
          <p:cNvSpPr/>
          <p:nvPr/>
        </p:nvSpPr>
        <p:spPr>
          <a:xfrm>
            <a:off x="804672" y="5870448"/>
            <a:ext cx="10582351" cy="512064"/>
          </a:xfrm>
          <a:prstGeom prst="rect">
            <a:avLst/>
          </a:prstGeom>
          <a:noFill/>
          <a:ln/>
        </p:spPr>
        <p:txBody>
          <a:bodyPr wrap="square" lIns="0" tIns="0" rIns="0" bIns="0" rtlCol="0" anchor="ctr"/>
          <a:lstStyle/>
          <a:p>
            <a:pPr indent="0" marL="0">
              <a:buNone/>
            </a:pPr>
            <a:r>
              <a:rPr lang="en-US" sz="1350" b="1" dirty="0">
                <a:solidFill>
                  <a:srgbClr val="2B3583"/>
                </a:solidFill>
                <a:latin typeface="Calibri" pitchFamily="34" charset="0"/>
                <a:ea typeface="Calibri" pitchFamily="34" charset="-122"/>
                <a:cs typeface="Calibri" pitchFamily="34" charset="-120"/>
              </a:rPr>
              <a:t>Filter before you search. A metadata filter (team = finance, date &gt; 2024) is cheaper and safer than hoping the ranker sorts it out.</a:t>
            </a:r>
            <a:endParaRPr lang="en-US" sz="1350" dirty="0"/>
          </a:p>
        </p:txBody>
      </p:sp>
      <p:sp>
        <p:nvSpPr>
          <p:cNvPr id="29" name="Text 27"/>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30" name="Text 28"/>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4C5FD5"/>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Retrieval: score everything, keep almost nothing</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Recall first, precision second. Fetch a wide shortlist cheaply, then spend compute narrowing it.</a:t>
            </a:r>
            <a:endParaRPr lang="en-US" sz="1500" dirty="0"/>
          </a:p>
        </p:txBody>
      </p:sp>
      <p:pic>
        <p:nvPicPr>
          <p:cNvPr id="6" name="Image 0" descr="img/retrieval.png">    </p:cNvPr>
          <p:cNvPicPr>
            <a:picLocks noChangeAspect="1"/>
          </p:cNvPicPr>
          <p:nvPr/>
        </p:nvPicPr>
        <p:blipFill>
          <a:blip r:embed="rId1"/>
          <a:stretch>
            <a:fillRect/>
          </a:stretch>
        </p:blipFill>
        <p:spPr>
          <a:xfrm>
            <a:off x="597732" y="1481328"/>
            <a:ext cx="10996232"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07B18"/>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Grounding the model in what you retrieved</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The prompt is where retrieval becomes an answer — and where hallucination is usually invited in.</a:t>
            </a:r>
            <a:endParaRPr lang="en-US" sz="1500" dirty="0"/>
          </a:p>
        </p:txBody>
      </p:sp>
      <p:sp>
        <p:nvSpPr>
          <p:cNvPr id="6" name="Shape 4"/>
          <p:cNvSpPr/>
          <p:nvPr/>
        </p:nvSpPr>
        <p:spPr>
          <a:xfrm>
            <a:off x="566928" y="1481328"/>
            <a:ext cx="7772400" cy="4846320"/>
          </a:xfrm>
          <a:prstGeom prst="roundRect">
            <a:avLst>
              <a:gd name="adj" fmla="val 1509"/>
            </a:avLst>
          </a:prstGeom>
          <a:solidFill>
            <a:srgbClr val="10142E"/>
          </a:solidFill>
          <a:ln/>
        </p:spPr>
      </p:sp>
      <p:sp>
        <p:nvSpPr>
          <p:cNvPr id="7" name="Text 5"/>
          <p:cNvSpPr/>
          <p:nvPr/>
        </p:nvSpPr>
        <p:spPr>
          <a:xfrm>
            <a:off x="841248" y="1664208"/>
            <a:ext cx="7223760" cy="4572000"/>
          </a:xfrm>
          <a:prstGeom prst="rect">
            <a:avLst/>
          </a:prstGeom>
          <a:noFill/>
          <a:ln/>
        </p:spPr>
        <p:txBody>
          <a:bodyPr wrap="square" lIns="0" tIns="0" rIns="0" bIns="0" rtlCol="0" anchor="t"/>
          <a:lstStyle/>
          <a:p>
            <a:pPr indent="0" marL="0">
              <a:buNone/>
            </a:pPr>
            <a:r>
              <a:rPr lang="en-US" sz="1250" dirty="0">
                <a:solidFill>
                  <a:srgbClr val="7C86B8"/>
                </a:solidFill>
                <a:latin typeface="Courier New" pitchFamily="34" charset="0"/>
                <a:ea typeface="Courier New" pitchFamily="34" charset="-122"/>
                <a:cs typeface="Courier New" pitchFamily="34" charset="-120"/>
              </a:rPr>
              <a:t># ---- system ----------------------------------------------</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You are a help desk assistant for Acme Corp.</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Answer ONLY from the CONTEXT block below.</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If the context does not contain the answer, reply:</a:t>
            </a:r>
            <a:endParaRPr lang="en-US" sz="1250" dirty="0"/>
          </a:p>
          <a:p>
            <a:pPr indent="0" marL="0">
              <a:buNone/>
            </a:pPr>
            <a:r>
              <a:rPr lang="en-US" sz="1250" dirty="0">
                <a:solidFill>
                  <a:srgbClr val="7EE8C8"/>
                </a:solidFill>
                <a:latin typeface="Courier New" pitchFamily="34" charset="0"/>
                <a:ea typeface="Courier New" pitchFamily="34" charset="-122"/>
                <a:cs typeface="Courier New" pitchFamily="34" charset="-120"/>
              </a:rPr>
              <a:t>  "I could not find that in the handbook."</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Cite the [source] tag after every factual sentence.</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Never use knowledge from your training data.</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7C86B8"/>
                </a:solidFill>
                <a:latin typeface="Courier New" pitchFamily="34" charset="0"/>
                <a:ea typeface="Courier New" pitchFamily="34" charset="-122"/>
                <a:cs typeface="Courier New" pitchFamily="34" charset="-120"/>
              </a:rPr>
              <a:t># ---- context (assembled from the top-k chunks) -----------</a:t>
            </a:r>
            <a:endParaRPr lang="en-US" sz="1250" dirty="0"/>
          </a:p>
          <a:p>
            <a:pPr indent="0" marL="0">
              <a:buNone/>
            </a:pPr>
            <a:r>
              <a:rPr lang="en-US" sz="1250" b="1" dirty="0">
                <a:solidFill>
                  <a:srgbClr val="8FA3FF"/>
                </a:solidFill>
                <a:latin typeface="Courier New" pitchFamily="34" charset="0"/>
                <a:ea typeface="Courier New" pitchFamily="34" charset="-122"/>
                <a:cs typeface="Courier New" pitchFamily="34" charset="-120"/>
              </a:rPr>
              <a:t>CONTEXT:</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[handbook.md #refunds]  Refunds are issued within 30 days</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of delivery for unopened items ...</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[policy-changelog.md #2025-03]  As of March 2025 the window</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was extended from 14 to 30 days ...</a:t>
            </a:r>
            <a:endParaRPr lang="en-US" sz="1250" dirty="0"/>
          </a:p>
          <a:p>
            <a:pPr indent="0" marL="0">
              <a:buNone/>
            </a:pPr>
            <a:r>
              <a:rPr lang="en-US" sz="1250" dirty="0">
                <a:solidFill>
                  <a:srgbClr val="E6E9FA"/>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7C86B8"/>
                </a:solidFill>
                <a:latin typeface="Courier New" pitchFamily="34" charset="0"/>
                <a:ea typeface="Courier New" pitchFamily="34" charset="-122"/>
                <a:cs typeface="Courier New" pitchFamily="34" charset="-120"/>
              </a:rPr>
              <a:t># ---- user -----------------------------------------------</a:t>
            </a:r>
            <a:endParaRPr lang="en-US" sz="1250" dirty="0"/>
          </a:p>
          <a:p>
            <a:pPr indent="0" marL="0">
              <a:buNone/>
            </a:pPr>
            <a:r>
              <a:rPr lang="en-US" sz="1250" b="1" dirty="0">
                <a:solidFill>
                  <a:srgbClr val="8FA3FF"/>
                </a:solidFill>
                <a:latin typeface="Courier New" pitchFamily="34" charset="0"/>
                <a:ea typeface="Courier New" pitchFamily="34" charset="-122"/>
                <a:cs typeface="Courier New" pitchFamily="34" charset="-120"/>
              </a:rPr>
              <a:t>QUESTION: How long do customers have to request a refund?</a:t>
            </a:r>
            <a:endParaRPr lang="en-US" sz="1250" dirty="0"/>
          </a:p>
        </p:txBody>
      </p:sp>
      <p:sp>
        <p:nvSpPr>
          <p:cNvPr id="8" name="Text 6"/>
          <p:cNvSpPr/>
          <p:nvPr/>
        </p:nvSpPr>
        <p:spPr>
          <a:xfrm>
            <a:off x="8723376" y="1481328"/>
            <a:ext cx="2901391" cy="329184"/>
          </a:xfrm>
          <a:prstGeom prst="rect">
            <a:avLst/>
          </a:prstGeom>
          <a:noFill/>
          <a:ln/>
        </p:spPr>
        <p:txBody>
          <a:bodyPr wrap="square" lIns="0" tIns="0" rIns="0" bIns="0" rtlCol="0" anchor="ctr"/>
          <a:lstStyle/>
          <a:p>
            <a:pPr indent="0" marL="0">
              <a:buNone/>
            </a:pPr>
            <a:r>
              <a:rPr lang="en-US" sz="1300" b="1" spc="120" kern="0" dirty="0">
                <a:solidFill>
                  <a:srgbClr val="E07B18"/>
                </a:solidFill>
                <a:latin typeface="Calibri" pitchFamily="34" charset="0"/>
                <a:ea typeface="Calibri" pitchFamily="34" charset="-122"/>
                <a:cs typeface="Calibri" pitchFamily="34" charset="-120"/>
              </a:rPr>
              <a:t>WHY EACH LINE EARNS ITS PLACE</a:t>
            </a:r>
            <a:endParaRPr lang="en-US" sz="1300" dirty="0"/>
          </a:p>
        </p:txBody>
      </p:sp>
      <p:sp>
        <p:nvSpPr>
          <p:cNvPr id="9" name="Shape 7"/>
          <p:cNvSpPr/>
          <p:nvPr/>
        </p:nvSpPr>
        <p:spPr>
          <a:xfrm>
            <a:off x="8723376" y="1938528"/>
            <a:ext cx="2901391" cy="950976"/>
          </a:xfrm>
          <a:prstGeom prst="roundRect">
            <a:avLst>
              <a:gd name="adj" fmla="val 5769"/>
            </a:avLst>
          </a:prstGeom>
          <a:solidFill>
            <a:srgbClr val="F4F6FC"/>
          </a:solidFill>
          <a:ln w="9525">
            <a:solidFill>
              <a:srgbClr val="D8DCEC"/>
            </a:solidFill>
            <a:prstDash val="solid"/>
          </a:ln>
        </p:spPr>
      </p:sp>
      <p:sp>
        <p:nvSpPr>
          <p:cNvPr id="10" name="Text 8"/>
          <p:cNvSpPr/>
          <p:nvPr/>
        </p:nvSpPr>
        <p:spPr>
          <a:xfrm>
            <a:off x="8906256" y="2029968"/>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An explicit escape hatch</a:t>
            </a:r>
            <a:endParaRPr lang="en-US" sz="1400" dirty="0"/>
          </a:p>
        </p:txBody>
      </p:sp>
      <p:sp>
        <p:nvSpPr>
          <p:cNvPr id="11" name="Text 9"/>
          <p:cNvSpPr/>
          <p:nvPr/>
        </p:nvSpPr>
        <p:spPr>
          <a:xfrm>
            <a:off x="8906256" y="2304288"/>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Without a sanctioned way to say "I don't know", the model will invent one.</a:t>
            </a:r>
            <a:endParaRPr lang="en-US" sz="1150" dirty="0"/>
          </a:p>
        </p:txBody>
      </p:sp>
      <p:sp>
        <p:nvSpPr>
          <p:cNvPr id="12" name="Shape 10"/>
          <p:cNvSpPr/>
          <p:nvPr/>
        </p:nvSpPr>
        <p:spPr>
          <a:xfrm>
            <a:off x="8723376" y="3054096"/>
            <a:ext cx="2901391" cy="950976"/>
          </a:xfrm>
          <a:prstGeom prst="roundRect">
            <a:avLst>
              <a:gd name="adj" fmla="val 5769"/>
            </a:avLst>
          </a:prstGeom>
          <a:solidFill>
            <a:srgbClr val="F4F6FC"/>
          </a:solidFill>
          <a:ln w="9525">
            <a:solidFill>
              <a:srgbClr val="D8DCEC"/>
            </a:solidFill>
            <a:prstDash val="solid"/>
          </a:ln>
        </p:spPr>
      </p:sp>
      <p:sp>
        <p:nvSpPr>
          <p:cNvPr id="13" name="Text 11"/>
          <p:cNvSpPr/>
          <p:nvPr/>
        </p:nvSpPr>
        <p:spPr>
          <a:xfrm>
            <a:off x="8906256" y="3145536"/>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Tagged sources</a:t>
            </a:r>
            <a:endParaRPr lang="en-US" sz="1400" dirty="0"/>
          </a:p>
        </p:txBody>
      </p:sp>
      <p:sp>
        <p:nvSpPr>
          <p:cNvPr id="14" name="Text 12"/>
          <p:cNvSpPr/>
          <p:nvPr/>
        </p:nvSpPr>
        <p:spPr>
          <a:xfrm>
            <a:off x="8906256" y="3419856"/>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Citations are only possible if the tag is in the context to begin with.</a:t>
            </a:r>
            <a:endParaRPr lang="en-US" sz="1150" dirty="0"/>
          </a:p>
        </p:txBody>
      </p:sp>
      <p:sp>
        <p:nvSpPr>
          <p:cNvPr id="15" name="Shape 13"/>
          <p:cNvSpPr/>
          <p:nvPr/>
        </p:nvSpPr>
        <p:spPr>
          <a:xfrm>
            <a:off x="8723376" y="4169664"/>
            <a:ext cx="2901391" cy="950976"/>
          </a:xfrm>
          <a:prstGeom prst="roundRect">
            <a:avLst>
              <a:gd name="adj" fmla="val 5769"/>
            </a:avLst>
          </a:prstGeom>
          <a:solidFill>
            <a:srgbClr val="F4F6FC"/>
          </a:solidFill>
          <a:ln w="9525">
            <a:solidFill>
              <a:srgbClr val="D8DCEC"/>
            </a:solidFill>
            <a:prstDash val="solid"/>
          </a:ln>
        </p:spPr>
      </p:sp>
      <p:sp>
        <p:nvSpPr>
          <p:cNvPr id="16" name="Text 14"/>
          <p:cNvSpPr/>
          <p:nvPr/>
        </p:nvSpPr>
        <p:spPr>
          <a:xfrm>
            <a:off x="8906256" y="4261104"/>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Context before question</a:t>
            </a:r>
            <a:endParaRPr lang="en-US" sz="1400" dirty="0"/>
          </a:p>
        </p:txBody>
      </p:sp>
      <p:sp>
        <p:nvSpPr>
          <p:cNvPr id="17" name="Text 15"/>
          <p:cNvSpPr/>
          <p:nvPr/>
        </p:nvSpPr>
        <p:spPr>
          <a:xfrm>
            <a:off x="8906256" y="4535424"/>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Instructions first, evidence next, question last reads most reliably.</a:t>
            </a:r>
            <a:endParaRPr lang="en-US" sz="1150" dirty="0"/>
          </a:p>
        </p:txBody>
      </p:sp>
      <p:sp>
        <p:nvSpPr>
          <p:cNvPr id="18" name="Shape 16"/>
          <p:cNvSpPr/>
          <p:nvPr/>
        </p:nvSpPr>
        <p:spPr>
          <a:xfrm>
            <a:off x="8723376" y="5285232"/>
            <a:ext cx="2901391" cy="950976"/>
          </a:xfrm>
          <a:prstGeom prst="roundRect">
            <a:avLst>
              <a:gd name="adj" fmla="val 5769"/>
            </a:avLst>
          </a:prstGeom>
          <a:solidFill>
            <a:srgbClr val="F4F6FC"/>
          </a:solidFill>
          <a:ln w="9525">
            <a:solidFill>
              <a:srgbClr val="D8DCEC"/>
            </a:solidFill>
            <a:prstDash val="solid"/>
          </a:ln>
        </p:spPr>
      </p:sp>
      <p:sp>
        <p:nvSpPr>
          <p:cNvPr id="19" name="Text 17"/>
          <p:cNvSpPr/>
          <p:nvPr/>
        </p:nvSpPr>
        <p:spPr>
          <a:xfrm>
            <a:off x="8906256" y="5376672"/>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Order your chunks</a:t>
            </a:r>
            <a:endParaRPr lang="en-US" sz="1400" dirty="0"/>
          </a:p>
        </p:txBody>
      </p:sp>
      <p:sp>
        <p:nvSpPr>
          <p:cNvPr id="20" name="Text 18"/>
          <p:cNvSpPr/>
          <p:nvPr/>
        </p:nvSpPr>
        <p:spPr>
          <a:xfrm>
            <a:off x="8906256" y="5650992"/>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Put the strongest match first and last — attention sags in the middle.</a:t>
            </a:r>
            <a:endParaRPr lang="en-US" sz="1150" dirty="0"/>
          </a:p>
        </p:txBody>
      </p:sp>
      <p:sp>
        <p:nvSpPr>
          <p:cNvPr id="21" name="Text 19"/>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22" name="Text 20"/>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00A08C"/>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A complete RAG system in forty lines</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Everything from Phase A to Phase C. Run this before you reach for a framework.</a:t>
            </a:r>
            <a:endParaRPr lang="en-US" sz="1500" dirty="0"/>
          </a:p>
        </p:txBody>
      </p:sp>
      <p:sp>
        <p:nvSpPr>
          <p:cNvPr id="6" name="Shape 4"/>
          <p:cNvSpPr/>
          <p:nvPr/>
        </p:nvSpPr>
        <p:spPr>
          <a:xfrm>
            <a:off x="566928" y="1481328"/>
            <a:ext cx="7772400" cy="4846320"/>
          </a:xfrm>
          <a:prstGeom prst="roundRect">
            <a:avLst>
              <a:gd name="adj" fmla="val 1509"/>
            </a:avLst>
          </a:prstGeom>
          <a:solidFill>
            <a:srgbClr val="10142E"/>
          </a:solidFill>
          <a:ln/>
        </p:spPr>
      </p:sp>
      <p:sp>
        <p:nvSpPr>
          <p:cNvPr id="7" name="Text 5"/>
          <p:cNvSpPr/>
          <p:nvPr/>
        </p:nvSpPr>
        <p:spPr>
          <a:xfrm>
            <a:off x="841248" y="1664208"/>
            <a:ext cx="7223760" cy="4572000"/>
          </a:xfrm>
          <a:prstGeom prst="rect">
            <a:avLst/>
          </a:prstGeom>
          <a:noFill/>
          <a:ln/>
        </p:spPr>
        <p:txBody>
          <a:bodyPr wrap="square" lIns="0" tIns="0" rIns="0" bIns="0" rtlCol="0" anchor="t"/>
          <a:lstStyle/>
          <a:p>
            <a:pPr indent="0" marL="0">
              <a:buNone/>
            </a:pPr>
            <a:r>
              <a:rPr lang="en-US" sz="1190" dirty="0">
                <a:solidFill>
                  <a:srgbClr val="7C86B8"/>
                </a:solidFill>
                <a:latin typeface="Courier New" pitchFamily="34" charset="0"/>
                <a:ea typeface="Courier New" pitchFamily="34" charset="-122"/>
                <a:cs typeface="Courier New" pitchFamily="34" charset="-120"/>
              </a:rPr>
              <a:t># pip install sentence-transformers chromadb</a:t>
            </a:r>
            <a:endParaRPr lang="en-US" sz="1190" dirty="0"/>
          </a:p>
          <a:p>
            <a:pPr indent="0" marL="0">
              <a:buNone/>
            </a:pPr>
            <a:r>
              <a:rPr lang="en-US" sz="1190" b="1" dirty="0">
                <a:solidFill>
                  <a:srgbClr val="8FA3FF"/>
                </a:solidFill>
                <a:latin typeface="Courier New" pitchFamily="34" charset="0"/>
                <a:ea typeface="Courier New" pitchFamily="34" charset="-122"/>
                <a:cs typeface="Courier New" pitchFamily="34" charset="-120"/>
              </a:rPr>
              <a:t>from sentence_transformers import SentenceTransformer</a:t>
            </a:r>
            <a:endParaRPr lang="en-US" sz="1190" dirty="0"/>
          </a:p>
          <a:p>
            <a:pPr indent="0" marL="0">
              <a:buNone/>
            </a:pPr>
            <a:r>
              <a:rPr lang="en-US" sz="1190" b="1" dirty="0">
                <a:solidFill>
                  <a:srgbClr val="8FA3FF"/>
                </a:solidFill>
                <a:latin typeface="Courier New" pitchFamily="34" charset="0"/>
                <a:ea typeface="Courier New" pitchFamily="34" charset="-122"/>
                <a:cs typeface="Courier New" pitchFamily="34" charset="-120"/>
              </a:rPr>
              <a:t>import chromadb</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encoder = SentenceTransformer("all-MiniLM-L6-v2")</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col     = chromadb.Client().create_collection("handbook")</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dirty="0">
                <a:solidFill>
                  <a:srgbClr val="7C86B8"/>
                </a:solidFill>
                <a:latin typeface="Courier New" pitchFamily="34" charset="0"/>
                <a:ea typeface="Courier New" pitchFamily="34" charset="-122"/>
                <a:cs typeface="Courier New" pitchFamily="34" charset="-120"/>
              </a:rPr>
              <a:t># ---------- PHASE A: index once ----------------------------</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chunks = split(open("handbook.md").read(), size=600, overlap=90)</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col.add(ids        = [f"c{i}" for i in range(len(chunks))],</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documents  = chunks,</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embeddings = encoder.encode(chunks).tolist())</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dirty="0">
                <a:solidFill>
                  <a:srgbClr val="7C86B8"/>
                </a:solidFill>
                <a:latin typeface="Courier New" pitchFamily="34" charset="0"/>
                <a:ea typeface="Courier New" pitchFamily="34" charset="-122"/>
                <a:cs typeface="Courier New" pitchFamily="34" charset="-120"/>
              </a:rPr>
              <a:t># ---------- PHASE B + C: answer a question -----------------</a:t>
            </a:r>
            <a:endParaRPr lang="en-US" sz="1190" dirty="0"/>
          </a:p>
          <a:p>
            <a:pPr indent="0" marL="0">
              <a:buNone/>
            </a:pPr>
            <a:r>
              <a:rPr lang="en-US" sz="1190" b="1" dirty="0">
                <a:solidFill>
                  <a:srgbClr val="8FA3FF"/>
                </a:solidFill>
                <a:latin typeface="Courier New" pitchFamily="34" charset="0"/>
                <a:ea typeface="Courier New" pitchFamily="34" charset="-122"/>
                <a:cs typeface="Courier New" pitchFamily="34" charset="-120"/>
              </a:rPr>
              <a:t>def answer(question: str, k: int = 4) -&gt; str:</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q_vec = encoder.encode([question]).tolist()</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hits  = col.query(query_embeddings=q_vec, n_results=k)</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context = "\n\n---\n\n".join(hits["documents"][0])</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dirty="0">
                <a:solidFill>
                  <a:srgbClr val="7EE8C8"/>
                </a:solidFill>
                <a:latin typeface="Courier New" pitchFamily="34" charset="0"/>
                <a:ea typeface="Courier New" pitchFamily="34" charset="-122"/>
                <a:cs typeface="Courier New" pitchFamily="34" charset="-120"/>
              </a:rPr>
              <a:t>    prompt = f"""Answer using ONLY the context below.</a:t>
            </a:r>
            <a:endParaRPr lang="en-US" sz="1190" dirty="0"/>
          </a:p>
          <a:p>
            <a:pPr indent="0" marL="0">
              <a:buNone/>
            </a:pPr>
            <a:r>
              <a:rPr lang="en-US" sz="1190" dirty="0">
                <a:solidFill>
                  <a:srgbClr val="7EE8C8"/>
                </a:solidFill>
                <a:latin typeface="Courier New" pitchFamily="34" charset="0"/>
                <a:ea typeface="Courier New" pitchFamily="34" charset="-122"/>
                <a:cs typeface="Courier New" pitchFamily="34" charset="-120"/>
              </a:rPr>
              <a:t>If it is not there, say you could not find it.</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dirty="0">
                <a:solidFill>
                  <a:srgbClr val="7EE8C8"/>
                </a:solidFill>
                <a:latin typeface="Courier New" pitchFamily="34" charset="0"/>
                <a:ea typeface="Courier New" pitchFamily="34" charset="-122"/>
                <a:cs typeface="Courier New" pitchFamily="34" charset="-120"/>
              </a:rPr>
              <a:t>CONTEXT:\n{context}\n\nQUESTION: {question}"""</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return llm(prompt)          # any chat completion call</a:t>
            </a:r>
            <a:endParaRPr lang="en-US" sz="1190" dirty="0"/>
          </a:p>
        </p:txBody>
      </p:sp>
      <p:sp>
        <p:nvSpPr>
          <p:cNvPr id="8" name="Text 6"/>
          <p:cNvSpPr/>
          <p:nvPr/>
        </p:nvSpPr>
        <p:spPr>
          <a:xfrm>
            <a:off x="8723376" y="1481328"/>
            <a:ext cx="2901391" cy="329184"/>
          </a:xfrm>
          <a:prstGeom prst="rect">
            <a:avLst/>
          </a:prstGeom>
          <a:noFill/>
          <a:ln/>
        </p:spPr>
        <p:txBody>
          <a:bodyPr wrap="square" lIns="0" tIns="0" rIns="0" bIns="0" rtlCol="0" anchor="ctr"/>
          <a:lstStyle/>
          <a:p>
            <a:pPr indent="0" marL="0">
              <a:buNone/>
            </a:pPr>
            <a:r>
              <a:rPr lang="en-US" sz="1300" b="1" spc="120" kern="0" dirty="0">
                <a:solidFill>
                  <a:srgbClr val="00A08C"/>
                </a:solidFill>
                <a:latin typeface="Calibri" pitchFamily="34" charset="0"/>
                <a:ea typeface="Calibri" pitchFamily="34" charset="-122"/>
                <a:cs typeface="Calibri" pitchFamily="34" charset="-120"/>
              </a:rPr>
              <a:t>RUN IT, THEN BREAK IT</a:t>
            </a:r>
            <a:endParaRPr lang="en-US" sz="1300" dirty="0"/>
          </a:p>
        </p:txBody>
      </p:sp>
      <p:sp>
        <p:nvSpPr>
          <p:cNvPr id="9" name="Shape 7"/>
          <p:cNvSpPr/>
          <p:nvPr/>
        </p:nvSpPr>
        <p:spPr>
          <a:xfrm>
            <a:off x="8723376" y="1938528"/>
            <a:ext cx="2901391" cy="950976"/>
          </a:xfrm>
          <a:prstGeom prst="roundRect">
            <a:avLst>
              <a:gd name="adj" fmla="val 5769"/>
            </a:avLst>
          </a:prstGeom>
          <a:solidFill>
            <a:srgbClr val="F4F6FC"/>
          </a:solidFill>
          <a:ln w="9525">
            <a:solidFill>
              <a:srgbClr val="D8DCEC"/>
            </a:solidFill>
            <a:prstDash val="solid"/>
          </a:ln>
        </p:spPr>
      </p:sp>
      <p:sp>
        <p:nvSpPr>
          <p:cNvPr id="10" name="Text 8"/>
          <p:cNvSpPr/>
          <p:nvPr/>
        </p:nvSpPr>
        <p:spPr>
          <a:xfrm>
            <a:off x="8906256" y="2029968"/>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Same encoder, both sides</a:t>
            </a:r>
            <a:endParaRPr lang="en-US" sz="1400" dirty="0"/>
          </a:p>
        </p:txBody>
      </p:sp>
      <p:sp>
        <p:nvSpPr>
          <p:cNvPr id="11" name="Text 9"/>
          <p:cNvSpPr/>
          <p:nvPr/>
        </p:nvSpPr>
        <p:spPr>
          <a:xfrm>
            <a:off x="8906256" y="2304288"/>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Indexing and querying must use one model. This is the #1 silent bug.</a:t>
            </a:r>
            <a:endParaRPr lang="en-US" sz="1150" dirty="0"/>
          </a:p>
        </p:txBody>
      </p:sp>
      <p:sp>
        <p:nvSpPr>
          <p:cNvPr id="12" name="Shape 10"/>
          <p:cNvSpPr/>
          <p:nvPr/>
        </p:nvSpPr>
        <p:spPr>
          <a:xfrm>
            <a:off x="8723376" y="3054096"/>
            <a:ext cx="2901391" cy="950976"/>
          </a:xfrm>
          <a:prstGeom prst="roundRect">
            <a:avLst>
              <a:gd name="adj" fmla="val 5769"/>
            </a:avLst>
          </a:prstGeom>
          <a:solidFill>
            <a:srgbClr val="F4F6FC"/>
          </a:solidFill>
          <a:ln w="9525">
            <a:solidFill>
              <a:srgbClr val="D8DCEC"/>
            </a:solidFill>
            <a:prstDash val="solid"/>
          </a:ln>
        </p:spPr>
      </p:sp>
      <p:sp>
        <p:nvSpPr>
          <p:cNvPr id="13" name="Text 11"/>
          <p:cNvSpPr/>
          <p:nvPr/>
        </p:nvSpPr>
        <p:spPr>
          <a:xfrm>
            <a:off x="8906256" y="3145536"/>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k is a dial, not a constant</a:t>
            </a:r>
            <a:endParaRPr lang="en-US" sz="1400" dirty="0"/>
          </a:p>
        </p:txBody>
      </p:sp>
      <p:sp>
        <p:nvSpPr>
          <p:cNvPr id="14" name="Text 12"/>
          <p:cNvSpPr/>
          <p:nvPr/>
        </p:nvSpPr>
        <p:spPr>
          <a:xfrm>
            <a:off x="8906256" y="3419856"/>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Try k = 1, 4, 20. Watch precision and cost move in opposite directions.</a:t>
            </a:r>
            <a:endParaRPr lang="en-US" sz="1150" dirty="0"/>
          </a:p>
        </p:txBody>
      </p:sp>
      <p:sp>
        <p:nvSpPr>
          <p:cNvPr id="15" name="Shape 13"/>
          <p:cNvSpPr/>
          <p:nvPr/>
        </p:nvSpPr>
        <p:spPr>
          <a:xfrm>
            <a:off x="8723376" y="4169664"/>
            <a:ext cx="2901391" cy="950976"/>
          </a:xfrm>
          <a:prstGeom prst="roundRect">
            <a:avLst>
              <a:gd name="adj" fmla="val 5769"/>
            </a:avLst>
          </a:prstGeom>
          <a:solidFill>
            <a:srgbClr val="F4F6FC"/>
          </a:solidFill>
          <a:ln w="9525">
            <a:solidFill>
              <a:srgbClr val="D8DCEC"/>
            </a:solidFill>
            <a:prstDash val="solid"/>
          </a:ln>
        </p:spPr>
      </p:sp>
      <p:sp>
        <p:nvSpPr>
          <p:cNvPr id="16" name="Text 14"/>
          <p:cNvSpPr/>
          <p:nvPr/>
        </p:nvSpPr>
        <p:spPr>
          <a:xfrm>
            <a:off x="8906256" y="4261104"/>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Keep the ids stable</a:t>
            </a:r>
            <a:endParaRPr lang="en-US" sz="1400" dirty="0"/>
          </a:p>
        </p:txBody>
      </p:sp>
      <p:sp>
        <p:nvSpPr>
          <p:cNvPr id="17" name="Text 15"/>
          <p:cNvSpPr/>
          <p:nvPr/>
        </p:nvSpPr>
        <p:spPr>
          <a:xfrm>
            <a:off x="8906256" y="4535424"/>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So you can re-embed a single document without rebuilding the collection.</a:t>
            </a:r>
            <a:endParaRPr lang="en-US" sz="1150" dirty="0"/>
          </a:p>
        </p:txBody>
      </p:sp>
      <p:sp>
        <p:nvSpPr>
          <p:cNvPr id="18" name="Shape 16"/>
          <p:cNvSpPr/>
          <p:nvPr/>
        </p:nvSpPr>
        <p:spPr>
          <a:xfrm>
            <a:off x="8723376" y="5285232"/>
            <a:ext cx="2901391" cy="950976"/>
          </a:xfrm>
          <a:prstGeom prst="roundRect">
            <a:avLst>
              <a:gd name="adj" fmla="val 5769"/>
            </a:avLst>
          </a:prstGeom>
          <a:solidFill>
            <a:srgbClr val="F4F6FC"/>
          </a:solidFill>
          <a:ln w="9525">
            <a:solidFill>
              <a:srgbClr val="D8DCEC"/>
            </a:solidFill>
            <a:prstDash val="solid"/>
          </a:ln>
        </p:spPr>
      </p:sp>
      <p:sp>
        <p:nvSpPr>
          <p:cNvPr id="19" name="Text 17"/>
          <p:cNvSpPr/>
          <p:nvPr/>
        </p:nvSpPr>
        <p:spPr>
          <a:xfrm>
            <a:off x="8906256" y="5376672"/>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Frameworks come later</a:t>
            </a:r>
            <a:endParaRPr lang="en-US" sz="1400" dirty="0"/>
          </a:p>
        </p:txBody>
      </p:sp>
      <p:sp>
        <p:nvSpPr>
          <p:cNvPr id="20" name="Text 18"/>
          <p:cNvSpPr/>
          <p:nvPr/>
        </p:nvSpPr>
        <p:spPr>
          <a:xfrm>
            <a:off x="8906256" y="5650992"/>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LangChain and LlamaIndex wrap exactly this. Learn the shape first.</a:t>
            </a:r>
            <a:endParaRPr lang="en-US" sz="1150" dirty="0"/>
          </a:p>
        </p:txBody>
      </p:sp>
      <p:sp>
        <p:nvSpPr>
          <p:cNvPr id="21" name="Text 19"/>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22" name="Text 20"/>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07B18"/>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Naive, advanced, agentic</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Almost every production system starts at column one and gets dragged to column two by real users.</a:t>
            </a:r>
            <a:endParaRPr lang="en-US" sz="1500" dirty="0"/>
          </a:p>
        </p:txBody>
      </p:sp>
      <p:pic>
        <p:nvPicPr>
          <p:cNvPr id="6" name="Image 0" descr="img/rag_maturity.png">    </p:cNvPr>
          <p:cNvPicPr>
            <a:picLocks noChangeAspect="1"/>
          </p:cNvPicPr>
          <p:nvPr/>
        </p:nvPicPr>
        <p:blipFill>
          <a:blip r:embed="rId1"/>
          <a:stretch>
            <a:fillRect/>
          </a:stretch>
        </p:blipFill>
        <p:spPr>
          <a:xfrm>
            <a:off x="597732" y="1481328"/>
            <a:ext cx="10996232"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7B5EA7"/>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Evaluating a RAG system</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Four metrics on three vertices. Each one points at a different component to fix.</a:t>
            </a:r>
            <a:endParaRPr lang="en-US" sz="1500" dirty="0"/>
          </a:p>
        </p:txBody>
      </p:sp>
      <p:pic>
        <p:nvPicPr>
          <p:cNvPr id="6" name="Image 0" descr="img/rag_eval.png">    </p:cNvPr>
          <p:cNvPicPr>
            <a:picLocks noChangeAspect="1"/>
          </p:cNvPicPr>
          <p:nvPr/>
        </p:nvPicPr>
        <p:blipFill>
          <a:blip r:embed="rId1"/>
          <a:stretch>
            <a:fillRect/>
          </a:stretch>
        </p:blipFill>
        <p:spPr>
          <a:xfrm>
            <a:off x="996146" y="1481328"/>
            <a:ext cx="10199403"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C8496B"/>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Six ways RAG goes wrong in the wild</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Read the symptom, find the stage. Almost every complaint maps to one of these.</a:t>
            </a:r>
            <a:endParaRPr lang="en-US" sz="1500" dirty="0"/>
          </a:p>
        </p:txBody>
      </p:sp>
      <p:sp>
        <p:nvSpPr>
          <p:cNvPr id="6" name="Shape 4"/>
          <p:cNvSpPr/>
          <p:nvPr/>
        </p:nvSpPr>
        <p:spPr>
          <a:xfrm>
            <a:off x="566928" y="1481328"/>
            <a:ext cx="3490874" cy="2299716"/>
          </a:xfrm>
          <a:prstGeom prst="roundRect">
            <a:avLst>
              <a:gd name="adj" fmla="val 1988"/>
            </a:avLst>
          </a:prstGeom>
          <a:solidFill>
            <a:srgbClr val="FFFFFF"/>
          </a:solidFill>
          <a:ln w="15875">
            <a:solidFill>
              <a:srgbClr val="00A08C"/>
            </a:solidFill>
            <a:prstDash val="solid"/>
          </a:ln>
        </p:spPr>
      </p:sp>
      <p:sp>
        <p:nvSpPr>
          <p:cNvPr id="7" name="Shape 5"/>
          <p:cNvSpPr/>
          <p:nvPr/>
        </p:nvSpPr>
        <p:spPr>
          <a:xfrm>
            <a:off x="566928" y="1481328"/>
            <a:ext cx="3490874" cy="566928"/>
          </a:xfrm>
          <a:prstGeom prst="roundRect">
            <a:avLst>
              <a:gd name="adj" fmla="val 8065"/>
            </a:avLst>
          </a:prstGeom>
          <a:solidFill>
            <a:srgbClr val="D8F3EE"/>
          </a:solidFill>
          <a:ln w="12700">
            <a:solidFill>
              <a:srgbClr val="D8F3EE"/>
            </a:solidFill>
            <a:prstDash val="solid"/>
          </a:ln>
        </p:spPr>
      </p:sp>
      <p:sp>
        <p:nvSpPr>
          <p:cNvPr id="8" name="Shape 6"/>
          <p:cNvSpPr/>
          <p:nvPr/>
        </p:nvSpPr>
        <p:spPr>
          <a:xfrm>
            <a:off x="566928" y="1755648"/>
            <a:ext cx="3490874" cy="292608"/>
          </a:xfrm>
          <a:prstGeom prst="rect">
            <a:avLst/>
          </a:prstGeom>
          <a:solidFill>
            <a:srgbClr val="D8F3EE"/>
          </a:solidFill>
          <a:ln w="12700">
            <a:solidFill>
              <a:srgbClr val="D8F3EE"/>
            </a:solidFill>
            <a:prstDash val="solid"/>
          </a:ln>
        </p:spPr>
      </p:sp>
      <p:sp>
        <p:nvSpPr>
          <p:cNvPr id="9" name="Text 7"/>
          <p:cNvSpPr/>
          <p:nvPr/>
        </p:nvSpPr>
        <p:spPr>
          <a:xfrm>
            <a:off x="768096" y="1554480"/>
            <a:ext cx="3088538" cy="182880"/>
          </a:xfrm>
          <a:prstGeom prst="rect">
            <a:avLst/>
          </a:prstGeom>
          <a:noFill/>
          <a:ln/>
        </p:spPr>
        <p:txBody>
          <a:bodyPr wrap="square" lIns="0" tIns="0" rIns="0" bIns="0" rtlCol="0" anchor="ctr"/>
          <a:lstStyle/>
          <a:p>
            <a:pPr indent="0" marL="0">
              <a:buNone/>
            </a:pPr>
            <a:r>
              <a:rPr lang="en-US" sz="950" b="1" spc="120" kern="0" dirty="0">
                <a:solidFill>
                  <a:srgbClr val="00A08C"/>
                </a:solidFill>
                <a:latin typeface="Calibri" pitchFamily="34" charset="0"/>
                <a:ea typeface="Calibri" pitchFamily="34" charset="-122"/>
                <a:cs typeface="Calibri" pitchFamily="34" charset="-120"/>
              </a:rPr>
              <a:t>SYMPTOM</a:t>
            </a:r>
            <a:endParaRPr lang="en-US" sz="950" dirty="0"/>
          </a:p>
        </p:txBody>
      </p:sp>
      <p:sp>
        <p:nvSpPr>
          <p:cNvPr id="10" name="Text 8"/>
          <p:cNvSpPr/>
          <p:nvPr/>
        </p:nvSpPr>
        <p:spPr>
          <a:xfrm>
            <a:off x="768096"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"It says it doesn't know"</a:t>
            </a:r>
            <a:endParaRPr lang="en-US" sz="1600" dirty="0"/>
          </a:p>
        </p:txBody>
      </p:sp>
      <p:sp>
        <p:nvSpPr>
          <p:cNvPr id="11" name="Text 9"/>
          <p:cNvSpPr/>
          <p:nvPr/>
        </p:nvSpPr>
        <p:spPr>
          <a:xfrm>
            <a:off x="768096" y="2176272"/>
            <a:ext cx="3088538" cy="1403604"/>
          </a:xfrm>
          <a:prstGeom prst="rect">
            <a:avLst/>
          </a:prstGeom>
          <a:noFill/>
          <a:ln/>
        </p:spPr>
        <p:txBody>
          <a:bodyPr wrap="square" lIns="0" tIns="0" rIns="0" bIns="0" rtlCol="0" anchor="t"/>
          <a:lstStyle/>
          <a:p>
            <a:pPr indent="0" marL="0">
              <a:lnSpc>
                <a:spcPts val="1800"/>
              </a:lnSpc>
              <a:buNone/>
            </a:pPr>
            <a:r>
              <a:rPr lang="en-US" sz="1250" dirty="0">
                <a:solidFill>
                  <a:srgbClr val="2B3050"/>
                </a:solidFill>
                <a:latin typeface="Calibri" pitchFamily="34" charset="0"/>
                <a:ea typeface="Calibri" pitchFamily="34" charset="-122"/>
                <a:cs typeface="Calibri" pitchFamily="34" charset="-120"/>
              </a:rPr>
              <a:t>The passage exists but never surfaced. Raise k, add hybrid keyword search, or re-chunk — the answer may be split across a boundary.</a:t>
            </a:r>
            <a:endParaRPr lang="en-US" sz="1250" dirty="0"/>
          </a:p>
        </p:txBody>
      </p:sp>
      <p:sp>
        <p:nvSpPr>
          <p:cNvPr id="12" name="Text 10"/>
          <p:cNvSpPr/>
          <p:nvPr/>
        </p:nvSpPr>
        <p:spPr>
          <a:xfrm>
            <a:off x="768096" y="3396996"/>
            <a:ext cx="3088538" cy="274320"/>
          </a:xfrm>
          <a:prstGeom prst="rect">
            <a:avLst/>
          </a:prstGeom>
          <a:noFill/>
          <a:ln/>
        </p:spPr>
        <p:txBody>
          <a:bodyPr wrap="square" lIns="0" tIns="0" rIns="0" bIns="0" rtlCol="0" anchor="ctr"/>
          <a:lstStyle/>
          <a:p>
            <a:pPr indent="0" marL="0">
              <a:buNone/>
            </a:pPr>
            <a:r>
              <a:rPr lang="en-US" sz="1150" b="1" dirty="0">
                <a:solidFill>
                  <a:srgbClr val="00A08C"/>
                </a:solidFill>
                <a:latin typeface="Calibri" pitchFamily="34" charset="0"/>
                <a:ea typeface="Calibri" pitchFamily="34" charset="-122"/>
                <a:cs typeface="Calibri" pitchFamily="34" charset="-120"/>
              </a:rPr>
              <a:t>Stage: retrieval recall</a:t>
            </a:r>
            <a:endParaRPr lang="en-US" sz="1150" dirty="0"/>
          </a:p>
        </p:txBody>
      </p:sp>
      <p:sp>
        <p:nvSpPr>
          <p:cNvPr id="13" name="Shape 11"/>
          <p:cNvSpPr/>
          <p:nvPr/>
        </p:nvSpPr>
        <p:spPr>
          <a:xfrm>
            <a:off x="4350410" y="1481328"/>
            <a:ext cx="3490874" cy="2299716"/>
          </a:xfrm>
          <a:prstGeom prst="roundRect">
            <a:avLst>
              <a:gd name="adj" fmla="val 1988"/>
            </a:avLst>
          </a:prstGeom>
          <a:solidFill>
            <a:srgbClr val="FFFFFF"/>
          </a:solidFill>
          <a:ln w="15875">
            <a:solidFill>
              <a:srgbClr val="7B5EA7"/>
            </a:solidFill>
            <a:prstDash val="solid"/>
          </a:ln>
        </p:spPr>
      </p:sp>
      <p:sp>
        <p:nvSpPr>
          <p:cNvPr id="14" name="Shape 12"/>
          <p:cNvSpPr/>
          <p:nvPr/>
        </p:nvSpPr>
        <p:spPr>
          <a:xfrm>
            <a:off x="4350410" y="1481328"/>
            <a:ext cx="3490874" cy="566928"/>
          </a:xfrm>
          <a:prstGeom prst="roundRect">
            <a:avLst>
              <a:gd name="adj" fmla="val 8065"/>
            </a:avLst>
          </a:prstGeom>
          <a:solidFill>
            <a:srgbClr val="EFE9F7"/>
          </a:solidFill>
          <a:ln w="12700">
            <a:solidFill>
              <a:srgbClr val="EFE9F7"/>
            </a:solidFill>
            <a:prstDash val="solid"/>
          </a:ln>
        </p:spPr>
      </p:sp>
      <p:sp>
        <p:nvSpPr>
          <p:cNvPr id="15" name="Shape 13"/>
          <p:cNvSpPr/>
          <p:nvPr/>
        </p:nvSpPr>
        <p:spPr>
          <a:xfrm>
            <a:off x="4350410" y="1755648"/>
            <a:ext cx="3490874" cy="292608"/>
          </a:xfrm>
          <a:prstGeom prst="rect">
            <a:avLst/>
          </a:prstGeom>
          <a:solidFill>
            <a:srgbClr val="EFE9F7"/>
          </a:solidFill>
          <a:ln w="12700">
            <a:solidFill>
              <a:srgbClr val="EFE9F7"/>
            </a:solidFill>
            <a:prstDash val="solid"/>
          </a:ln>
        </p:spPr>
      </p:sp>
      <p:sp>
        <p:nvSpPr>
          <p:cNvPr id="16" name="Text 14"/>
          <p:cNvSpPr/>
          <p:nvPr/>
        </p:nvSpPr>
        <p:spPr>
          <a:xfrm>
            <a:off x="4551578" y="1554480"/>
            <a:ext cx="3088538" cy="182880"/>
          </a:xfrm>
          <a:prstGeom prst="rect">
            <a:avLst/>
          </a:prstGeom>
          <a:noFill/>
          <a:ln/>
        </p:spPr>
        <p:txBody>
          <a:bodyPr wrap="square" lIns="0" tIns="0" rIns="0" bIns="0" rtlCol="0" anchor="ctr"/>
          <a:lstStyle/>
          <a:p>
            <a:pPr indent="0" marL="0">
              <a:buNone/>
            </a:pPr>
            <a:r>
              <a:rPr lang="en-US" sz="950" b="1" spc="120" kern="0" dirty="0">
                <a:solidFill>
                  <a:srgbClr val="7B5EA7"/>
                </a:solidFill>
                <a:latin typeface="Calibri" pitchFamily="34" charset="0"/>
                <a:ea typeface="Calibri" pitchFamily="34" charset="-122"/>
                <a:cs typeface="Calibri" pitchFamily="34" charset="-120"/>
              </a:rPr>
              <a:t>SYMPTOM</a:t>
            </a:r>
            <a:endParaRPr lang="en-US" sz="950" dirty="0"/>
          </a:p>
        </p:txBody>
      </p:sp>
      <p:sp>
        <p:nvSpPr>
          <p:cNvPr id="17" name="Text 15"/>
          <p:cNvSpPr/>
          <p:nvPr/>
        </p:nvSpPr>
        <p:spPr>
          <a:xfrm>
            <a:off x="4551578"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"It cites the wrong page"</a:t>
            </a:r>
            <a:endParaRPr lang="en-US" sz="1600" dirty="0"/>
          </a:p>
        </p:txBody>
      </p:sp>
      <p:sp>
        <p:nvSpPr>
          <p:cNvPr id="18" name="Text 16"/>
          <p:cNvSpPr/>
          <p:nvPr/>
        </p:nvSpPr>
        <p:spPr>
          <a:xfrm>
            <a:off x="4551578" y="2176272"/>
            <a:ext cx="3088538" cy="1403604"/>
          </a:xfrm>
          <a:prstGeom prst="rect">
            <a:avLst/>
          </a:prstGeom>
          <a:noFill/>
          <a:ln/>
        </p:spPr>
        <p:txBody>
          <a:bodyPr wrap="square" lIns="0" tIns="0" rIns="0" bIns="0" rtlCol="0" anchor="t"/>
          <a:lstStyle/>
          <a:p>
            <a:pPr indent="0" marL="0">
              <a:lnSpc>
                <a:spcPts val="1800"/>
              </a:lnSpc>
              <a:buNone/>
            </a:pPr>
            <a:r>
              <a:rPr lang="en-US" sz="1250" dirty="0">
                <a:solidFill>
                  <a:srgbClr val="2B3050"/>
                </a:solidFill>
                <a:latin typeface="Calibri" pitchFamily="34" charset="0"/>
                <a:ea typeface="Calibri" pitchFamily="34" charset="-122"/>
                <a:cs typeface="Calibri" pitchFamily="34" charset="-120"/>
              </a:rPr>
              <a:t>Retrieval is fetching plausible-but-off passages. Add a cross-encoder re-ranker and metadata filters before blaming the model.</a:t>
            </a:r>
            <a:endParaRPr lang="en-US" sz="1250" dirty="0"/>
          </a:p>
        </p:txBody>
      </p:sp>
      <p:sp>
        <p:nvSpPr>
          <p:cNvPr id="19" name="Text 17"/>
          <p:cNvSpPr/>
          <p:nvPr/>
        </p:nvSpPr>
        <p:spPr>
          <a:xfrm>
            <a:off x="4551578" y="3396996"/>
            <a:ext cx="3088538" cy="274320"/>
          </a:xfrm>
          <a:prstGeom prst="rect">
            <a:avLst/>
          </a:prstGeom>
          <a:noFill/>
          <a:ln/>
        </p:spPr>
        <p:txBody>
          <a:bodyPr wrap="square" lIns="0" tIns="0" rIns="0" bIns="0" rtlCol="0" anchor="ctr"/>
          <a:lstStyle/>
          <a:p>
            <a:pPr indent="0" marL="0">
              <a:buNone/>
            </a:pPr>
            <a:r>
              <a:rPr lang="en-US" sz="1150" b="1" dirty="0">
                <a:solidFill>
                  <a:srgbClr val="7B5EA7"/>
                </a:solidFill>
                <a:latin typeface="Calibri" pitchFamily="34" charset="0"/>
                <a:ea typeface="Calibri" pitchFamily="34" charset="-122"/>
                <a:cs typeface="Calibri" pitchFamily="34" charset="-120"/>
              </a:rPr>
              <a:t>Stage: ranking precision</a:t>
            </a:r>
            <a:endParaRPr lang="en-US" sz="1150" dirty="0"/>
          </a:p>
        </p:txBody>
      </p:sp>
      <p:sp>
        <p:nvSpPr>
          <p:cNvPr id="20" name="Shape 18"/>
          <p:cNvSpPr/>
          <p:nvPr/>
        </p:nvSpPr>
        <p:spPr>
          <a:xfrm>
            <a:off x="8133893" y="1481328"/>
            <a:ext cx="3490874" cy="2299716"/>
          </a:xfrm>
          <a:prstGeom prst="roundRect">
            <a:avLst>
              <a:gd name="adj" fmla="val 1988"/>
            </a:avLst>
          </a:prstGeom>
          <a:solidFill>
            <a:srgbClr val="FFFFFF"/>
          </a:solidFill>
          <a:ln w="15875">
            <a:solidFill>
              <a:srgbClr val="E07B18"/>
            </a:solidFill>
            <a:prstDash val="solid"/>
          </a:ln>
        </p:spPr>
      </p:sp>
      <p:sp>
        <p:nvSpPr>
          <p:cNvPr id="21" name="Shape 19"/>
          <p:cNvSpPr/>
          <p:nvPr/>
        </p:nvSpPr>
        <p:spPr>
          <a:xfrm>
            <a:off x="8133893" y="1481328"/>
            <a:ext cx="3490874" cy="566928"/>
          </a:xfrm>
          <a:prstGeom prst="roundRect">
            <a:avLst>
              <a:gd name="adj" fmla="val 8065"/>
            </a:avLst>
          </a:prstGeom>
          <a:solidFill>
            <a:srgbClr val="FCE9D4"/>
          </a:solidFill>
          <a:ln w="12700">
            <a:solidFill>
              <a:srgbClr val="FCE9D4"/>
            </a:solidFill>
            <a:prstDash val="solid"/>
          </a:ln>
        </p:spPr>
      </p:sp>
      <p:sp>
        <p:nvSpPr>
          <p:cNvPr id="22" name="Shape 20"/>
          <p:cNvSpPr/>
          <p:nvPr/>
        </p:nvSpPr>
        <p:spPr>
          <a:xfrm>
            <a:off x="8133893" y="1755648"/>
            <a:ext cx="3490874" cy="292608"/>
          </a:xfrm>
          <a:prstGeom prst="rect">
            <a:avLst/>
          </a:prstGeom>
          <a:solidFill>
            <a:srgbClr val="FCE9D4"/>
          </a:solidFill>
          <a:ln w="12700">
            <a:solidFill>
              <a:srgbClr val="FCE9D4"/>
            </a:solidFill>
            <a:prstDash val="solid"/>
          </a:ln>
        </p:spPr>
      </p:sp>
      <p:sp>
        <p:nvSpPr>
          <p:cNvPr id="23" name="Text 21"/>
          <p:cNvSpPr/>
          <p:nvPr/>
        </p:nvSpPr>
        <p:spPr>
          <a:xfrm>
            <a:off x="8335061" y="1554480"/>
            <a:ext cx="3088538" cy="182880"/>
          </a:xfrm>
          <a:prstGeom prst="rect">
            <a:avLst/>
          </a:prstGeom>
          <a:noFill/>
          <a:ln/>
        </p:spPr>
        <p:txBody>
          <a:bodyPr wrap="square" lIns="0" tIns="0" rIns="0" bIns="0" rtlCol="0" anchor="ctr"/>
          <a:lstStyle/>
          <a:p>
            <a:pPr indent="0" marL="0">
              <a:buNone/>
            </a:pPr>
            <a:r>
              <a:rPr lang="en-US" sz="950" b="1" spc="120" kern="0" dirty="0">
                <a:solidFill>
                  <a:srgbClr val="E07B18"/>
                </a:solidFill>
                <a:latin typeface="Calibri" pitchFamily="34" charset="0"/>
                <a:ea typeface="Calibri" pitchFamily="34" charset="-122"/>
                <a:cs typeface="Calibri" pitchFamily="34" charset="-120"/>
              </a:rPr>
              <a:t>SYMPTOM</a:t>
            </a:r>
            <a:endParaRPr lang="en-US" sz="950" dirty="0"/>
          </a:p>
        </p:txBody>
      </p:sp>
      <p:sp>
        <p:nvSpPr>
          <p:cNvPr id="24" name="Text 22"/>
          <p:cNvSpPr/>
          <p:nvPr/>
        </p:nvSpPr>
        <p:spPr>
          <a:xfrm>
            <a:off x="8335061"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"It made that up"</a:t>
            </a:r>
            <a:endParaRPr lang="en-US" sz="1600" dirty="0"/>
          </a:p>
        </p:txBody>
      </p:sp>
      <p:sp>
        <p:nvSpPr>
          <p:cNvPr id="25" name="Text 23"/>
          <p:cNvSpPr/>
          <p:nvPr/>
        </p:nvSpPr>
        <p:spPr>
          <a:xfrm>
            <a:off x="8335061" y="2176272"/>
            <a:ext cx="3088538" cy="1403604"/>
          </a:xfrm>
          <a:prstGeom prst="rect">
            <a:avLst/>
          </a:prstGeom>
          <a:noFill/>
          <a:ln/>
        </p:spPr>
        <p:txBody>
          <a:bodyPr wrap="square" lIns="0" tIns="0" rIns="0" bIns="0" rtlCol="0" anchor="t"/>
          <a:lstStyle/>
          <a:p>
            <a:pPr indent="0" marL="0">
              <a:lnSpc>
                <a:spcPts val="1800"/>
              </a:lnSpc>
              <a:buNone/>
            </a:pPr>
            <a:r>
              <a:rPr lang="en-US" sz="1250" dirty="0">
                <a:solidFill>
                  <a:srgbClr val="2B3050"/>
                </a:solidFill>
                <a:latin typeface="Calibri" pitchFamily="34" charset="0"/>
                <a:ea typeface="Calibri" pitchFamily="34" charset="-122"/>
                <a:cs typeface="Calibri" pitchFamily="34" charset="-120"/>
              </a:rPr>
              <a:t>The context was empty or thin and the model filled the gap. Enforce the refusal path and require a citation per claim.</a:t>
            </a:r>
            <a:endParaRPr lang="en-US" sz="1250" dirty="0"/>
          </a:p>
        </p:txBody>
      </p:sp>
      <p:sp>
        <p:nvSpPr>
          <p:cNvPr id="26" name="Text 24"/>
          <p:cNvSpPr/>
          <p:nvPr/>
        </p:nvSpPr>
        <p:spPr>
          <a:xfrm>
            <a:off x="8335061" y="3396996"/>
            <a:ext cx="3088538" cy="274320"/>
          </a:xfrm>
          <a:prstGeom prst="rect">
            <a:avLst/>
          </a:prstGeom>
          <a:noFill/>
          <a:ln/>
        </p:spPr>
        <p:txBody>
          <a:bodyPr wrap="square" lIns="0" tIns="0" rIns="0" bIns="0" rtlCol="0" anchor="ctr"/>
          <a:lstStyle/>
          <a:p>
            <a:pPr indent="0" marL="0">
              <a:buNone/>
            </a:pPr>
            <a:r>
              <a:rPr lang="en-US" sz="1150" b="1" dirty="0">
                <a:solidFill>
                  <a:srgbClr val="E07B18"/>
                </a:solidFill>
                <a:latin typeface="Calibri" pitchFamily="34" charset="0"/>
                <a:ea typeface="Calibri" pitchFamily="34" charset="-122"/>
                <a:cs typeface="Calibri" pitchFamily="34" charset="-120"/>
              </a:rPr>
              <a:t>Stage: grounding prompt</a:t>
            </a:r>
            <a:endParaRPr lang="en-US" sz="1150" dirty="0"/>
          </a:p>
        </p:txBody>
      </p:sp>
      <p:sp>
        <p:nvSpPr>
          <p:cNvPr id="27" name="Shape 25"/>
          <p:cNvSpPr/>
          <p:nvPr/>
        </p:nvSpPr>
        <p:spPr>
          <a:xfrm>
            <a:off x="566928" y="4055364"/>
            <a:ext cx="3490874" cy="2299716"/>
          </a:xfrm>
          <a:prstGeom prst="roundRect">
            <a:avLst>
              <a:gd name="adj" fmla="val 1988"/>
            </a:avLst>
          </a:prstGeom>
          <a:solidFill>
            <a:srgbClr val="FFFFFF"/>
          </a:solidFill>
          <a:ln w="15875">
            <a:solidFill>
              <a:srgbClr val="C8496B"/>
            </a:solidFill>
            <a:prstDash val="solid"/>
          </a:ln>
        </p:spPr>
      </p:sp>
      <p:sp>
        <p:nvSpPr>
          <p:cNvPr id="28" name="Shape 26"/>
          <p:cNvSpPr/>
          <p:nvPr/>
        </p:nvSpPr>
        <p:spPr>
          <a:xfrm>
            <a:off x="566928" y="4055364"/>
            <a:ext cx="3490874" cy="566928"/>
          </a:xfrm>
          <a:prstGeom prst="roundRect">
            <a:avLst>
              <a:gd name="adj" fmla="val 8065"/>
            </a:avLst>
          </a:prstGeom>
          <a:solidFill>
            <a:srgbClr val="FBDEE6"/>
          </a:solidFill>
          <a:ln w="12700">
            <a:solidFill>
              <a:srgbClr val="FBDEE6"/>
            </a:solidFill>
            <a:prstDash val="solid"/>
          </a:ln>
        </p:spPr>
      </p:sp>
      <p:sp>
        <p:nvSpPr>
          <p:cNvPr id="29" name="Shape 27"/>
          <p:cNvSpPr/>
          <p:nvPr/>
        </p:nvSpPr>
        <p:spPr>
          <a:xfrm>
            <a:off x="566928" y="4329684"/>
            <a:ext cx="3490874" cy="292608"/>
          </a:xfrm>
          <a:prstGeom prst="rect">
            <a:avLst/>
          </a:prstGeom>
          <a:solidFill>
            <a:srgbClr val="FBDEE6"/>
          </a:solidFill>
          <a:ln w="12700">
            <a:solidFill>
              <a:srgbClr val="FBDEE6"/>
            </a:solidFill>
            <a:prstDash val="solid"/>
          </a:ln>
        </p:spPr>
      </p:sp>
      <p:sp>
        <p:nvSpPr>
          <p:cNvPr id="30" name="Text 28"/>
          <p:cNvSpPr/>
          <p:nvPr/>
        </p:nvSpPr>
        <p:spPr>
          <a:xfrm>
            <a:off x="768096" y="4128516"/>
            <a:ext cx="3088538" cy="182880"/>
          </a:xfrm>
          <a:prstGeom prst="rect">
            <a:avLst/>
          </a:prstGeom>
          <a:noFill/>
          <a:ln/>
        </p:spPr>
        <p:txBody>
          <a:bodyPr wrap="square" lIns="0" tIns="0" rIns="0" bIns="0" rtlCol="0" anchor="ctr"/>
          <a:lstStyle/>
          <a:p>
            <a:pPr indent="0" marL="0">
              <a:buNone/>
            </a:pPr>
            <a:r>
              <a:rPr lang="en-US" sz="950" b="1" spc="120" kern="0" dirty="0">
                <a:solidFill>
                  <a:srgbClr val="C8496B"/>
                </a:solidFill>
                <a:latin typeface="Calibri" pitchFamily="34" charset="0"/>
                <a:ea typeface="Calibri" pitchFamily="34" charset="-122"/>
                <a:cs typeface="Calibri" pitchFamily="34" charset="-120"/>
              </a:rPr>
              <a:t>SYMPTOM</a:t>
            </a:r>
            <a:endParaRPr lang="en-US" sz="950" dirty="0"/>
          </a:p>
        </p:txBody>
      </p:sp>
      <p:sp>
        <p:nvSpPr>
          <p:cNvPr id="31" name="Text 29"/>
          <p:cNvSpPr/>
          <p:nvPr/>
        </p:nvSpPr>
        <p:spPr>
          <a:xfrm>
            <a:off x="768096" y="4311396"/>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"Answers are out of date"</a:t>
            </a:r>
            <a:endParaRPr lang="en-US" sz="1600" dirty="0"/>
          </a:p>
        </p:txBody>
      </p:sp>
      <p:sp>
        <p:nvSpPr>
          <p:cNvPr id="32" name="Text 30"/>
          <p:cNvSpPr/>
          <p:nvPr/>
        </p:nvSpPr>
        <p:spPr>
          <a:xfrm>
            <a:off x="768096" y="4750308"/>
            <a:ext cx="3088538" cy="1403604"/>
          </a:xfrm>
          <a:prstGeom prst="rect">
            <a:avLst/>
          </a:prstGeom>
          <a:noFill/>
          <a:ln/>
        </p:spPr>
        <p:txBody>
          <a:bodyPr wrap="square" lIns="0" tIns="0" rIns="0" bIns="0" rtlCol="0" anchor="t"/>
          <a:lstStyle/>
          <a:p>
            <a:pPr indent="0" marL="0">
              <a:lnSpc>
                <a:spcPts val="1800"/>
              </a:lnSpc>
              <a:buNone/>
            </a:pPr>
            <a:r>
              <a:rPr lang="en-US" sz="1250" dirty="0">
                <a:solidFill>
                  <a:srgbClr val="2B3050"/>
                </a:solidFill>
                <a:latin typeface="Calibri" pitchFamily="34" charset="0"/>
                <a:ea typeface="Calibri" pitchFamily="34" charset="-122"/>
                <a:cs typeface="Calibri" pitchFamily="34" charset="-120"/>
              </a:rPr>
              <a:t>The index drifted from the source. Schedule re-indexing, store a date in metadata, and prefer recent chunks on ties.</a:t>
            </a:r>
            <a:endParaRPr lang="en-US" sz="1250" dirty="0"/>
          </a:p>
        </p:txBody>
      </p:sp>
      <p:sp>
        <p:nvSpPr>
          <p:cNvPr id="33" name="Text 31"/>
          <p:cNvSpPr/>
          <p:nvPr/>
        </p:nvSpPr>
        <p:spPr>
          <a:xfrm>
            <a:off x="768096" y="5971032"/>
            <a:ext cx="3088538" cy="274320"/>
          </a:xfrm>
          <a:prstGeom prst="rect">
            <a:avLst/>
          </a:prstGeom>
          <a:noFill/>
          <a:ln/>
        </p:spPr>
        <p:txBody>
          <a:bodyPr wrap="square" lIns="0" tIns="0" rIns="0" bIns="0" rtlCol="0" anchor="ctr"/>
          <a:lstStyle/>
          <a:p>
            <a:pPr indent="0" marL="0">
              <a:buNone/>
            </a:pPr>
            <a:r>
              <a:rPr lang="en-US" sz="1150" b="1" dirty="0">
                <a:solidFill>
                  <a:srgbClr val="C8496B"/>
                </a:solidFill>
                <a:latin typeface="Calibri" pitchFamily="34" charset="0"/>
                <a:ea typeface="Calibri" pitchFamily="34" charset="-122"/>
                <a:cs typeface="Calibri" pitchFamily="34" charset="-120"/>
              </a:rPr>
              <a:t>Stage: ingestion freshness</a:t>
            </a:r>
            <a:endParaRPr lang="en-US" sz="1150" dirty="0"/>
          </a:p>
        </p:txBody>
      </p:sp>
      <p:sp>
        <p:nvSpPr>
          <p:cNvPr id="34" name="Shape 32"/>
          <p:cNvSpPr/>
          <p:nvPr/>
        </p:nvSpPr>
        <p:spPr>
          <a:xfrm>
            <a:off x="4350410" y="4055364"/>
            <a:ext cx="3490874" cy="2299716"/>
          </a:xfrm>
          <a:prstGeom prst="roundRect">
            <a:avLst>
              <a:gd name="adj" fmla="val 1988"/>
            </a:avLst>
          </a:prstGeom>
          <a:solidFill>
            <a:srgbClr val="FFFFFF"/>
          </a:solidFill>
          <a:ln w="15875">
            <a:solidFill>
              <a:srgbClr val="2B3583"/>
            </a:solidFill>
            <a:prstDash val="solid"/>
          </a:ln>
        </p:spPr>
      </p:sp>
      <p:sp>
        <p:nvSpPr>
          <p:cNvPr id="35" name="Shape 33"/>
          <p:cNvSpPr/>
          <p:nvPr/>
        </p:nvSpPr>
        <p:spPr>
          <a:xfrm>
            <a:off x="4350410" y="4055364"/>
            <a:ext cx="3490874" cy="566928"/>
          </a:xfrm>
          <a:prstGeom prst="roundRect">
            <a:avLst>
              <a:gd name="adj" fmla="val 8065"/>
            </a:avLst>
          </a:prstGeom>
          <a:solidFill>
            <a:srgbClr val="E7EAFB"/>
          </a:solidFill>
          <a:ln w="12700">
            <a:solidFill>
              <a:srgbClr val="E7EAFB"/>
            </a:solidFill>
            <a:prstDash val="solid"/>
          </a:ln>
        </p:spPr>
      </p:sp>
      <p:sp>
        <p:nvSpPr>
          <p:cNvPr id="36" name="Shape 34"/>
          <p:cNvSpPr/>
          <p:nvPr/>
        </p:nvSpPr>
        <p:spPr>
          <a:xfrm>
            <a:off x="4350410" y="4329684"/>
            <a:ext cx="3490874" cy="292608"/>
          </a:xfrm>
          <a:prstGeom prst="rect">
            <a:avLst/>
          </a:prstGeom>
          <a:solidFill>
            <a:srgbClr val="E7EAFB"/>
          </a:solidFill>
          <a:ln w="12700">
            <a:solidFill>
              <a:srgbClr val="E7EAFB"/>
            </a:solidFill>
            <a:prstDash val="solid"/>
          </a:ln>
        </p:spPr>
      </p:sp>
      <p:sp>
        <p:nvSpPr>
          <p:cNvPr id="37" name="Text 35"/>
          <p:cNvSpPr/>
          <p:nvPr/>
        </p:nvSpPr>
        <p:spPr>
          <a:xfrm>
            <a:off x="4551578" y="4128516"/>
            <a:ext cx="3088538" cy="182880"/>
          </a:xfrm>
          <a:prstGeom prst="rect">
            <a:avLst/>
          </a:prstGeom>
          <a:noFill/>
          <a:ln/>
        </p:spPr>
        <p:txBody>
          <a:bodyPr wrap="square" lIns="0" tIns="0" rIns="0" bIns="0" rtlCol="0" anchor="ctr"/>
          <a:lstStyle/>
          <a:p>
            <a:pPr indent="0" marL="0">
              <a:buNone/>
            </a:pPr>
            <a:r>
              <a:rPr lang="en-US" sz="950" b="1" spc="120" kern="0" dirty="0">
                <a:solidFill>
                  <a:srgbClr val="2B3583"/>
                </a:solidFill>
                <a:latin typeface="Calibri" pitchFamily="34" charset="0"/>
                <a:ea typeface="Calibri" pitchFamily="34" charset="-122"/>
                <a:cs typeface="Calibri" pitchFamily="34" charset="-120"/>
              </a:rPr>
              <a:t>SYMPTOM</a:t>
            </a:r>
            <a:endParaRPr lang="en-US" sz="950" dirty="0"/>
          </a:p>
        </p:txBody>
      </p:sp>
      <p:sp>
        <p:nvSpPr>
          <p:cNvPr id="38" name="Text 36"/>
          <p:cNvSpPr/>
          <p:nvPr/>
        </p:nvSpPr>
        <p:spPr>
          <a:xfrm>
            <a:off x="4551578" y="4311396"/>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"It leaked another team's doc"</a:t>
            </a:r>
            <a:endParaRPr lang="en-US" sz="1600" dirty="0"/>
          </a:p>
        </p:txBody>
      </p:sp>
      <p:sp>
        <p:nvSpPr>
          <p:cNvPr id="39" name="Text 37"/>
          <p:cNvSpPr/>
          <p:nvPr/>
        </p:nvSpPr>
        <p:spPr>
          <a:xfrm>
            <a:off x="4551578" y="4750308"/>
            <a:ext cx="3088538" cy="1403604"/>
          </a:xfrm>
          <a:prstGeom prst="rect">
            <a:avLst/>
          </a:prstGeom>
          <a:noFill/>
          <a:ln/>
        </p:spPr>
        <p:txBody>
          <a:bodyPr wrap="square" lIns="0" tIns="0" rIns="0" bIns="0" rtlCol="0" anchor="t"/>
          <a:lstStyle/>
          <a:p>
            <a:pPr indent="0" marL="0">
              <a:lnSpc>
                <a:spcPts val="1800"/>
              </a:lnSpc>
              <a:buNone/>
            </a:pPr>
            <a:r>
              <a:rPr lang="en-US" sz="1250" dirty="0">
                <a:solidFill>
                  <a:srgbClr val="2B3050"/>
                </a:solidFill>
                <a:latin typeface="Calibri" pitchFamily="34" charset="0"/>
                <a:ea typeface="Calibri" pitchFamily="34" charset="-122"/>
                <a:cs typeface="Calibri" pitchFamily="34" charset="-120"/>
              </a:rPr>
              <a:t>Permissions were applied after retrieval, or not at all. Filter by ACL inside the query — never rely on the prompt to keep a secret.</a:t>
            </a:r>
            <a:endParaRPr lang="en-US" sz="1250" dirty="0"/>
          </a:p>
        </p:txBody>
      </p:sp>
      <p:sp>
        <p:nvSpPr>
          <p:cNvPr id="40" name="Text 38"/>
          <p:cNvSpPr/>
          <p:nvPr/>
        </p:nvSpPr>
        <p:spPr>
          <a:xfrm>
            <a:off x="4551578" y="5971032"/>
            <a:ext cx="3088538" cy="274320"/>
          </a:xfrm>
          <a:prstGeom prst="rect">
            <a:avLst/>
          </a:prstGeom>
          <a:noFill/>
          <a:ln/>
        </p:spPr>
        <p:txBody>
          <a:bodyPr wrap="square" lIns="0" tIns="0" rIns="0" bIns="0" rtlCol="0" anchor="ctr"/>
          <a:lstStyle/>
          <a:p>
            <a:pPr indent="0" marL="0">
              <a:buNone/>
            </a:pPr>
            <a:r>
              <a:rPr lang="en-US" sz="1150" b="1" dirty="0">
                <a:solidFill>
                  <a:srgbClr val="2B3583"/>
                </a:solidFill>
                <a:latin typeface="Calibri" pitchFamily="34" charset="0"/>
                <a:ea typeface="Calibri" pitchFamily="34" charset="-122"/>
                <a:cs typeface="Calibri" pitchFamily="34" charset="-120"/>
              </a:rPr>
              <a:t>Stage: access control</a:t>
            </a:r>
            <a:endParaRPr lang="en-US" sz="1150" dirty="0"/>
          </a:p>
        </p:txBody>
      </p:sp>
      <p:sp>
        <p:nvSpPr>
          <p:cNvPr id="41" name="Shape 39"/>
          <p:cNvSpPr/>
          <p:nvPr/>
        </p:nvSpPr>
        <p:spPr>
          <a:xfrm>
            <a:off x="8133893" y="4055364"/>
            <a:ext cx="3490874" cy="2299716"/>
          </a:xfrm>
          <a:prstGeom prst="roundRect">
            <a:avLst>
              <a:gd name="adj" fmla="val 1988"/>
            </a:avLst>
          </a:prstGeom>
          <a:solidFill>
            <a:srgbClr val="FFFFFF"/>
          </a:solidFill>
          <a:ln w="15875">
            <a:solidFill>
              <a:srgbClr val="00705F"/>
            </a:solidFill>
            <a:prstDash val="solid"/>
          </a:ln>
        </p:spPr>
      </p:sp>
      <p:sp>
        <p:nvSpPr>
          <p:cNvPr id="42" name="Shape 40"/>
          <p:cNvSpPr/>
          <p:nvPr/>
        </p:nvSpPr>
        <p:spPr>
          <a:xfrm>
            <a:off x="8133893" y="4055364"/>
            <a:ext cx="3490874" cy="566928"/>
          </a:xfrm>
          <a:prstGeom prst="roundRect">
            <a:avLst>
              <a:gd name="adj" fmla="val 8065"/>
            </a:avLst>
          </a:prstGeom>
          <a:solidFill>
            <a:srgbClr val="D8F3EE"/>
          </a:solidFill>
          <a:ln w="12700">
            <a:solidFill>
              <a:srgbClr val="D8F3EE"/>
            </a:solidFill>
            <a:prstDash val="solid"/>
          </a:ln>
        </p:spPr>
      </p:sp>
      <p:sp>
        <p:nvSpPr>
          <p:cNvPr id="43" name="Shape 41"/>
          <p:cNvSpPr/>
          <p:nvPr/>
        </p:nvSpPr>
        <p:spPr>
          <a:xfrm>
            <a:off x="8133893" y="4329684"/>
            <a:ext cx="3490874" cy="292608"/>
          </a:xfrm>
          <a:prstGeom prst="rect">
            <a:avLst/>
          </a:prstGeom>
          <a:solidFill>
            <a:srgbClr val="D8F3EE"/>
          </a:solidFill>
          <a:ln w="12700">
            <a:solidFill>
              <a:srgbClr val="D8F3EE"/>
            </a:solidFill>
            <a:prstDash val="solid"/>
          </a:ln>
        </p:spPr>
      </p:sp>
      <p:sp>
        <p:nvSpPr>
          <p:cNvPr id="44" name="Text 42"/>
          <p:cNvSpPr/>
          <p:nvPr/>
        </p:nvSpPr>
        <p:spPr>
          <a:xfrm>
            <a:off x="8335061" y="4128516"/>
            <a:ext cx="3088538" cy="182880"/>
          </a:xfrm>
          <a:prstGeom prst="rect">
            <a:avLst/>
          </a:prstGeom>
          <a:noFill/>
          <a:ln/>
        </p:spPr>
        <p:txBody>
          <a:bodyPr wrap="square" lIns="0" tIns="0" rIns="0" bIns="0" rtlCol="0" anchor="ctr"/>
          <a:lstStyle/>
          <a:p>
            <a:pPr indent="0" marL="0">
              <a:buNone/>
            </a:pPr>
            <a:r>
              <a:rPr lang="en-US" sz="950" b="1" spc="120" kern="0" dirty="0">
                <a:solidFill>
                  <a:srgbClr val="00705F"/>
                </a:solidFill>
                <a:latin typeface="Calibri" pitchFamily="34" charset="0"/>
                <a:ea typeface="Calibri" pitchFamily="34" charset="-122"/>
                <a:cs typeface="Calibri" pitchFamily="34" charset="-120"/>
              </a:rPr>
              <a:t>SYMPTOM</a:t>
            </a:r>
            <a:endParaRPr lang="en-US" sz="950" dirty="0"/>
          </a:p>
        </p:txBody>
      </p:sp>
      <p:sp>
        <p:nvSpPr>
          <p:cNvPr id="45" name="Text 43"/>
          <p:cNvSpPr/>
          <p:nvPr/>
        </p:nvSpPr>
        <p:spPr>
          <a:xfrm>
            <a:off x="8335061" y="4311396"/>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"It's too slow and too expensive"</a:t>
            </a:r>
            <a:endParaRPr lang="en-US" sz="1600" dirty="0"/>
          </a:p>
        </p:txBody>
      </p:sp>
      <p:sp>
        <p:nvSpPr>
          <p:cNvPr id="46" name="Text 44"/>
          <p:cNvSpPr/>
          <p:nvPr/>
        </p:nvSpPr>
        <p:spPr>
          <a:xfrm>
            <a:off x="8335061" y="4750308"/>
            <a:ext cx="3088538" cy="1403604"/>
          </a:xfrm>
          <a:prstGeom prst="rect">
            <a:avLst/>
          </a:prstGeom>
          <a:noFill/>
          <a:ln/>
        </p:spPr>
        <p:txBody>
          <a:bodyPr wrap="square" lIns="0" tIns="0" rIns="0" bIns="0" rtlCol="0" anchor="t"/>
          <a:lstStyle/>
          <a:p>
            <a:pPr indent="0" marL="0">
              <a:lnSpc>
                <a:spcPts val="1800"/>
              </a:lnSpc>
              <a:buNone/>
            </a:pPr>
            <a:r>
              <a:rPr lang="en-US" sz="1250" dirty="0">
                <a:solidFill>
                  <a:srgbClr val="2B3050"/>
                </a:solidFill>
                <a:latin typeface="Calibri" pitchFamily="34" charset="0"/>
                <a:ea typeface="Calibri" pitchFamily="34" charset="-122"/>
                <a:cs typeface="Calibri" pitchFamily="34" charset="-120"/>
              </a:rPr>
              <a:t>Too many chunks in the prompt. Re-rank down to three, compress passages, and cache embeddings for repeated queries.</a:t>
            </a:r>
            <a:endParaRPr lang="en-US" sz="1250" dirty="0"/>
          </a:p>
        </p:txBody>
      </p:sp>
      <p:sp>
        <p:nvSpPr>
          <p:cNvPr id="47" name="Text 45"/>
          <p:cNvSpPr/>
          <p:nvPr/>
        </p:nvSpPr>
        <p:spPr>
          <a:xfrm>
            <a:off x="8335061" y="5971032"/>
            <a:ext cx="3088538" cy="274320"/>
          </a:xfrm>
          <a:prstGeom prst="rect">
            <a:avLst/>
          </a:prstGeom>
          <a:noFill/>
          <a:ln/>
        </p:spPr>
        <p:txBody>
          <a:bodyPr wrap="square" lIns="0" tIns="0" rIns="0" bIns="0" rtlCol="0" anchor="ctr"/>
          <a:lstStyle/>
          <a:p>
            <a:pPr indent="0" marL="0">
              <a:buNone/>
            </a:pPr>
            <a:r>
              <a:rPr lang="en-US" sz="1150" b="1" dirty="0">
                <a:solidFill>
                  <a:srgbClr val="00705F"/>
                </a:solidFill>
                <a:latin typeface="Calibri" pitchFamily="34" charset="0"/>
                <a:ea typeface="Calibri" pitchFamily="34" charset="-122"/>
                <a:cs typeface="Calibri" pitchFamily="34" charset="-120"/>
              </a:rPr>
              <a:t>Stage: context budget</a:t>
            </a:r>
            <a:endParaRPr lang="en-US" sz="1150" dirty="0"/>
          </a:p>
        </p:txBody>
      </p:sp>
      <p:sp>
        <p:nvSpPr>
          <p:cNvPr id="48" name="Text 46"/>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1 · RAG</a:t>
            </a:r>
            <a:endParaRPr lang="en-US" sz="1000" dirty="0"/>
          </a:p>
        </p:txBody>
      </p:sp>
      <p:sp>
        <p:nvSpPr>
          <p:cNvPr id="49" name="Text 47"/>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A38"/>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E07B18">
              <a:alpha val="12000"/>
            </a:srgbClr>
          </a:solidFill>
          <a:ln/>
        </p:spPr>
      </p:sp>
      <p:sp>
        <p:nvSpPr>
          <p:cNvPr id="3" name="Shape 1"/>
          <p:cNvSpPr/>
          <p:nvPr/>
        </p:nvSpPr>
        <p:spPr>
          <a:xfrm>
            <a:off x="10058400" y="3108960"/>
            <a:ext cx="4023360" cy="4023360"/>
          </a:xfrm>
          <a:prstGeom prst="ellipse">
            <a:avLst/>
          </a:prstGeom>
          <a:solidFill>
            <a:srgbClr val="E07B18">
              <a:alpha val="8000"/>
            </a:srgbClr>
          </a:solidFill>
          <a:ln/>
        </p:spPr>
      </p:sp>
      <p:sp>
        <p:nvSpPr>
          <p:cNvPr id="4" name="Text 2"/>
          <p:cNvSpPr/>
          <p:nvPr/>
        </p:nvSpPr>
        <p:spPr>
          <a:xfrm>
            <a:off x="566928" y="1371600"/>
            <a:ext cx="3657600" cy="1463040"/>
          </a:xfrm>
          <a:prstGeom prst="rect">
            <a:avLst/>
          </a:prstGeom>
          <a:noFill/>
          <a:ln/>
        </p:spPr>
        <p:txBody>
          <a:bodyPr wrap="square" lIns="0" tIns="0" rIns="0" bIns="0" rtlCol="0" anchor="ctr"/>
          <a:lstStyle/>
          <a:p>
            <a:pPr indent="0" marL="0">
              <a:buNone/>
            </a:pPr>
            <a:r>
              <a:rPr lang="en-US" sz="9600" b="1" dirty="0">
                <a:solidFill>
                  <a:srgbClr val="E07B18"/>
                </a:solidFill>
                <a:latin typeface="Cambria" pitchFamily="34" charset="0"/>
                <a:ea typeface="Cambria" pitchFamily="34" charset="-122"/>
                <a:cs typeface="Cambria" pitchFamily="34" charset="-120"/>
              </a:rPr>
              <a:t>02</a:t>
            </a:r>
            <a:endParaRPr lang="en-US" sz="9600" dirty="0"/>
          </a:p>
        </p:txBody>
      </p:sp>
      <p:sp>
        <p:nvSpPr>
          <p:cNvPr id="5" name="Text 3"/>
          <p:cNvSpPr/>
          <p:nvPr/>
        </p:nvSpPr>
        <p:spPr>
          <a:xfrm>
            <a:off x="566928" y="288036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Model Context Protocol</a:t>
            </a:r>
            <a:endParaRPr lang="en-US" sz="4400" dirty="0"/>
          </a:p>
        </p:txBody>
      </p:sp>
      <p:sp>
        <p:nvSpPr>
          <p:cNvPr id="6" name="Text 4"/>
          <p:cNvSpPr/>
          <p:nvPr/>
        </p:nvSpPr>
        <p:spPr>
          <a:xfrm>
            <a:off x="566928" y="3749040"/>
            <a:ext cx="7680960" cy="457200"/>
          </a:xfrm>
          <a:prstGeom prst="rect">
            <a:avLst/>
          </a:prstGeom>
          <a:noFill/>
          <a:ln/>
        </p:spPr>
        <p:txBody>
          <a:bodyPr wrap="square" lIns="0" tIns="0" rIns="0" bIns="0" rtlCol="0" anchor="ctr"/>
          <a:lstStyle/>
          <a:p>
            <a:pPr indent="0" marL="0">
              <a:buNone/>
            </a:pPr>
            <a:r>
              <a:rPr lang="en-US" sz="1800" dirty="0">
                <a:solidFill>
                  <a:srgbClr val="AEB6DC"/>
                </a:solidFill>
                <a:latin typeface="Calibri" pitchFamily="34" charset="0"/>
                <a:ea typeface="Calibri" pitchFamily="34" charset="-122"/>
                <a:cs typeface="Calibri" pitchFamily="34" charset="-120"/>
              </a:rPr>
              <a:t>One open standard so any model can reach any tool, without bespoke glue for every pair.</a:t>
            </a:r>
            <a:endParaRPr lang="en-US" sz="1800" dirty="0"/>
          </a:p>
        </p:txBody>
      </p:sp>
      <p:sp>
        <p:nvSpPr>
          <p:cNvPr id="7" name="Text 5"/>
          <p:cNvSpPr/>
          <p:nvPr/>
        </p:nvSpPr>
        <p:spPr>
          <a:xfrm>
            <a:off x="621792" y="4434840"/>
            <a:ext cx="7680960" cy="1463040"/>
          </a:xfrm>
          <a:prstGeom prst="rect">
            <a:avLst/>
          </a:prstGeom>
          <a:noFill/>
          <a:ln/>
        </p:spPr>
        <p:txBody>
          <a:bodyPr wrap="square" lIns="0" tIns="0" rIns="0" bIns="0" rtlCol="0" anchor="ctr"/>
          <a:lstStyle/>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Why the industry needed a protocol</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Host, client, server and transport</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Tools, resources and prompts</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Writing your first server</a:t>
            </a:r>
            <a:endParaRPr lang="en-US" sz="1500" dirty="0"/>
          </a:p>
        </p:txBody>
      </p:sp>
      <p:sp>
        <p:nvSpPr>
          <p:cNvPr id="8" name="Text 6"/>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AEB6DC"/>
                </a:solidFill>
                <a:latin typeface="Calibri" pitchFamily="34" charset="0"/>
                <a:ea typeface="Calibri" pitchFamily="34" charset="-122"/>
                <a:cs typeface="Calibri" pitchFamily="34" charset="-120"/>
              </a:rPr>
              <a:t>Part 2 · MCP</a:t>
            </a:r>
            <a:endParaRPr lang="en-US" sz="1000" dirty="0"/>
          </a:p>
        </p:txBody>
      </p:sp>
      <p:sp>
        <p:nvSpPr>
          <p:cNvPr id="9" name="Text 7"/>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AEB6D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07B18"/>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The problem MCP was built to kill</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Every AI app writing its own connector for every tool is a combinatorial dead end.</a:t>
            </a:r>
            <a:endParaRPr lang="en-US" sz="1500" dirty="0"/>
          </a:p>
        </p:txBody>
      </p:sp>
      <p:pic>
        <p:nvPicPr>
          <p:cNvPr id="6" name="Image 0" descr="img/mcp_nxm.png">    </p:cNvPr>
          <p:cNvPicPr>
            <a:picLocks noChangeAspect="1"/>
          </p:cNvPicPr>
          <p:nvPr/>
        </p:nvPicPr>
        <p:blipFill>
          <a:blip r:embed="rId1"/>
          <a:stretch>
            <a:fillRect/>
          </a:stretch>
        </p:blipFill>
        <p:spPr>
          <a:xfrm>
            <a:off x="566928" y="1578845"/>
            <a:ext cx="11057839" cy="4761014"/>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2 · MCP</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07B18"/>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The four moving parts</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A host runs one client per server, and speaks JSON-RPC over a transport. That is the whole design.</a:t>
            </a:r>
            <a:endParaRPr lang="en-US" sz="1500" dirty="0"/>
          </a:p>
        </p:txBody>
      </p:sp>
      <p:pic>
        <p:nvPicPr>
          <p:cNvPr id="6" name="Image 0" descr="img/mcp_arch.png">    </p:cNvPr>
          <p:cNvPicPr>
            <a:picLocks noChangeAspect="1"/>
          </p:cNvPicPr>
          <p:nvPr/>
        </p:nvPicPr>
        <p:blipFill>
          <a:blip r:embed="rId1"/>
          <a:stretch>
            <a:fillRect/>
          </a:stretch>
        </p:blipFill>
        <p:spPr>
          <a:xfrm>
            <a:off x="1139800" y="1481328"/>
            <a:ext cx="9912096"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2 · MCP</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07B18"/>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Three primitives, three owners</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Who decides when it fires is the distinction that matters — not what it returns.</a:t>
            </a:r>
            <a:endParaRPr lang="en-US" sz="1500" dirty="0"/>
          </a:p>
        </p:txBody>
      </p:sp>
      <p:pic>
        <p:nvPicPr>
          <p:cNvPr id="6" name="Image 0" descr="img/mcp_primitives.png">    </p:cNvPr>
          <p:cNvPicPr>
            <a:picLocks noChangeAspect="1"/>
          </p:cNvPicPr>
          <p:nvPr/>
        </p:nvPicPr>
        <p:blipFill>
          <a:blip r:embed="rId1"/>
          <a:stretch>
            <a:fillRect/>
          </a:stretch>
        </p:blipFill>
        <p:spPr>
          <a:xfrm>
            <a:off x="566928" y="1545317"/>
            <a:ext cx="11057839" cy="4828071"/>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2 · MCP</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07B18"/>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The handshake, message by message</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Seven messages take you from 'nothing connected' to 'the model just called your function'.</a:t>
            </a:r>
            <a:endParaRPr lang="en-US" sz="1500" dirty="0"/>
          </a:p>
        </p:txBody>
      </p:sp>
      <p:pic>
        <p:nvPicPr>
          <p:cNvPr id="6" name="Image 0" descr="img/mcp_lifecycle.png">    </p:cNvPr>
          <p:cNvPicPr>
            <a:picLocks noChangeAspect="1"/>
          </p:cNvPicPr>
          <p:nvPr/>
        </p:nvPicPr>
        <p:blipFill>
          <a:blip r:embed="rId1"/>
          <a:stretch>
            <a:fillRect/>
          </a:stretch>
        </p:blipFill>
        <p:spPr>
          <a:xfrm>
            <a:off x="1068999" y="1481328"/>
            <a:ext cx="10053697"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2 · MCP</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A85708"/>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Your first MCP server</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The Python SDK turns decorated functions into a fully described protocol surface.</a:t>
            </a:r>
            <a:endParaRPr lang="en-US" sz="1500" dirty="0"/>
          </a:p>
        </p:txBody>
      </p:sp>
      <p:sp>
        <p:nvSpPr>
          <p:cNvPr id="6" name="Shape 4"/>
          <p:cNvSpPr/>
          <p:nvPr/>
        </p:nvSpPr>
        <p:spPr>
          <a:xfrm>
            <a:off x="566928" y="1481328"/>
            <a:ext cx="7772400" cy="4846320"/>
          </a:xfrm>
          <a:prstGeom prst="roundRect">
            <a:avLst>
              <a:gd name="adj" fmla="val 1509"/>
            </a:avLst>
          </a:prstGeom>
          <a:solidFill>
            <a:srgbClr val="10142E"/>
          </a:solidFill>
          <a:ln/>
        </p:spPr>
      </p:sp>
      <p:sp>
        <p:nvSpPr>
          <p:cNvPr id="7" name="Text 5"/>
          <p:cNvSpPr/>
          <p:nvPr/>
        </p:nvSpPr>
        <p:spPr>
          <a:xfrm>
            <a:off x="841248" y="1664208"/>
            <a:ext cx="7223760" cy="4572000"/>
          </a:xfrm>
          <a:prstGeom prst="rect">
            <a:avLst/>
          </a:prstGeom>
          <a:noFill/>
          <a:ln/>
        </p:spPr>
        <p:txBody>
          <a:bodyPr wrap="square" lIns="0" tIns="0" rIns="0" bIns="0" rtlCol="0" anchor="t"/>
          <a:lstStyle/>
          <a:p>
            <a:pPr indent="0" marL="0">
              <a:buNone/>
            </a:pPr>
            <a:r>
              <a:rPr lang="en-US" sz="1190" dirty="0">
                <a:solidFill>
                  <a:srgbClr val="7C86B8"/>
                </a:solidFill>
                <a:latin typeface="Courier New" pitchFamily="34" charset="0"/>
                <a:ea typeface="Courier New" pitchFamily="34" charset="-122"/>
                <a:cs typeface="Courier New" pitchFamily="34" charset="-120"/>
              </a:rPr>
              <a:t># pip install "mcp[cli]"</a:t>
            </a:r>
            <a:endParaRPr lang="en-US" sz="1190" dirty="0"/>
          </a:p>
          <a:p>
            <a:pPr indent="0" marL="0">
              <a:buNone/>
            </a:pPr>
            <a:r>
              <a:rPr lang="en-US" sz="1190" b="1" dirty="0">
                <a:solidFill>
                  <a:srgbClr val="8FA3FF"/>
                </a:solidFill>
                <a:latin typeface="Courier New" pitchFamily="34" charset="0"/>
                <a:ea typeface="Courier New" pitchFamily="34" charset="-122"/>
                <a:cs typeface="Courier New" pitchFamily="34" charset="-120"/>
              </a:rPr>
              <a:t>from mcp.server.fastmcp import FastMCP</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mcp = FastMCP("company-docs")</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b="1" dirty="0">
                <a:solidFill>
                  <a:srgbClr val="8FA3FF"/>
                </a:solidFill>
                <a:latin typeface="Courier New" pitchFamily="34" charset="0"/>
                <a:ea typeface="Courier New" pitchFamily="34" charset="-122"/>
                <a:cs typeface="Courier New" pitchFamily="34" charset="-120"/>
              </a:rPr>
              <a:t>@mcp.tool()</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def search_docs(query: str, k: int = 4) -&gt; list[str]:</a:t>
            </a:r>
            <a:endParaRPr lang="en-US" sz="1190" dirty="0"/>
          </a:p>
          <a:p>
            <a:pPr indent="0" marL="0">
              <a:buNone/>
            </a:pPr>
            <a:r>
              <a:rPr lang="en-US" sz="1190" dirty="0">
                <a:solidFill>
                  <a:srgbClr val="7EE8C8"/>
                </a:solidFill>
                <a:latin typeface="Courier New" pitchFamily="34" charset="0"/>
                <a:ea typeface="Courier New" pitchFamily="34" charset="-122"/>
                <a:cs typeface="Courier New" pitchFamily="34" charset="-120"/>
              </a:rPr>
              <a:t>    """Search the company handbook and return the k</a:t>
            </a:r>
            <a:endParaRPr lang="en-US" sz="1190" dirty="0"/>
          </a:p>
          <a:p>
            <a:pPr indent="0" marL="0">
              <a:buNone/>
            </a:pPr>
            <a:r>
              <a:rPr lang="en-US" sz="1190" dirty="0">
                <a:solidFill>
                  <a:srgbClr val="7EE8C8"/>
                </a:solidFill>
                <a:latin typeface="Courier New" pitchFamily="34" charset="0"/>
                <a:ea typeface="Courier New" pitchFamily="34" charset="-122"/>
                <a:cs typeface="Courier New" pitchFamily="34" charset="-120"/>
              </a:rPr>
              <a:t>    most relevant passages, each with its source tag."""</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vec  = encoder.encode([query]).tolist()</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hits = col.query(query_embeddings=vec, n_results=k)</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return hits["documents"][0]</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b="1" dirty="0">
                <a:solidFill>
                  <a:srgbClr val="8FA3FF"/>
                </a:solidFill>
                <a:latin typeface="Courier New" pitchFamily="34" charset="0"/>
                <a:ea typeface="Courier New" pitchFamily="34" charset="-122"/>
                <a:cs typeface="Courier New" pitchFamily="34" charset="-120"/>
              </a:rPr>
              <a:t>@mcp.resource("docs://handbook/toc")</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def table_of_contents() -&gt; str:</a:t>
            </a:r>
            <a:endParaRPr lang="en-US" sz="1190" dirty="0"/>
          </a:p>
          <a:p>
            <a:pPr indent="0" marL="0">
              <a:buNone/>
            </a:pPr>
            <a:r>
              <a:rPr lang="en-US" sz="1190" dirty="0">
                <a:solidFill>
                  <a:srgbClr val="7EE8C8"/>
                </a:solidFill>
                <a:latin typeface="Courier New" pitchFamily="34" charset="0"/>
                <a:ea typeface="Courier New" pitchFamily="34" charset="-122"/>
                <a:cs typeface="Courier New" pitchFamily="34" charset="-120"/>
              </a:rPr>
              <a:t>    """The handbook's table of contents."""</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return open("toc.md").read()</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b="1" dirty="0">
                <a:solidFill>
                  <a:srgbClr val="8FA3FF"/>
                </a:solidFill>
                <a:latin typeface="Courier New" pitchFamily="34" charset="0"/>
                <a:ea typeface="Courier New" pitchFamily="34" charset="-122"/>
                <a:cs typeface="Courier New" pitchFamily="34" charset="-120"/>
              </a:rPr>
              <a:t>@mcp.prompt()</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def onboarding(topic: str) -&gt; str:</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return f"Explain how {topic} works here, citing sources."</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a:t>
            </a:r>
            <a:endParaRPr lang="en-US" sz="1190" dirty="0"/>
          </a:p>
          <a:p>
            <a:pPr indent="0" marL="0">
              <a:buNone/>
            </a:pPr>
            <a:r>
              <a:rPr lang="en-US" sz="1190" b="1" dirty="0">
                <a:solidFill>
                  <a:srgbClr val="8FA3FF"/>
                </a:solidFill>
                <a:latin typeface="Courier New" pitchFamily="34" charset="0"/>
                <a:ea typeface="Courier New" pitchFamily="34" charset="-122"/>
                <a:cs typeface="Courier New" pitchFamily="34" charset="-120"/>
              </a:rPr>
              <a:t>if __name__ == "__main__":</a:t>
            </a:r>
            <a:endParaRPr lang="en-US" sz="1190" dirty="0"/>
          </a:p>
          <a:p>
            <a:pPr indent="0" marL="0">
              <a:buNone/>
            </a:pPr>
            <a:r>
              <a:rPr lang="en-US" sz="1190" dirty="0">
                <a:solidFill>
                  <a:srgbClr val="E6E9FA"/>
                </a:solidFill>
                <a:latin typeface="Courier New" pitchFamily="34" charset="0"/>
                <a:ea typeface="Courier New" pitchFamily="34" charset="-122"/>
                <a:cs typeface="Courier New" pitchFamily="34" charset="-120"/>
              </a:rPr>
              <a:t>    mcp.run()        # stdio transport by default</a:t>
            </a:r>
            <a:endParaRPr lang="en-US" sz="1190" dirty="0"/>
          </a:p>
        </p:txBody>
      </p:sp>
      <p:sp>
        <p:nvSpPr>
          <p:cNvPr id="8" name="Text 6"/>
          <p:cNvSpPr/>
          <p:nvPr/>
        </p:nvSpPr>
        <p:spPr>
          <a:xfrm>
            <a:off x="8723376" y="1481328"/>
            <a:ext cx="2901391" cy="329184"/>
          </a:xfrm>
          <a:prstGeom prst="rect">
            <a:avLst/>
          </a:prstGeom>
          <a:noFill/>
          <a:ln/>
        </p:spPr>
        <p:txBody>
          <a:bodyPr wrap="square" lIns="0" tIns="0" rIns="0" bIns="0" rtlCol="0" anchor="ctr"/>
          <a:lstStyle/>
          <a:p>
            <a:pPr indent="0" marL="0">
              <a:buNone/>
            </a:pPr>
            <a:r>
              <a:rPr lang="en-US" sz="1300" b="1" spc="120" kern="0" dirty="0">
                <a:solidFill>
                  <a:srgbClr val="A85708"/>
                </a:solidFill>
                <a:latin typeface="Calibri" pitchFamily="34" charset="0"/>
                <a:ea typeface="Calibri" pitchFamily="34" charset="-122"/>
                <a:cs typeface="Calibri" pitchFamily="34" charset="-120"/>
              </a:rPr>
              <a:t>WHAT THE DECORATORS DO</a:t>
            </a:r>
            <a:endParaRPr lang="en-US" sz="1300" dirty="0"/>
          </a:p>
        </p:txBody>
      </p:sp>
      <p:sp>
        <p:nvSpPr>
          <p:cNvPr id="9" name="Shape 7"/>
          <p:cNvSpPr/>
          <p:nvPr/>
        </p:nvSpPr>
        <p:spPr>
          <a:xfrm>
            <a:off x="8723376" y="1938528"/>
            <a:ext cx="2901391" cy="950976"/>
          </a:xfrm>
          <a:prstGeom prst="roundRect">
            <a:avLst>
              <a:gd name="adj" fmla="val 5769"/>
            </a:avLst>
          </a:prstGeom>
          <a:solidFill>
            <a:srgbClr val="F4F6FC"/>
          </a:solidFill>
          <a:ln w="9525">
            <a:solidFill>
              <a:srgbClr val="D8DCEC"/>
            </a:solidFill>
            <a:prstDash val="solid"/>
          </a:ln>
        </p:spPr>
      </p:sp>
      <p:sp>
        <p:nvSpPr>
          <p:cNvPr id="10" name="Text 8"/>
          <p:cNvSpPr/>
          <p:nvPr/>
        </p:nvSpPr>
        <p:spPr>
          <a:xfrm>
            <a:off x="8906256" y="2029968"/>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Type hints → JSON Schema</a:t>
            </a:r>
            <a:endParaRPr lang="en-US" sz="1400" dirty="0"/>
          </a:p>
        </p:txBody>
      </p:sp>
      <p:sp>
        <p:nvSpPr>
          <p:cNvPr id="11" name="Text 9"/>
          <p:cNvSpPr/>
          <p:nvPr/>
        </p:nvSpPr>
        <p:spPr>
          <a:xfrm>
            <a:off x="8906256" y="2304288"/>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query: str, k: int = 4 becomes the argument schema the model reads.</a:t>
            </a:r>
            <a:endParaRPr lang="en-US" sz="1150" dirty="0"/>
          </a:p>
        </p:txBody>
      </p:sp>
      <p:sp>
        <p:nvSpPr>
          <p:cNvPr id="12" name="Shape 10"/>
          <p:cNvSpPr/>
          <p:nvPr/>
        </p:nvSpPr>
        <p:spPr>
          <a:xfrm>
            <a:off x="8723376" y="3054096"/>
            <a:ext cx="2901391" cy="950976"/>
          </a:xfrm>
          <a:prstGeom prst="roundRect">
            <a:avLst>
              <a:gd name="adj" fmla="val 5769"/>
            </a:avLst>
          </a:prstGeom>
          <a:solidFill>
            <a:srgbClr val="F4F6FC"/>
          </a:solidFill>
          <a:ln w="9525">
            <a:solidFill>
              <a:srgbClr val="D8DCEC"/>
            </a:solidFill>
            <a:prstDash val="solid"/>
          </a:ln>
        </p:spPr>
      </p:sp>
      <p:sp>
        <p:nvSpPr>
          <p:cNvPr id="13" name="Text 11"/>
          <p:cNvSpPr/>
          <p:nvPr/>
        </p:nvSpPr>
        <p:spPr>
          <a:xfrm>
            <a:off x="8906256" y="3145536"/>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Docstring → description</a:t>
            </a:r>
            <a:endParaRPr lang="en-US" sz="1400" dirty="0"/>
          </a:p>
        </p:txBody>
      </p:sp>
      <p:sp>
        <p:nvSpPr>
          <p:cNvPr id="14" name="Text 12"/>
          <p:cNvSpPr/>
          <p:nvPr/>
        </p:nvSpPr>
        <p:spPr>
          <a:xfrm>
            <a:off x="8906256" y="3419856"/>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This is prompt engineering. A vague docstring means a misused tool.</a:t>
            </a:r>
            <a:endParaRPr lang="en-US" sz="1150" dirty="0"/>
          </a:p>
        </p:txBody>
      </p:sp>
      <p:sp>
        <p:nvSpPr>
          <p:cNvPr id="15" name="Shape 13"/>
          <p:cNvSpPr/>
          <p:nvPr/>
        </p:nvSpPr>
        <p:spPr>
          <a:xfrm>
            <a:off x="8723376" y="4169664"/>
            <a:ext cx="2901391" cy="950976"/>
          </a:xfrm>
          <a:prstGeom prst="roundRect">
            <a:avLst>
              <a:gd name="adj" fmla="val 5769"/>
            </a:avLst>
          </a:prstGeom>
          <a:solidFill>
            <a:srgbClr val="F4F6FC"/>
          </a:solidFill>
          <a:ln w="9525">
            <a:solidFill>
              <a:srgbClr val="D8DCEC"/>
            </a:solidFill>
            <a:prstDash val="solid"/>
          </a:ln>
        </p:spPr>
      </p:sp>
      <p:sp>
        <p:nvSpPr>
          <p:cNvPr id="16" name="Text 14"/>
          <p:cNvSpPr/>
          <p:nvPr/>
        </p:nvSpPr>
        <p:spPr>
          <a:xfrm>
            <a:off x="8906256" y="4261104"/>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Return → content blocks</a:t>
            </a:r>
            <a:endParaRPr lang="en-US" sz="1400" dirty="0"/>
          </a:p>
        </p:txBody>
      </p:sp>
      <p:sp>
        <p:nvSpPr>
          <p:cNvPr id="17" name="Text 15"/>
          <p:cNvSpPr/>
          <p:nvPr/>
        </p:nvSpPr>
        <p:spPr>
          <a:xfrm>
            <a:off x="8906256" y="4535424"/>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Strings, lists, dicts and images are serialised for you.</a:t>
            </a:r>
            <a:endParaRPr lang="en-US" sz="1150" dirty="0"/>
          </a:p>
        </p:txBody>
      </p:sp>
      <p:sp>
        <p:nvSpPr>
          <p:cNvPr id="18" name="Shape 16"/>
          <p:cNvSpPr/>
          <p:nvPr/>
        </p:nvSpPr>
        <p:spPr>
          <a:xfrm>
            <a:off x="8723376" y="5285232"/>
            <a:ext cx="2901391" cy="950976"/>
          </a:xfrm>
          <a:prstGeom prst="roundRect">
            <a:avLst>
              <a:gd name="adj" fmla="val 5769"/>
            </a:avLst>
          </a:prstGeom>
          <a:solidFill>
            <a:srgbClr val="F4F6FC"/>
          </a:solidFill>
          <a:ln w="9525">
            <a:solidFill>
              <a:srgbClr val="D8DCEC"/>
            </a:solidFill>
            <a:prstDash val="solid"/>
          </a:ln>
        </p:spPr>
      </p:sp>
      <p:sp>
        <p:nvSpPr>
          <p:cNvPr id="19" name="Text 17"/>
          <p:cNvSpPr/>
          <p:nvPr/>
        </p:nvSpPr>
        <p:spPr>
          <a:xfrm>
            <a:off x="8906256" y="5376672"/>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Test it standalone</a:t>
            </a:r>
            <a:endParaRPr lang="en-US" sz="1400" dirty="0"/>
          </a:p>
        </p:txBody>
      </p:sp>
      <p:sp>
        <p:nvSpPr>
          <p:cNvPr id="20" name="Text 18"/>
          <p:cNvSpPr/>
          <p:nvPr/>
        </p:nvSpPr>
        <p:spPr>
          <a:xfrm>
            <a:off x="8906256" y="5650992"/>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mcp dev server.py opens the Inspector — no host required.</a:t>
            </a:r>
            <a:endParaRPr lang="en-US" sz="1150" dirty="0"/>
          </a:p>
        </p:txBody>
      </p:sp>
      <p:sp>
        <p:nvSpPr>
          <p:cNvPr id="21" name="Text 19"/>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2 · MCP</a:t>
            </a:r>
            <a:endParaRPr lang="en-US" sz="1000" dirty="0"/>
          </a:p>
        </p:txBody>
      </p:sp>
      <p:sp>
        <p:nvSpPr>
          <p:cNvPr id="22" name="Text 20"/>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4C5FD5"/>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Plugging the server into a host</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Same server, two audiences: a desktop app via config, or your own agent via the SDK.</a:t>
            </a:r>
            <a:endParaRPr lang="en-US" sz="1500" dirty="0"/>
          </a:p>
        </p:txBody>
      </p:sp>
      <p:sp>
        <p:nvSpPr>
          <p:cNvPr id="6" name="Shape 4"/>
          <p:cNvSpPr/>
          <p:nvPr/>
        </p:nvSpPr>
        <p:spPr>
          <a:xfrm>
            <a:off x="566928" y="1481328"/>
            <a:ext cx="7772400" cy="4846320"/>
          </a:xfrm>
          <a:prstGeom prst="roundRect">
            <a:avLst>
              <a:gd name="adj" fmla="val 1509"/>
            </a:avLst>
          </a:prstGeom>
          <a:solidFill>
            <a:srgbClr val="10142E"/>
          </a:solidFill>
          <a:ln/>
        </p:spPr>
      </p:sp>
      <p:sp>
        <p:nvSpPr>
          <p:cNvPr id="7" name="Text 5"/>
          <p:cNvSpPr/>
          <p:nvPr/>
        </p:nvSpPr>
        <p:spPr>
          <a:xfrm>
            <a:off x="841248" y="1664208"/>
            <a:ext cx="7223760" cy="4572000"/>
          </a:xfrm>
          <a:prstGeom prst="rect">
            <a:avLst/>
          </a:prstGeom>
          <a:noFill/>
          <a:ln/>
        </p:spPr>
        <p:txBody>
          <a:bodyPr wrap="square" lIns="0" tIns="0" rIns="0" bIns="0" rtlCol="0" anchor="t"/>
          <a:lstStyle/>
          <a:p>
            <a:pPr indent="0" marL="0">
              <a:buNone/>
            </a:pPr>
            <a:r>
              <a:rPr lang="en-US" sz="1090" dirty="0">
                <a:solidFill>
                  <a:srgbClr val="7C86B8"/>
                </a:solidFill>
                <a:latin typeface="Courier New" pitchFamily="34" charset="0"/>
                <a:ea typeface="Courier New" pitchFamily="34" charset="-122"/>
                <a:cs typeface="Courier New" pitchFamily="34" charset="-120"/>
              </a:rPr>
              <a:t>// claude_desktop_config.json  —  register a local server</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"mcpServers": {</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"company-docs": {</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"command": "/abs/path/to/venv/bin/python",</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"args": ["/abs/path/to/server.py"]</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a:t>
            </a:r>
            <a:endParaRPr lang="en-US" sz="1090" dirty="0"/>
          </a:p>
          <a:p>
            <a:pPr indent="0" marL="0">
              <a:buNone/>
            </a:pPr>
            <a:r>
              <a:rPr lang="en-US" sz="1090" dirty="0">
                <a:solidFill>
                  <a:srgbClr val="7C86B8"/>
                </a:solidFill>
                <a:latin typeface="Courier New" pitchFamily="34" charset="0"/>
                <a:ea typeface="Courier New" pitchFamily="34" charset="-122"/>
                <a:cs typeface="Courier New" pitchFamily="34" charset="-120"/>
              </a:rPr>
              <a:t># ---- or drive it yourself from Python ---------------------</a:t>
            </a:r>
            <a:endParaRPr lang="en-US" sz="1090" dirty="0"/>
          </a:p>
          <a:p>
            <a:pPr indent="0" marL="0">
              <a:buNone/>
            </a:pPr>
            <a:r>
              <a:rPr lang="en-US" sz="1090" b="1" dirty="0">
                <a:solidFill>
                  <a:srgbClr val="8FA3FF"/>
                </a:solidFill>
                <a:latin typeface="Courier New" pitchFamily="34" charset="0"/>
                <a:ea typeface="Courier New" pitchFamily="34" charset="-122"/>
                <a:cs typeface="Courier New" pitchFamily="34" charset="-120"/>
              </a:rPr>
              <a:t>import sys</a:t>
            </a:r>
            <a:endParaRPr lang="en-US" sz="1090" dirty="0"/>
          </a:p>
          <a:p>
            <a:pPr indent="0" marL="0">
              <a:buNone/>
            </a:pPr>
            <a:r>
              <a:rPr lang="en-US" sz="1090" b="1" dirty="0">
                <a:solidFill>
                  <a:srgbClr val="8FA3FF"/>
                </a:solidFill>
                <a:latin typeface="Courier New" pitchFamily="34" charset="0"/>
                <a:ea typeface="Courier New" pitchFamily="34" charset="-122"/>
                <a:cs typeface="Courier New" pitchFamily="34" charset="-120"/>
              </a:rPr>
              <a:t>from mcp import ClientSession, StdioServerParameters</a:t>
            </a:r>
            <a:endParaRPr lang="en-US" sz="1090" dirty="0"/>
          </a:p>
          <a:p>
            <a:pPr indent="0" marL="0">
              <a:buNone/>
            </a:pPr>
            <a:r>
              <a:rPr lang="en-US" sz="1090" b="1" dirty="0">
                <a:solidFill>
                  <a:srgbClr val="8FA3FF"/>
                </a:solidFill>
                <a:latin typeface="Courier New" pitchFamily="34" charset="0"/>
                <a:ea typeface="Courier New" pitchFamily="34" charset="-122"/>
                <a:cs typeface="Courier New" pitchFamily="34" charset="-120"/>
              </a:rPr>
              <a:t>from mcp.client.stdio import stdio_client</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a:t>
            </a:r>
            <a:endParaRPr lang="en-US" sz="1090" dirty="0"/>
          </a:p>
          <a:p>
            <a:pPr indent="0" marL="0">
              <a:buNone/>
            </a:pPr>
            <a:r>
              <a:rPr lang="en-US" sz="1090" dirty="0">
                <a:solidFill>
                  <a:srgbClr val="7C86B8"/>
                </a:solidFill>
                <a:latin typeface="Courier New" pitchFamily="34" charset="0"/>
                <a:ea typeface="Courier New" pitchFamily="34" charset="-122"/>
                <a:cs typeface="Courier New" pitchFamily="34" charset="-120"/>
              </a:rPr>
              <a:t># sys.executable, never a bare "python": the name resolves against</a:t>
            </a:r>
            <a:endParaRPr lang="en-US" sz="1090" dirty="0"/>
          </a:p>
          <a:p>
            <a:pPr indent="0" marL="0">
              <a:buNone/>
            </a:pPr>
            <a:r>
              <a:rPr lang="en-US" sz="1090" dirty="0">
                <a:solidFill>
                  <a:srgbClr val="7C86B8"/>
                </a:solidFill>
                <a:latin typeface="Courier New" pitchFamily="34" charset="0"/>
                <a:ea typeface="Courier New" pitchFamily="34" charset="-122"/>
                <a:cs typeface="Courier New" pitchFamily="34" charset="-120"/>
              </a:rPr>
              <a:t># the host's PATH, which may not be the venv that has mcp installed.</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params = StdioServerParameters(command=sys.executable, args=["server.py"])</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a:t>
            </a:r>
            <a:endParaRPr lang="en-US" sz="1090" dirty="0"/>
          </a:p>
          <a:p>
            <a:pPr indent="0" marL="0">
              <a:buNone/>
            </a:pPr>
            <a:r>
              <a:rPr lang="en-US" sz="1090" b="1" dirty="0">
                <a:solidFill>
                  <a:srgbClr val="8FA3FF"/>
                </a:solidFill>
                <a:latin typeface="Courier New" pitchFamily="34" charset="0"/>
                <a:ea typeface="Courier New" pitchFamily="34" charset="-122"/>
                <a:cs typeface="Courier New" pitchFamily="34" charset="-120"/>
              </a:rPr>
              <a:t>async with stdio_client(params) as (read, write):</a:t>
            </a:r>
            <a:endParaRPr lang="en-US" sz="1090" dirty="0"/>
          </a:p>
          <a:p>
            <a:pPr indent="0" marL="0">
              <a:buNone/>
            </a:pPr>
            <a:r>
              <a:rPr lang="en-US" sz="1090" b="1" dirty="0">
                <a:solidFill>
                  <a:srgbClr val="8FA3FF"/>
                </a:solidFill>
                <a:latin typeface="Courier New" pitchFamily="34" charset="0"/>
                <a:ea typeface="Courier New" pitchFamily="34" charset="-122"/>
                <a:cs typeface="Courier New" pitchFamily="34" charset="-120"/>
              </a:rPr>
              <a:t>    async with ClientSession(read, write) as session:</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await session.initialize()</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tools = await session.list_tools()          # discovery</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out   = await session.call_tool(            # invocation</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"search_docs", {"query": "refund window", "k": 3})</a:t>
            </a:r>
            <a:endParaRPr lang="en-US" sz="1090" dirty="0"/>
          </a:p>
          <a:p>
            <a:pPr indent="0" marL="0">
              <a:buNone/>
            </a:pPr>
            <a:r>
              <a:rPr lang="en-US" sz="1090" dirty="0">
                <a:solidFill>
                  <a:srgbClr val="E6E9FA"/>
                </a:solidFill>
                <a:latin typeface="Courier New" pitchFamily="34" charset="0"/>
                <a:ea typeface="Courier New" pitchFamily="34" charset="-122"/>
                <a:cs typeface="Courier New" pitchFamily="34" charset="-120"/>
              </a:rPr>
              <a:t>        print(out.content)</a:t>
            </a:r>
            <a:endParaRPr lang="en-US" sz="1090" dirty="0"/>
          </a:p>
        </p:txBody>
      </p:sp>
      <p:sp>
        <p:nvSpPr>
          <p:cNvPr id="8" name="Text 6"/>
          <p:cNvSpPr/>
          <p:nvPr/>
        </p:nvSpPr>
        <p:spPr>
          <a:xfrm>
            <a:off x="8723376" y="1481328"/>
            <a:ext cx="2901391" cy="329184"/>
          </a:xfrm>
          <a:prstGeom prst="rect">
            <a:avLst/>
          </a:prstGeom>
          <a:noFill/>
          <a:ln/>
        </p:spPr>
        <p:txBody>
          <a:bodyPr wrap="square" lIns="0" tIns="0" rIns="0" bIns="0" rtlCol="0" anchor="ctr"/>
          <a:lstStyle/>
          <a:p>
            <a:pPr indent="0" marL="0">
              <a:buNone/>
            </a:pPr>
            <a:r>
              <a:rPr lang="en-US" sz="1300" b="1" spc="120" kern="0" dirty="0">
                <a:solidFill>
                  <a:srgbClr val="4C5FD5"/>
                </a:solidFill>
                <a:latin typeface="Calibri" pitchFamily="34" charset="0"/>
                <a:ea typeface="Calibri" pitchFamily="34" charset="-122"/>
                <a:cs typeface="Calibri" pitchFamily="34" charset="-120"/>
              </a:rPr>
              <a:t>COMMON FIRST-RUN SNAGS</a:t>
            </a:r>
            <a:endParaRPr lang="en-US" sz="1300" dirty="0"/>
          </a:p>
        </p:txBody>
      </p:sp>
      <p:sp>
        <p:nvSpPr>
          <p:cNvPr id="9" name="Shape 7"/>
          <p:cNvSpPr/>
          <p:nvPr/>
        </p:nvSpPr>
        <p:spPr>
          <a:xfrm>
            <a:off x="8723376" y="1938528"/>
            <a:ext cx="2901391" cy="950976"/>
          </a:xfrm>
          <a:prstGeom prst="roundRect">
            <a:avLst>
              <a:gd name="adj" fmla="val 5769"/>
            </a:avLst>
          </a:prstGeom>
          <a:solidFill>
            <a:srgbClr val="F4F6FC"/>
          </a:solidFill>
          <a:ln w="9525">
            <a:solidFill>
              <a:srgbClr val="D8DCEC"/>
            </a:solidFill>
            <a:prstDash val="solid"/>
          </a:ln>
        </p:spPr>
      </p:sp>
      <p:sp>
        <p:nvSpPr>
          <p:cNvPr id="10" name="Text 8"/>
          <p:cNvSpPr/>
          <p:nvPr/>
        </p:nvSpPr>
        <p:spPr>
          <a:xfrm>
            <a:off x="8906256" y="2029968"/>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"Connection closed"</a:t>
            </a:r>
            <a:endParaRPr lang="en-US" sz="1400" dirty="0"/>
          </a:p>
        </p:txBody>
      </p:sp>
      <p:sp>
        <p:nvSpPr>
          <p:cNvPr id="11" name="Text 9"/>
          <p:cNvSpPr/>
          <p:nvPr/>
        </p:nvSpPr>
        <p:spPr>
          <a:xfrm>
            <a:off x="8906256" y="2304288"/>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Nearly always a bad interpreter or cwd — the server died on startup. Run it directly to see the real traceback.</a:t>
            </a:r>
            <a:endParaRPr lang="en-US" sz="1150" dirty="0"/>
          </a:p>
        </p:txBody>
      </p:sp>
      <p:sp>
        <p:nvSpPr>
          <p:cNvPr id="12" name="Shape 10"/>
          <p:cNvSpPr/>
          <p:nvPr/>
        </p:nvSpPr>
        <p:spPr>
          <a:xfrm>
            <a:off x="8723376" y="3054096"/>
            <a:ext cx="2901391" cy="950976"/>
          </a:xfrm>
          <a:prstGeom prst="roundRect">
            <a:avLst>
              <a:gd name="adj" fmla="val 5769"/>
            </a:avLst>
          </a:prstGeom>
          <a:solidFill>
            <a:srgbClr val="F4F6FC"/>
          </a:solidFill>
          <a:ln w="9525">
            <a:solidFill>
              <a:srgbClr val="D8DCEC"/>
            </a:solidFill>
            <a:prstDash val="solid"/>
          </a:ln>
        </p:spPr>
      </p:sp>
      <p:sp>
        <p:nvSpPr>
          <p:cNvPr id="13" name="Text 11"/>
          <p:cNvSpPr/>
          <p:nvPr/>
        </p:nvSpPr>
        <p:spPr>
          <a:xfrm>
            <a:off x="8906256" y="3145536"/>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stdout is the wire</a:t>
            </a:r>
            <a:endParaRPr lang="en-US" sz="1400" dirty="0"/>
          </a:p>
        </p:txBody>
      </p:sp>
      <p:sp>
        <p:nvSpPr>
          <p:cNvPr id="14" name="Text 12"/>
          <p:cNvSpPr/>
          <p:nvPr/>
        </p:nvSpPr>
        <p:spPr>
          <a:xfrm>
            <a:off x="8906256" y="3419856"/>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A stray print() corrupts the JSON-RPC stream. Log to stderr.</a:t>
            </a:r>
            <a:endParaRPr lang="en-US" sz="1150" dirty="0"/>
          </a:p>
        </p:txBody>
      </p:sp>
      <p:sp>
        <p:nvSpPr>
          <p:cNvPr id="15" name="Shape 13"/>
          <p:cNvSpPr/>
          <p:nvPr/>
        </p:nvSpPr>
        <p:spPr>
          <a:xfrm>
            <a:off x="8723376" y="4169664"/>
            <a:ext cx="2901391" cy="950976"/>
          </a:xfrm>
          <a:prstGeom prst="roundRect">
            <a:avLst>
              <a:gd name="adj" fmla="val 5769"/>
            </a:avLst>
          </a:prstGeom>
          <a:solidFill>
            <a:srgbClr val="F4F6FC"/>
          </a:solidFill>
          <a:ln w="9525">
            <a:solidFill>
              <a:srgbClr val="D8DCEC"/>
            </a:solidFill>
            <a:prstDash val="solid"/>
          </a:ln>
        </p:spPr>
      </p:sp>
      <p:sp>
        <p:nvSpPr>
          <p:cNvPr id="16" name="Text 14"/>
          <p:cNvSpPr/>
          <p:nvPr/>
        </p:nvSpPr>
        <p:spPr>
          <a:xfrm>
            <a:off x="8906256" y="4261104"/>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Restart the host</a:t>
            </a:r>
            <a:endParaRPr lang="en-US" sz="1400" dirty="0"/>
          </a:p>
        </p:txBody>
      </p:sp>
      <p:sp>
        <p:nvSpPr>
          <p:cNvPr id="17" name="Text 15"/>
          <p:cNvSpPr/>
          <p:nvPr/>
        </p:nvSpPr>
        <p:spPr>
          <a:xfrm>
            <a:off x="8906256" y="4535424"/>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Config changes are read at launch, not hot-reloaded.</a:t>
            </a:r>
            <a:endParaRPr lang="en-US" sz="1150" dirty="0"/>
          </a:p>
        </p:txBody>
      </p:sp>
      <p:sp>
        <p:nvSpPr>
          <p:cNvPr id="18" name="Shape 16"/>
          <p:cNvSpPr/>
          <p:nvPr/>
        </p:nvSpPr>
        <p:spPr>
          <a:xfrm>
            <a:off x="8723376" y="5285232"/>
            <a:ext cx="2901391" cy="950976"/>
          </a:xfrm>
          <a:prstGeom prst="roundRect">
            <a:avLst>
              <a:gd name="adj" fmla="val 5769"/>
            </a:avLst>
          </a:prstGeom>
          <a:solidFill>
            <a:srgbClr val="F4F6FC"/>
          </a:solidFill>
          <a:ln w="9525">
            <a:solidFill>
              <a:srgbClr val="D8DCEC"/>
            </a:solidFill>
            <a:prstDash val="solid"/>
          </a:ln>
        </p:spPr>
      </p:sp>
      <p:sp>
        <p:nvSpPr>
          <p:cNvPr id="19" name="Text 17"/>
          <p:cNvSpPr/>
          <p:nvPr/>
        </p:nvSpPr>
        <p:spPr>
          <a:xfrm>
            <a:off x="8906256" y="5376672"/>
            <a:ext cx="2535631" cy="274320"/>
          </a:xfrm>
          <a:prstGeom prst="rect">
            <a:avLst/>
          </a:prstGeom>
          <a:noFill/>
          <a:ln/>
        </p:spPr>
        <p:txBody>
          <a:bodyPr wrap="square" lIns="0" tIns="0" rIns="0" bIns="0" rtlCol="0" anchor="ctr"/>
          <a:lstStyle/>
          <a:p>
            <a:pPr indent="0" marL="0">
              <a:buNone/>
            </a:pPr>
            <a:r>
              <a:rPr lang="en-US" sz="1400" b="1" dirty="0">
                <a:solidFill>
                  <a:srgbClr val="141728"/>
                </a:solidFill>
                <a:latin typeface="Calibri" pitchFamily="34" charset="0"/>
                <a:ea typeface="Calibri" pitchFamily="34" charset="-122"/>
                <a:cs typeface="Calibri" pitchFamily="34" charset="-120"/>
              </a:rPr>
              <a:t>Remote servers</a:t>
            </a:r>
            <a:endParaRPr lang="en-US" sz="1400" dirty="0"/>
          </a:p>
        </p:txBody>
      </p:sp>
      <p:sp>
        <p:nvSpPr>
          <p:cNvPr id="20" name="Text 18"/>
          <p:cNvSpPr/>
          <p:nvPr/>
        </p:nvSpPr>
        <p:spPr>
          <a:xfrm>
            <a:off x="8906256" y="5650992"/>
            <a:ext cx="2535631" cy="530352"/>
          </a:xfrm>
          <a:prstGeom prst="rect">
            <a:avLst/>
          </a:prstGeom>
          <a:noFill/>
          <a:ln/>
        </p:spPr>
        <p:txBody>
          <a:bodyPr wrap="square" lIns="0" tIns="0" rIns="0" bIns="0" rtlCol="0" anchor="t"/>
          <a:lstStyle/>
          <a:p>
            <a:pPr indent="0" marL="0">
              <a:buNone/>
            </a:pPr>
            <a:r>
              <a:rPr lang="en-US" sz="1150" dirty="0">
                <a:solidFill>
                  <a:srgbClr val="6B7091"/>
                </a:solidFill>
                <a:latin typeface="Calibri" pitchFamily="34" charset="0"/>
                <a:ea typeface="Calibri" pitchFamily="34" charset="-122"/>
                <a:cs typeface="Calibri" pitchFamily="34" charset="-120"/>
              </a:rPr>
              <a:t>Swap stdio for Streamable HTTP and add auth — the code above barely changes.</a:t>
            </a:r>
            <a:endParaRPr lang="en-US" sz="1150" dirty="0"/>
          </a:p>
        </p:txBody>
      </p:sp>
      <p:sp>
        <p:nvSpPr>
          <p:cNvPr id="21" name="Text 19"/>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2 · MCP</a:t>
            </a:r>
            <a:endParaRPr lang="en-US" sz="1000" dirty="0"/>
          </a:p>
        </p:txBody>
      </p:sp>
      <p:sp>
        <p:nvSpPr>
          <p:cNvPr id="22" name="Text 20"/>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C8496B"/>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24</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Security is not an appendix</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You are handing a probabilistic system real credentials. Design for that on day one.</a:t>
            </a:r>
            <a:endParaRPr lang="en-US" sz="1500" dirty="0"/>
          </a:p>
        </p:txBody>
      </p:sp>
      <p:pic>
        <p:nvPicPr>
          <p:cNvPr id="6" name="Image 0" descr="img/security.png">    </p:cNvPr>
          <p:cNvPicPr>
            <a:picLocks noChangeAspect="1"/>
          </p:cNvPicPr>
          <p:nvPr/>
        </p:nvPicPr>
        <p:blipFill>
          <a:blip r:embed="rId1"/>
          <a:stretch>
            <a:fillRect/>
          </a:stretch>
        </p:blipFill>
        <p:spPr>
          <a:xfrm>
            <a:off x="566928" y="1623189"/>
            <a:ext cx="11057839" cy="4672326"/>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2 · MCP</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A38"/>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C5FD5">
              <a:alpha val="12000"/>
            </a:srgbClr>
          </a:solidFill>
          <a:ln/>
        </p:spPr>
      </p:sp>
      <p:sp>
        <p:nvSpPr>
          <p:cNvPr id="3" name="Shape 1"/>
          <p:cNvSpPr/>
          <p:nvPr/>
        </p:nvSpPr>
        <p:spPr>
          <a:xfrm>
            <a:off x="10058400" y="3108960"/>
            <a:ext cx="4023360" cy="4023360"/>
          </a:xfrm>
          <a:prstGeom prst="ellipse">
            <a:avLst/>
          </a:prstGeom>
          <a:solidFill>
            <a:srgbClr val="4C5FD5">
              <a:alpha val="8000"/>
            </a:srgbClr>
          </a:solidFill>
          <a:ln/>
        </p:spPr>
      </p:sp>
      <p:sp>
        <p:nvSpPr>
          <p:cNvPr id="4" name="Text 2"/>
          <p:cNvSpPr/>
          <p:nvPr/>
        </p:nvSpPr>
        <p:spPr>
          <a:xfrm>
            <a:off x="566928" y="1371600"/>
            <a:ext cx="3657600" cy="1463040"/>
          </a:xfrm>
          <a:prstGeom prst="rect">
            <a:avLst/>
          </a:prstGeom>
          <a:noFill/>
          <a:ln/>
        </p:spPr>
        <p:txBody>
          <a:bodyPr wrap="square" lIns="0" tIns="0" rIns="0" bIns="0" rtlCol="0" anchor="ctr"/>
          <a:lstStyle/>
          <a:p>
            <a:pPr indent="0" marL="0">
              <a:buNone/>
            </a:pPr>
            <a:r>
              <a:rPr lang="en-US" sz="9600" b="1" dirty="0">
                <a:solidFill>
                  <a:srgbClr val="4C5FD5"/>
                </a:solidFill>
                <a:latin typeface="Cambria" pitchFamily="34" charset="0"/>
                <a:ea typeface="Cambria" pitchFamily="34" charset="-122"/>
                <a:cs typeface="Cambria" pitchFamily="34" charset="-120"/>
              </a:rPr>
              <a:t>03</a:t>
            </a:r>
            <a:endParaRPr lang="en-US" sz="9600" dirty="0"/>
          </a:p>
        </p:txBody>
      </p:sp>
      <p:sp>
        <p:nvSpPr>
          <p:cNvPr id="5" name="Text 3"/>
          <p:cNvSpPr/>
          <p:nvPr/>
        </p:nvSpPr>
        <p:spPr>
          <a:xfrm>
            <a:off x="566928" y="288036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Putting them together</a:t>
            </a:r>
            <a:endParaRPr lang="en-US" sz="4400" dirty="0"/>
          </a:p>
        </p:txBody>
      </p:sp>
      <p:sp>
        <p:nvSpPr>
          <p:cNvPr id="6" name="Text 4"/>
          <p:cNvSpPr/>
          <p:nvPr/>
        </p:nvSpPr>
        <p:spPr>
          <a:xfrm>
            <a:off x="566928" y="3749040"/>
            <a:ext cx="7680960" cy="457200"/>
          </a:xfrm>
          <a:prstGeom prst="rect">
            <a:avLst/>
          </a:prstGeom>
          <a:noFill/>
          <a:ln/>
        </p:spPr>
        <p:txBody>
          <a:bodyPr wrap="square" lIns="0" tIns="0" rIns="0" bIns="0" rtlCol="0" anchor="ctr"/>
          <a:lstStyle/>
          <a:p>
            <a:pPr indent="0" marL="0">
              <a:buNone/>
            </a:pPr>
            <a:r>
              <a:rPr lang="en-US" sz="1800" dirty="0">
                <a:solidFill>
                  <a:srgbClr val="AEB6DC"/>
                </a:solidFill>
                <a:latin typeface="Calibri" pitchFamily="34" charset="0"/>
                <a:ea typeface="Calibri" pitchFamily="34" charset="-122"/>
                <a:cs typeface="Calibri" pitchFamily="34" charset="-120"/>
              </a:rPr>
              <a:t>A retrieval pipeline behind a protocol socket is the shape most serious assistants converge on.</a:t>
            </a:r>
            <a:endParaRPr lang="en-US" sz="1800" dirty="0"/>
          </a:p>
        </p:txBody>
      </p:sp>
      <p:sp>
        <p:nvSpPr>
          <p:cNvPr id="7" name="Text 5"/>
          <p:cNvSpPr/>
          <p:nvPr/>
        </p:nvSpPr>
        <p:spPr>
          <a:xfrm>
            <a:off x="621792" y="4434840"/>
            <a:ext cx="7680960" cy="1463040"/>
          </a:xfrm>
          <a:prstGeom prst="rect">
            <a:avLst/>
          </a:prstGeom>
          <a:noFill/>
          <a:ln/>
        </p:spPr>
        <p:txBody>
          <a:bodyPr wrap="square" lIns="0" tIns="0" rIns="0" bIns="0" rtlCol="0" anchor="ctr"/>
          <a:lstStyle/>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RAG as one clean MCP tool</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Agent loops across several servers</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Choosing between the two</a:t>
            </a:r>
            <a:endParaRPr lang="en-US" sz="1500" dirty="0"/>
          </a:p>
          <a:p>
            <a:pPr marL="342900" indent="-342900">
              <a:spcAft>
                <a:spcPts val="700"/>
              </a:spcAft>
              <a:buSzPct val="100000"/>
              <a:buChar char="•"/>
            </a:pPr>
            <a:r>
              <a:rPr lang="en-US" sz="1500" dirty="0">
                <a:solidFill>
                  <a:srgbClr val="AEB6DC"/>
                </a:solidFill>
                <a:latin typeface="Calibri" pitchFamily="34" charset="0"/>
                <a:ea typeface="Calibri" pitchFamily="34" charset="-122"/>
                <a:cs typeface="Calibri" pitchFamily="34" charset="-120"/>
              </a:rPr>
              <a:t>Your lab brief for this week</a:t>
            </a:r>
            <a:endParaRPr lang="en-US" sz="1500" dirty="0"/>
          </a:p>
        </p:txBody>
      </p:sp>
      <p:sp>
        <p:nvSpPr>
          <p:cNvPr id="8" name="Text 6"/>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AEB6DC"/>
                </a:solidFill>
                <a:latin typeface="Calibri" pitchFamily="34" charset="0"/>
                <a:ea typeface="Calibri" pitchFamily="34" charset="-122"/>
                <a:cs typeface="Calibri" pitchFamily="34" charset="-120"/>
              </a:rPr>
              <a:t>Part 3 · Together</a:t>
            </a:r>
            <a:endParaRPr lang="en-US" sz="1000" dirty="0"/>
          </a:p>
        </p:txBody>
      </p:sp>
      <p:sp>
        <p:nvSpPr>
          <p:cNvPr id="9" name="Text 7"/>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AEB6DC"/>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4C5FD5"/>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26</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RAG as a tool the model can choose</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Wrap the whole pipeline behind one function and every MCP-speaking host can use it.</a:t>
            </a:r>
            <a:endParaRPr lang="en-US" sz="1500" dirty="0"/>
          </a:p>
        </p:txBody>
      </p:sp>
      <p:pic>
        <p:nvPicPr>
          <p:cNvPr id="6" name="Image 0" descr="img/together.png">    </p:cNvPr>
          <p:cNvPicPr>
            <a:picLocks noChangeAspect="1"/>
          </p:cNvPicPr>
          <p:nvPr/>
        </p:nvPicPr>
        <p:blipFill>
          <a:blip r:embed="rId1"/>
          <a:stretch>
            <a:fillRect/>
          </a:stretch>
        </p:blipFill>
        <p:spPr>
          <a:xfrm>
            <a:off x="1000193" y="1481328"/>
            <a:ext cx="10191310"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3 · Together</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4C5FD5"/>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27</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Which one do I reach for?</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Two questions get you to the right answer, and the answer is usually 'both'.</a:t>
            </a:r>
            <a:endParaRPr lang="en-US" sz="1500" dirty="0"/>
          </a:p>
        </p:txBody>
      </p:sp>
      <p:pic>
        <p:nvPicPr>
          <p:cNvPr id="6" name="Image 0" descr="img/decision.png">    </p:cNvPr>
          <p:cNvPicPr>
            <a:picLocks noChangeAspect="1"/>
          </p:cNvPicPr>
          <p:nvPr/>
        </p:nvPicPr>
        <p:blipFill>
          <a:blip r:embed="rId1"/>
          <a:stretch>
            <a:fillRect/>
          </a:stretch>
        </p:blipFill>
        <p:spPr>
          <a:xfrm>
            <a:off x="1111720" y="1481328"/>
            <a:ext cx="9968255" cy="4956048"/>
          </a:xfrm>
          <a:prstGeom prst="rect">
            <a:avLst/>
          </a:prstGeom>
        </p:spPr>
      </p:pic>
      <p:sp>
        <p:nvSpPr>
          <p:cNvPr id="7" name="Text 4"/>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Part 3 · Together</a:t>
            </a:r>
            <a:endParaRPr lang="en-US" sz="1000" dirty="0"/>
          </a:p>
        </p:txBody>
      </p:sp>
      <p:sp>
        <p:nvSpPr>
          <p:cNvPr id="8" name="Text 5"/>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00705F"/>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28</a:t>
            </a:r>
            <a:endParaRPr lang="en-US" sz="1500" dirty="0"/>
          </a:p>
        </p:txBody>
      </p:sp>
      <p:sp>
        <p:nvSpPr>
          <p:cNvPr id="4" name="Text 2"/>
          <p:cNvSpPr/>
          <p:nvPr/>
        </p:nvSpPr>
        <p:spPr>
          <a:xfrm>
            <a:off x="1188720" y="329184"/>
            <a:ext cx="10436047" cy="566928"/>
          </a:xfrm>
          <a:prstGeom prst="rect">
            <a:avLst/>
          </a:prstGeom>
          <a:noFill/>
          <a:ln/>
        </p:spPr>
        <p:txBody>
          <a:bodyPr wrap="square" lIns="0" tIns="0" rIns="0" bIns="0" rtlCol="0" anchor="ctr"/>
          <a:lstStyle/>
          <a:p>
            <a:pPr indent="0" marL="0">
              <a:buNone/>
            </a:pPr>
            <a:r>
              <a:rPr lang="en-US" sz="3000" b="1" dirty="0">
                <a:solidFill>
                  <a:srgbClr val="141728"/>
                </a:solidFill>
                <a:latin typeface="Cambria" pitchFamily="34" charset="0"/>
                <a:ea typeface="Cambria" pitchFamily="34" charset="-122"/>
                <a:cs typeface="Cambria" pitchFamily="34" charset="-120"/>
              </a:rPr>
              <a:t>This week's build</a:t>
            </a:r>
            <a:endParaRPr lang="en-US" sz="3000" dirty="0"/>
          </a:p>
        </p:txBody>
      </p:sp>
      <p:sp>
        <p:nvSpPr>
          <p:cNvPr id="5" name="Text 3"/>
          <p:cNvSpPr/>
          <p:nvPr/>
        </p:nvSpPr>
        <p:spPr>
          <a:xfrm>
            <a:off x="1188720" y="914400"/>
            <a:ext cx="10436047" cy="365760"/>
          </a:xfrm>
          <a:prstGeom prst="rect">
            <a:avLst/>
          </a:prstGeom>
          <a:noFill/>
          <a:ln/>
        </p:spPr>
        <p:txBody>
          <a:bodyPr wrap="square" lIns="0" tIns="0" rIns="0" bIns="0" rtlCol="0" anchor="t"/>
          <a:lstStyle/>
          <a:p>
            <a:pPr indent="0" marL="0">
              <a:buNone/>
            </a:pPr>
            <a:r>
              <a:rPr lang="en-US" sz="1500" i="1" dirty="0">
                <a:solidFill>
                  <a:srgbClr val="6B7091"/>
                </a:solidFill>
                <a:latin typeface="Calibri" pitchFamily="34" charset="0"/>
                <a:ea typeface="Calibri" pitchFamily="34" charset="-122"/>
                <a:cs typeface="Calibri" pitchFamily="34" charset="-120"/>
              </a:rPr>
              <a:t>One job, three tools, one demo. Ship something that runs on a laptop by Friday.</a:t>
            </a:r>
            <a:endParaRPr lang="en-US" sz="1500" dirty="0"/>
          </a:p>
        </p:txBody>
      </p:sp>
      <p:sp>
        <p:nvSpPr>
          <p:cNvPr id="6" name="Shape 4"/>
          <p:cNvSpPr/>
          <p:nvPr/>
        </p:nvSpPr>
        <p:spPr>
          <a:xfrm>
            <a:off x="566928" y="1481328"/>
            <a:ext cx="3490874" cy="4187952"/>
          </a:xfrm>
          <a:prstGeom prst="roundRect">
            <a:avLst>
              <a:gd name="adj" fmla="val 1310"/>
            </a:avLst>
          </a:prstGeom>
          <a:solidFill>
            <a:srgbClr val="FFFFFF"/>
          </a:solidFill>
          <a:ln w="15875">
            <a:solidFill>
              <a:srgbClr val="00A08C"/>
            </a:solidFill>
            <a:prstDash val="solid"/>
          </a:ln>
        </p:spPr>
      </p:sp>
      <p:sp>
        <p:nvSpPr>
          <p:cNvPr id="7" name="Shape 5"/>
          <p:cNvSpPr/>
          <p:nvPr/>
        </p:nvSpPr>
        <p:spPr>
          <a:xfrm>
            <a:off x="566928" y="1481328"/>
            <a:ext cx="3490874" cy="566928"/>
          </a:xfrm>
          <a:prstGeom prst="roundRect">
            <a:avLst>
              <a:gd name="adj" fmla="val 8065"/>
            </a:avLst>
          </a:prstGeom>
          <a:solidFill>
            <a:srgbClr val="D8F3EE"/>
          </a:solidFill>
          <a:ln w="12700">
            <a:solidFill>
              <a:srgbClr val="D8F3EE"/>
            </a:solidFill>
            <a:prstDash val="solid"/>
          </a:ln>
        </p:spPr>
      </p:sp>
      <p:sp>
        <p:nvSpPr>
          <p:cNvPr id="8" name="Shape 6"/>
          <p:cNvSpPr/>
          <p:nvPr/>
        </p:nvSpPr>
        <p:spPr>
          <a:xfrm>
            <a:off x="566928" y="1755648"/>
            <a:ext cx="3490874" cy="292608"/>
          </a:xfrm>
          <a:prstGeom prst="rect">
            <a:avLst/>
          </a:prstGeom>
          <a:solidFill>
            <a:srgbClr val="D8F3EE"/>
          </a:solidFill>
          <a:ln w="12700">
            <a:solidFill>
              <a:srgbClr val="D8F3EE"/>
            </a:solidFill>
            <a:prstDash val="solid"/>
          </a:ln>
        </p:spPr>
      </p:sp>
      <p:sp>
        <p:nvSpPr>
          <p:cNvPr id="9" name="Text 7"/>
          <p:cNvSpPr/>
          <p:nvPr/>
        </p:nvSpPr>
        <p:spPr>
          <a:xfrm>
            <a:off x="768096" y="1554480"/>
            <a:ext cx="3088538" cy="182880"/>
          </a:xfrm>
          <a:prstGeom prst="rect">
            <a:avLst/>
          </a:prstGeom>
          <a:noFill/>
          <a:ln/>
        </p:spPr>
        <p:txBody>
          <a:bodyPr wrap="square" lIns="0" tIns="0" rIns="0" bIns="0" rtlCol="0" anchor="ctr"/>
          <a:lstStyle/>
          <a:p>
            <a:pPr indent="0" marL="0">
              <a:buNone/>
            </a:pPr>
            <a:r>
              <a:rPr lang="en-US" sz="950" b="1" spc="120" kern="0" dirty="0">
                <a:solidFill>
                  <a:srgbClr val="00A08C"/>
                </a:solidFill>
                <a:latin typeface="Calibri" pitchFamily="34" charset="0"/>
                <a:ea typeface="Calibri" pitchFamily="34" charset="-122"/>
                <a:cs typeface="Calibri" pitchFamily="34" charset="-120"/>
              </a:rPr>
              <a:t>DAY 1 – 2</a:t>
            </a:r>
            <a:endParaRPr lang="en-US" sz="950" dirty="0"/>
          </a:p>
        </p:txBody>
      </p:sp>
      <p:sp>
        <p:nvSpPr>
          <p:cNvPr id="10" name="Text 8"/>
          <p:cNvSpPr/>
          <p:nvPr/>
        </p:nvSpPr>
        <p:spPr>
          <a:xfrm>
            <a:off x="768096"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Index a real corpus</a:t>
            </a:r>
            <a:endParaRPr lang="en-US" sz="1600" dirty="0"/>
          </a:p>
        </p:txBody>
      </p:sp>
      <p:sp>
        <p:nvSpPr>
          <p:cNvPr id="11" name="Text 9"/>
          <p:cNvSpPr/>
          <p:nvPr/>
        </p:nvSpPr>
        <p:spPr>
          <a:xfrm>
            <a:off x="877824"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Pick 30–100 documents you actually care about</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Write the loader and the chunker yourself</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Embed with MiniLM, store in Chroma</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Deliverable: a notebook that answers 5 questions</a:t>
            </a:r>
            <a:endParaRPr lang="en-US" sz="1250" dirty="0"/>
          </a:p>
        </p:txBody>
      </p:sp>
      <p:sp>
        <p:nvSpPr>
          <p:cNvPr id="12" name="Text 10"/>
          <p:cNvSpPr/>
          <p:nvPr/>
        </p:nvSpPr>
        <p:spPr>
          <a:xfrm>
            <a:off x="768096" y="5285232"/>
            <a:ext cx="3088538" cy="274320"/>
          </a:xfrm>
          <a:prstGeom prst="rect">
            <a:avLst/>
          </a:prstGeom>
          <a:noFill/>
          <a:ln/>
        </p:spPr>
        <p:txBody>
          <a:bodyPr wrap="square" lIns="0" tIns="0" rIns="0" bIns="0" rtlCol="0" anchor="ctr"/>
          <a:lstStyle/>
          <a:p>
            <a:pPr indent="0" marL="0">
              <a:buNone/>
            </a:pPr>
            <a:r>
              <a:rPr lang="en-US" sz="1150" b="1" dirty="0">
                <a:solidFill>
                  <a:srgbClr val="00A08C"/>
                </a:solidFill>
                <a:latin typeface="Calibri" pitchFamily="34" charset="0"/>
                <a:ea typeface="Calibri" pitchFamily="34" charset="-122"/>
                <a:cs typeface="Calibri" pitchFamily="34" charset="-120"/>
              </a:rPr>
              <a:t>Checkpoint: retrieval before generation</a:t>
            </a:r>
            <a:endParaRPr lang="en-US" sz="1150" dirty="0"/>
          </a:p>
        </p:txBody>
      </p:sp>
      <p:sp>
        <p:nvSpPr>
          <p:cNvPr id="13" name="Shape 11"/>
          <p:cNvSpPr/>
          <p:nvPr/>
        </p:nvSpPr>
        <p:spPr>
          <a:xfrm>
            <a:off x="4350410" y="1481328"/>
            <a:ext cx="3490874" cy="4187952"/>
          </a:xfrm>
          <a:prstGeom prst="roundRect">
            <a:avLst>
              <a:gd name="adj" fmla="val 1310"/>
            </a:avLst>
          </a:prstGeom>
          <a:solidFill>
            <a:srgbClr val="FFFFFF"/>
          </a:solidFill>
          <a:ln w="15875">
            <a:solidFill>
              <a:srgbClr val="7B5EA7"/>
            </a:solidFill>
            <a:prstDash val="solid"/>
          </a:ln>
        </p:spPr>
      </p:sp>
      <p:sp>
        <p:nvSpPr>
          <p:cNvPr id="14" name="Shape 12"/>
          <p:cNvSpPr/>
          <p:nvPr/>
        </p:nvSpPr>
        <p:spPr>
          <a:xfrm>
            <a:off x="4350410" y="1481328"/>
            <a:ext cx="3490874" cy="566928"/>
          </a:xfrm>
          <a:prstGeom prst="roundRect">
            <a:avLst>
              <a:gd name="adj" fmla="val 8065"/>
            </a:avLst>
          </a:prstGeom>
          <a:solidFill>
            <a:srgbClr val="EFE9F7"/>
          </a:solidFill>
          <a:ln w="12700">
            <a:solidFill>
              <a:srgbClr val="EFE9F7"/>
            </a:solidFill>
            <a:prstDash val="solid"/>
          </a:ln>
        </p:spPr>
      </p:sp>
      <p:sp>
        <p:nvSpPr>
          <p:cNvPr id="15" name="Shape 13"/>
          <p:cNvSpPr/>
          <p:nvPr/>
        </p:nvSpPr>
        <p:spPr>
          <a:xfrm>
            <a:off x="4350410" y="1755648"/>
            <a:ext cx="3490874" cy="292608"/>
          </a:xfrm>
          <a:prstGeom prst="rect">
            <a:avLst/>
          </a:prstGeom>
          <a:solidFill>
            <a:srgbClr val="EFE9F7"/>
          </a:solidFill>
          <a:ln w="12700">
            <a:solidFill>
              <a:srgbClr val="EFE9F7"/>
            </a:solidFill>
            <a:prstDash val="solid"/>
          </a:ln>
        </p:spPr>
      </p:sp>
      <p:sp>
        <p:nvSpPr>
          <p:cNvPr id="16" name="Text 14"/>
          <p:cNvSpPr/>
          <p:nvPr/>
        </p:nvSpPr>
        <p:spPr>
          <a:xfrm>
            <a:off x="4551578" y="1554480"/>
            <a:ext cx="3088538" cy="182880"/>
          </a:xfrm>
          <a:prstGeom prst="rect">
            <a:avLst/>
          </a:prstGeom>
          <a:noFill/>
          <a:ln/>
        </p:spPr>
        <p:txBody>
          <a:bodyPr wrap="square" lIns="0" tIns="0" rIns="0" bIns="0" rtlCol="0" anchor="ctr"/>
          <a:lstStyle/>
          <a:p>
            <a:pPr indent="0" marL="0">
              <a:buNone/>
            </a:pPr>
            <a:r>
              <a:rPr lang="en-US" sz="950" b="1" spc="120" kern="0" dirty="0">
                <a:solidFill>
                  <a:srgbClr val="7B5EA7"/>
                </a:solidFill>
                <a:latin typeface="Calibri" pitchFamily="34" charset="0"/>
                <a:ea typeface="Calibri" pitchFamily="34" charset="-122"/>
                <a:cs typeface="Calibri" pitchFamily="34" charset="-120"/>
              </a:rPr>
              <a:t>DAY 3</a:t>
            </a:r>
            <a:endParaRPr lang="en-US" sz="950" dirty="0"/>
          </a:p>
        </p:txBody>
      </p:sp>
      <p:sp>
        <p:nvSpPr>
          <p:cNvPr id="17" name="Text 15"/>
          <p:cNvSpPr/>
          <p:nvPr/>
        </p:nvSpPr>
        <p:spPr>
          <a:xfrm>
            <a:off x="4551578"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Measure and improve</a:t>
            </a:r>
            <a:endParaRPr lang="en-US" sz="1600" dirty="0"/>
          </a:p>
        </p:txBody>
      </p:sp>
      <p:sp>
        <p:nvSpPr>
          <p:cNvPr id="18" name="Text 16"/>
          <p:cNvSpPr/>
          <p:nvPr/>
        </p:nvSpPr>
        <p:spPr>
          <a:xfrm>
            <a:off x="4661306"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Write 20 golden questions with expected sources</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Score context recall at k = 1, 4, 10</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Add one upgrade: overlap, hybrid or re-ranking</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Deliverable: a before/after table</a:t>
            </a:r>
            <a:endParaRPr lang="en-US" sz="1250" dirty="0"/>
          </a:p>
        </p:txBody>
      </p:sp>
      <p:sp>
        <p:nvSpPr>
          <p:cNvPr id="19" name="Text 17"/>
          <p:cNvSpPr/>
          <p:nvPr/>
        </p:nvSpPr>
        <p:spPr>
          <a:xfrm>
            <a:off x="4551578" y="5285232"/>
            <a:ext cx="3088538" cy="274320"/>
          </a:xfrm>
          <a:prstGeom prst="rect">
            <a:avLst/>
          </a:prstGeom>
          <a:noFill/>
          <a:ln/>
        </p:spPr>
        <p:txBody>
          <a:bodyPr wrap="square" lIns="0" tIns="0" rIns="0" bIns="0" rtlCol="0" anchor="ctr"/>
          <a:lstStyle/>
          <a:p>
            <a:pPr indent="0" marL="0">
              <a:buNone/>
            </a:pPr>
            <a:r>
              <a:rPr lang="en-US" sz="1150" b="1" dirty="0">
                <a:solidFill>
                  <a:srgbClr val="7B5EA7"/>
                </a:solidFill>
                <a:latin typeface="Calibri" pitchFamily="34" charset="0"/>
                <a:ea typeface="Calibri" pitchFamily="34" charset="-122"/>
                <a:cs typeface="Calibri" pitchFamily="34" charset="-120"/>
              </a:rPr>
              <a:t>Checkpoint: a number, not a vibe</a:t>
            </a:r>
            <a:endParaRPr lang="en-US" sz="1150" dirty="0"/>
          </a:p>
        </p:txBody>
      </p:sp>
      <p:sp>
        <p:nvSpPr>
          <p:cNvPr id="20" name="Shape 18"/>
          <p:cNvSpPr/>
          <p:nvPr/>
        </p:nvSpPr>
        <p:spPr>
          <a:xfrm>
            <a:off x="8133893" y="1481328"/>
            <a:ext cx="3490874" cy="4187952"/>
          </a:xfrm>
          <a:prstGeom prst="roundRect">
            <a:avLst>
              <a:gd name="adj" fmla="val 1310"/>
            </a:avLst>
          </a:prstGeom>
          <a:solidFill>
            <a:srgbClr val="FFFFFF"/>
          </a:solidFill>
          <a:ln w="15875">
            <a:solidFill>
              <a:srgbClr val="A85708"/>
            </a:solidFill>
            <a:prstDash val="solid"/>
          </a:ln>
        </p:spPr>
      </p:sp>
      <p:sp>
        <p:nvSpPr>
          <p:cNvPr id="21" name="Shape 19"/>
          <p:cNvSpPr/>
          <p:nvPr/>
        </p:nvSpPr>
        <p:spPr>
          <a:xfrm>
            <a:off x="8133893" y="1481328"/>
            <a:ext cx="3490874" cy="566928"/>
          </a:xfrm>
          <a:prstGeom prst="roundRect">
            <a:avLst>
              <a:gd name="adj" fmla="val 8065"/>
            </a:avLst>
          </a:prstGeom>
          <a:solidFill>
            <a:srgbClr val="FCE9D4"/>
          </a:solidFill>
          <a:ln w="12700">
            <a:solidFill>
              <a:srgbClr val="FCE9D4"/>
            </a:solidFill>
            <a:prstDash val="solid"/>
          </a:ln>
        </p:spPr>
      </p:sp>
      <p:sp>
        <p:nvSpPr>
          <p:cNvPr id="22" name="Shape 20"/>
          <p:cNvSpPr/>
          <p:nvPr/>
        </p:nvSpPr>
        <p:spPr>
          <a:xfrm>
            <a:off x="8133893" y="1755648"/>
            <a:ext cx="3490874" cy="292608"/>
          </a:xfrm>
          <a:prstGeom prst="rect">
            <a:avLst/>
          </a:prstGeom>
          <a:solidFill>
            <a:srgbClr val="FCE9D4"/>
          </a:solidFill>
          <a:ln w="12700">
            <a:solidFill>
              <a:srgbClr val="FCE9D4"/>
            </a:solidFill>
            <a:prstDash val="solid"/>
          </a:ln>
        </p:spPr>
      </p:sp>
      <p:sp>
        <p:nvSpPr>
          <p:cNvPr id="23" name="Text 21"/>
          <p:cNvSpPr/>
          <p:nvPr/>
        </p:nvSpPr>
        <p:spPr>
          <a:xfrm>
            <a:off x="8335061" y="1554480"/>
            <a:ext cx="3088538" cy="182880"/>
          </a:xfrm>
          <a:prstGeom prst="rect">
            <a:avLst/>
          </a:prstGeom>
          <a:noFill/>
          <a:ln/>
        </p:spPr>
        <p:txBody>
          <a:bodyPr wrap="square" lIns="0" tIns="0" rIns="0" bIns="0" rtlCol="0" anchor="ctr"/>
          <a:lstStyle/>
          <a:p>
            <a:pPr indent="0" marL="0">
              <a:buNone/>
            </a:pPr>
            <a:r>
              <a:rPr lang="en-US" sz="950" b="1" spc="120" kern="0" dirty="0">
                <a:solidFill>
                  <a:srgbClr val="A85708"/>
                </a:solidFill>
                <a:latin typeface="Calibri" pitchFamily="34" charset="0"/>
                <a:ea typeface="Calibri" pitchFamily="34" charset="-122"/>
                <a:cs typeface="Calibri" pitchFamily="34" charset="-120"/>
              </a:rPr>
              <a:t>DAY 4 – 5</a:t>
            </a:r>
            <a:endParaRPr lang="en-US" sz="950" dirty="0"/>
          </a:p>
        </p:txBody>
      </p:sp>
      <p:sp>
        <p:nvSpPr>
          <p:cNvPr id="24" name="Text 22"/>
          <p:cNvSpPr/>
          <p:nvPr/>
        </p:nvSpPr>
        <p:spPr>
          <a:xfrm>
            <a:off x="8335061" y="1737360"/>
            <a:ext cx="3088538" cy="292608"/>
          </a:xfrm>
          <a:prstGeom prst="rect">
            <a:avLst/>
          </a:prstGeom>
          <a:noFill/>
          <a:ln/>
        </p:spPr>
        <p:txBody>
          <a:bodyPr wrap="square" lIns="0" tIns="0" rIns="0" bIns="0" rtlCol="0" anchor="ctr"/>
          <a:lstStyle/>
          <a:p>
            <a:pPr indent="0" marL="0">
              <a:buNone/>
            </a:pPr>
            <a:r>
              <a:rPr lang="en-US" sz="1600" b="1" dirty="0">
                <a:solidFill>
                  <a:srgbClr val="141728"/>
                </a:solidFill>
                <a:latin typeface="Calibri" pitchFamily="34" charset="0"/>
                <a:ea typeface="Calibri" pitchFamily="34" charset="-122"/>
                <a:cs typeface="Calibri" pitchFamily="34" charset="-120"/>
              </a:rPr>
              <a:t>Expose it over MCP</a:t>
            </a:r>
            <a:endParaRPr lang="en-US" sz="1600" dirty="0"/>
          </a:p>
        </p:txBody>
      </p:sp>
      <p:sp>
        <p:nvSpPr>
          <p:cNvPr id="25" name="Text 23"/>
          <p:cNvSpPr/>
          <p:nvPr/>
        </p:nvSpPr>
        <p:spPr>
          <a:xfrm>
            <a:off x="8444789" y="2194560"/>
            <a:ext cx="2978810" cy="327355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Wrap the pipeline as search_docs(query, k)</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Add one resource and one prompt template</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Connect it to a host and record a demo</a:t>
            </a:r>
            <a:endParaRPr lang="en-US" sz="1250" dirty="0"/>
          </a:p>
          <a:p>
            <a:pPr marL="342900" indent="-342900">
              <a:spcAft>
                <a:spcPts val="600"/>
              </a:spcAft>
              <a:buSzPct val="100000"/>
              <a:buChar char="•"/>
            </a:pPr>
            <a:r>
              <a:rPr lang="en-US" sz="1250" dirty="0">
                <a:solidFill>
                  <a:srgbClr val="2B3050"/>
                </a:solidFill>
                <a:latin typeface="Calibri" pitchFamily="34" charset="0"/>
                <a:ea typeface="Calibri" pitchFamily="34" charset="-122"/>
                <a:cs typeface="Calibri" pitchFamily="34" charset="-120"/>
              </a:rPr>
              <a:t>Deliverable: server.py + a 2-minute screen capture</a:t>
            </a:r>
            <a:endParaRPr lang="en-US" sz="1250" dirty="0"/>
          </a:p>
        </p:txBody>
      </p:sp>
      <p:sp>
        <p:nvSpPr>
          <p:cNvPr id="26" name="Text 24"/>
          <p:cNvSpPr/>
          <p:nvPr/>
        </p:nvSpPr>
        <p:spPr>
          <a:xfrm>
            <a:off x="8335061" y="5285232"/>
            <a:ext cx="3088538" cy="274320"/>
          </a:xfrm>
          <a:prstGeom prst="rect">
            <a:avLst/>
          </a:prstGeom>
          <a:noFill/>
          <a:ln/>
        </p:spPr>
        <p:txBody>
          <a:bodyPr wrap="square" lIns="0" tIns="0" rIns="0" bIns="0" rtlCol="0" anchor="ctr"/>
          <a:lstStyle/>
          <a:p>
            <a:pPr indent="0" marL="0">
              <a:buNone/>
            </a:pPr>
            <a:r>
              <a:rPr lang="en-US" sz="1150" b="1" dirty="0">
                <a:solidFill>
                  <a:srgbClr val="A85708"/>
                </a:solidFill>
                <a:latin typeface="Calibri" pitchFamily="34" charset="0"/>
                <a:ea typeface="Calibri" pitchFamily="34" charset="-122"/>
                <a:cs typeface="Calibri" pitchFamily="34" charset="-120"/>
              </a:rPr>
              <a:t>Checkpoint: someone else can run it</a:t>
            </a:r>
            <a:endParaRPr lang="en-US" sz="1150" dirty="0"/>
          </a:p>
        </p:txBody>
      </p:sp>
      <p:sp>
        <p:nvSpPr>
          <p:cNvPr id="27" name="Shape 25"/>
          <p:cNvSpPr/>
          <p:nvPr/>
        </p:nvSpPr>
        <p:spPr>
          <a:xfrm>
            <a:off x="566928" y="5870448"/>
            <a:ext cx="11057839" cy="512064"/>
          </a:xfrm>
          <a:prstGeom prst="roundRect">
            <a:avLst>
              <a:gd name="adj" fmla="val 14286"/>
            </a:avLst>
          </a:prstGeom>
          <a:solidFill>
            <a:srgbClr val="E7EAFB"/>
          </a:solidFill>
          <a:ln/>
        </p:spPr>
      </p:sp>
      <p:sp>
        <p:nvSpPr>
          <p:cNvPr id="28" name="Text 26"/>
          <p:cNvSpPr/>
          <p:nvPr/>
        </p:nvSpPr>
        <p:spPr>
          <a:xfrm>
            <a:off x="804672" y="5870448"/>
            <a:ext cx="10582351" cy="512064"/>
          </a:xfrm>
          <a:prstGeom prst="rect">
            <a:avLst/>
          </a:prstGeom>
          <a:noFill/>
          <a:ln/>
        </p:spPr>
        <p:txBody>
          <a:bodyPr wrap="square" lIns="0" tIns="0" rIns="0" bIns="0" rtlCol="0" anchor="ctr"/>
          <a:lstStyle/>
          <a:p>
            <a:pPr indent="0" marL="0">
              <a:buNone/>
            </a:pPr>
            <a:r>
              <a:rPr lang="en-US" sz="1350" b="1" dirty="0">
                <a:solidFill>
                  <a:srgbClr val="2B3583"/>
                </a:solidFill>
                <a:latin typeface="Calibri" pitchFamily="34" charset="0"/>
                <a:ea typeface="Calibri" pitchFamily="34" charset="-122"/>
                <a:cs typeface="Calibri" pitchFamily="34" charset="-120"/>
              </a:rPr>
              <a:t>Scope rule: one job, one to three tools, one concrete deliverable. Resist adding a second data source until the first one scores well.</a:t>
            </a:r>
            <a:endParaRPr lang="en-US" sz="1350" dirty="0"/>
          </a:p>
        </p:txBody>
      </p:sp>
      <p:sp>
        <p:nvSpPr>
          <p:cNvPr id="29" name="Text 27"/>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6B7091"/>
                </a:solidFill>
                <a:latin typeface="Calibri" pitchFamily="34" charset="0"/>
                <a:ea typeface="Calibri" pitchFamily="34" charset="-122"/>
                <a:cs typeface="Calibri" pitchFamily="34" charset="-120"/>
              </a:rPr>
              <a:t>Lab brief</a:t>
            </a:r>
            <a:endParaRPr lang="en-US" sz="1000" dirty="0"/>
          </a:p>
        </p:txBody>
      </p:sp>
      <p:sp>
        <p:nvSpPr>
          <p:cNvPr id="30" name="Text 28"/>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6B7091"/>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A38"/>
        </a:solidFill>
      </p:bgPr>
    </p:bg>
    <p:spTree>
      <p:nvGrpSpPr>
        <p:cNvPr id="1" name=""/>
        <p:cNvGrpSpPr/>
        <p:nvPr/>
      </p:nvGrpSpPr>
      <p:grpSpPr>
        <a:xfrm>
          <a:off x="0" y="0"/>
          <a:ext cx="0" cy="0"/>
          <a:chOff x="0" y="0"/>
          <a:chExt cx="0" cy="0"/>
        </a:xfrm>
      </p:grpSpPr>
      <p:sp>
        <p:nvSpPr>
          <p:cNvPr id="2" name="Shape 0"/>
          <p:cNvSpPr/>
          <p:nvPr/>
        </p:nvSpPr>
        <p:spPr>
          <a:xfrm>
            <a:off x="9326880" y="-1645920"/>
            <a:ext cx="5486400" cy="5486400"/>
          </a:xfrm>
          <a:prstGeom prst="ellipse">
            <a:avLst/>
          </a:prstGeom>
          <a:solidFill>
            <a:srgbClr val="00A08C">
              <a:alpha val="10000"/>
            </a:srgbClr>
          </a:solidFill>
          <a:ln/>
        </p:spPr>
      </p:sp>
      <p:sp>
        <p:nvSpPr>
          <p:cNvPr id="3" name="Text 1"/>
          <p:cNvSpPr/>
          <p:nvPr/>
        </p:nvSpPr>
        <p:spPr>
          <a:xfrm>
            <a:off x="566928" y="548640"/>
            <a:ext cx="7863840" cy="658368"/>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Take these five with you</a:t>
            </a:r>
            <a:endParaRPr lang="en-US" sz="3600" dirty="0"/>
          </a:p>
        </p:txBody>
      </p:sp>
      <p:sp>
        <p:nvSpPr>
          <p:cNvPr id="4" name="Shape 2"/>
          <p:cNvSpPr/>
          <p:nvPr/>
        </p:nvSpPr>
        <p:spPr>
          <a:xfrm>
            <a:off x="566928" y="1536192"/>
            <a:ext cx="365760" cy="365760"/>
          </a:xfrm>
          <a:prstGeom prst="ellipse">
            <a:avLst/>
          </a:prstGeom>
          <a:solidFill>
            <a:srgbClr val="00A08C"/>
          </a:solidFill>
          <a:ln/>
        </p:spPr>
      </p:sp>
      <p:sp>
        <p:nvSpPr>
          <p:cNvPr id="5" name="Text 3"/>
          <p:cNvSpPr/>
          <p:nvPr/>
        </p:nvSpPr>
        <p:spPr>
          <a:xfrm>
            <a:off x="566928" y="1536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33856" y="1481328"/>
            <a:ext cx="676656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RAG changes what the model knows.</a:t>
            </a:r>
            <a:endParaRPr lang="en-US" sz="1700" dirty="0"/>
          </a:p>
        </p:txBody>
      </p:sp>
      <p:sp>
        <p:nvSpPr>
          <p:cNvPr id="7" name="Text 5"/>
          <p:cNvSpPr/>
          <p:nvPr/>
        </p:nvSpPr>
        <p:spPr>
          <a:xfrm>
            <a:off x="1133856" y="1773936"/>
            <a:ext cx="6766560" cy="274320"/>
          </a:xfrm>
          <a:prstGeom prst="rect">
            <a:avLst/>
          </a:prstGeom>
          <a:noFill/>
          <a:ln/>
        </p:spPr>
        <p:txBody>
          <a:bodyPr wrap="square" lIns="0" tIns="0" rIns="0" bIns="0" rtlCol="0" anchor="ctr"/>
          <a:lstStyle/>
          <a:p>
            <a:pPr indent="0" marL="0">
              <a:buNone/>
            </a:pPr>
            <a:r>
              <a:rPr lang="en-US" sz="1350" dirty="0">
                <a:solidFill>
                  <a:srgbClr val="AEB6DC"/>
                </a:solidFill>
                <a:latin typeface="Calibri" pitchFamily="34" charset="0"/>
                <a:ea typeface="Calibri" pitchFamily="34" charset="-122"/>
                <a:cs typeface="Calibri" pitchFamily="34" charset="-120"/>
              </a:rPr>
              <a:t>Fine-tune for behaviour; retrieve for facts.</a:t>
            </a:r>
            <a:endParaRPr lang="en-US" sz="1350" dirty="0"/>
          </a:p>
        </p:txBody>
      </p:sp>
      <p:sp>
        <p:nvSpPr>
          <p:cNvPr id="8" name="Shape 6"/>
          <p:cNvSpPr/>
          <p:nvPr/>
        </p:nvSpPr>
        <p:spPr>
          <a:xfrm>
            <a:off x="566928" y="2322576"/>
            <a:ext cx="365760" cy="365760"/>
          </a:xfrm>
          <a:prstGeom prst="ellipse">
            <a:avLst/>
          </a:prstGeom>
          <a:solidFill>
            <a:srgbClr val="00A08C"/>
          </a:solidFill>
          <a:ln/>
        </p:spPr>
      </p:sp>
      <p:sp>
        <p:nvSpPr>
          <p:cNvPr id="9" name="Text 7"/>
          <p:cNvSpPr/>
          <p:nvPr/>
        </p:nvSpPr>
        <p:spPr>
          <a:xfrm>
            <a:off x="566928" y="2322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33856" y="2267712"/>
            <a:ext cx="676656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MCP changes what the model can reach.</a:t>
            </a:r>
            <a:endParaRPr lang="en-US" sz="1700" dirty="0"/>
          </a:p>
        </p:txBody>
      </p:sp>
      <p:sp>
        <p:nvSpPr>
          <p:cNvPr id="11" name="Text 9"/>
          <p:cNvSpPr/>
          <p:nvPr/>
        </p:nvSpPr>
        <p:spPr>
          <a:xfrm>
            <a:off x="1133856" y="2560320"/>
            <a:ext cx="6766560" cy="274320"/>
          </a:xfrm>
          <a:prstGeom prst="rect">
            <a:avLst/>
          </a:prstGeom>
          <a:noFill/>
          <a:ln/>
        </p:spPr>
        <p:txBody>
          <a:bodyPr wrap="square" lIns="0" tIns="0" rIns="0" bIns="0" rtlCol="0" anchor="ctr"/>
          <a:lstStyle/>
          <a:p>
            <a:pPr indent="0" marL="0">
              <a:buNone/>
            </a:pPr>
            <a:r>
              <a:rPr lang="en-US" sz="1350" dirty="0">
                <a:solidFill>
                  <a:srgbClr val="AEB6DC"/>
                </a:solidFill>
                <a:latin typeface="Calibri" pitchFamily="34" charset="0"/>
                <a:ea typeface="Calibri" pitchFamily="34" charset="-122"/>
                <a:cs typeface="Calibri" pitchFamily="34" charset="-120"/>
              </a:rPr>
              <a:t>One protocol instead of N × M connectors.</a:t>
            </a:r>
            <a:endParaRPr lang="en-US" sz="1350" dirty="0"/>
          </a:p>
        </p:txBody>
      </p:sp>
      <p:sp>
        <p:nvSpPr>
          <p:cNvPr id="12" name="Shape 10"/>
          <p:cNvSpPr/>
          <p:nvPr/>
        </p:nvSpPr>
        <p:spPr>
          <a:xfrm>
            <a:off x="566928" y="3108960"/>
            <a:ext cx="365760" cy="365760"/>
          </a:xfrm>
          <a:prstGeom prst="ellipse">
            <a:avLst/>
          </a:prstGeom>
          <a:solidFill>
            <a:srgbClr val="E07B18"/>
          </a:solidFill>
          <a:ln/>
        </p:spPr>
      </p:sp>
      <p:sp>
        <p:nvSpPr>
          <p:cNvPr id="13" name="Text 11"/>
          <p:cNvSpPr/>
          <p:nvPr/>
        </p:nvSpPr>
        <p:spPr>
          <a:xfrm>
            <a:off x="56692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33856" y="3054096"/>
            <a:ext cx="676656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Chunking sets your ceiling.</a:t>
            </a:r>
            <a:endParaRPr lang="en-US" sz="1700" dirty="0"/>
          </a:p>
        </p:txBody>
      </p:sp>
      <p:sp>
        <p:nvSpPr>
          <p:cNvPr id="15" name="Text 13"/>
          <p:cNvSpPr/>
          <p:nvPr/>
        </p:nvSpPr>
        <p:spPr>
          <a:xfrm>
            <a:off x="1133856" y="3346704"/>
            <a:ext cx="6766560" cy="274320"/>
          </a:xfrm>
          <a:prstGeom prst="rect">
            <a:avLst/>
          </a:prstGeom>
          <a:noFill/>
          <a:ln/>
        </p:spPr>
        <p:txBody>
          <a:bodyPr wrap="square" lIns="0" tIns="0" rIns="0" bIns="0" rtlCol="0" anchor="ctr"/>
          <a:lstStyle/>
          <a:p>
            <a:pPr indent="0" marL="0">
              <a:buNone/>
            </a:pPr>
            <a:r>
              <a:rPr lang="en-US" sz="1350" dirty="0">
                <a:solidFill>
                  <a:srgbClr val="AEB6DC"/>
                </a:solidFill>
                <a:latin typeface="Calibri" pitchFamily="34" charset="0"/>
                <a:ea typeface="Calibri" pitchFamily="34" charset="-122"/>
                <a:cs typeface="Calibri" pitchFamily="34" charset="-120"/>
              </a:rPr>
              <a:t>You can only retrieve chunks you chose to create.</a:t>
            </a:r>
            <a:endParaRPr lang="en-US" sz="1350" dirty="0"/>
          </a:p>
        </p:txBody>
      </p:sp>
      <p:sp>
        <p:nvSpPr>
          <p:cNvPr id="16" name="Shape 14"/>
          <p:cNvSpPr/>
          <p:nvPr/>
        </p:nvSpPr>
        <p:spPr>
          <a:xfrm>
            <a:off x="566928" y="3895344"/>
            <a:ext cx="365760" cy="365760"/>
          </a:xfrm>
          <a:prstGeom prst="ellipse">
            <a:avLst/>
          </a:prstGeom>
          <a:solidFill>
            <a:srgbClr val="E07B18"/>
          </a:solidFill>
          <a:ln/>
        </p:spPr>
      </p:sp>
      <p:sp>
        <p:nvSpPr>
          <p:cNvPr id="17" name="Text 15"/>
          <p:cNvSpPr/>
          <p:nvPr/>
        </p:nvSpPr>
        <p:spPr>
          <a:xfrm>
            <a:off x="566928" y="38953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133856" y="3840480"/>
            <a:ext cx="676656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Measure before you tune.</a:t>
            </a:r>
            <a:endParaRPr lang="en-US" sz="1700" dirty="0"/>
          </a:p>
        </p:txBody>
      </p:sp>
      <p:sp>
        <p:nvSpPr>
          <p:cNvPr id="19" name="Text 17"/>
          <p:cNvSpPr/>
          <p:nvPr/>
        </p:nvSpPr>
        <p:spPr>
          <a:xfrm>
            <a:off x="1133856" y="4133088"/>
            <a:ext cx="6766560" cy="274320"/>
          </a:xfrm>
          <a:prstGeom prst="rect">
            <a:avLst/>
          </a:prstGeom>
          <a:noFill/>
          <a:ln/>
        </p:spPr>
        <p:txBody>
          <a:bodyPr wrap="square" lIns="0" tIns="0" rIns="0" bIns="0" rtlCol="0" anchor="ctr"/>
          <a:lstStyle/>
          <a:p>
            <a:pPr indent="0" marL="0">
              <a:buNone/>
            </a:pPr>
            <a:r>
              <a:rPr lang="en-US" sz="1350" dirty="0">
                <a:solidFill>
                  <a:srgbClr val="AEB6DC"/>
                </a:solidFill>
                <a:latin typeface="Calibri" pitchFamily="34" charset="0"/>
                <a:ea typeface="Calibri" pitchFamily="34" charset="-122"/>
                <a:cs typeface="Calibri" pitchFamily="34" charset="-120"/>
              </a:rPr>
              <a:t>A golden set of 50 questions beats any amount of intuition.</a:t>
            </a:r>
            <a:endParaRPr lang="en-US" sz="1350" dirty="0"/>
          </a:p>
        </p:txBody>
      </p:sp>
      <p:sp>
        <p:nvSpPr>
          <p:cNvPr id="20" name="Shape 18"/>
          <p:cNvSpPr/>
          <p:nvPr/>
        </p:nvSpPr>
        <p:spPr>
          <a:xfrm>
            <a:off x="566928" y="4681728"/>
            <a:ext cx="365760" cy="365760"/>
          </a:xfrm>
          <a:prstGeom prst="ellipse">
            <a:avLst/>
          </a:prstGeom>
          <a:solidFill>
            <a:srgbClr val="C8496B"/>
          </a:solidFill>
          <a:ln/>
        </p:spPr>
      </p:sp>
      <p:sp>
        <p:nvSpPr>
          <p:cNvPr id="21" name="Text 19"/>
          <p:cNvSpPr/>
          <p:nvPr/>
        </p:nvSpPr>
        <p:spPr>
          <a:xfrm>
            <a:off x="566928" y="4681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133856" y="4626864"/>
            <a:ext cx="676656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Treat tool output as untrusted.</a:t>
            </a:r>
            <a:endParaRPr lang="en-US" sz="1700" dirty="0"/>
          </a:p>
        </p:txBody>
      </p:sp>
      <p:sp>
        <p:nvSpPr>
          <p:cNvPr id="23" name="Text 21"/>
          <p:cNvSpPr/>
          <p:nvPr/>
        </p:nvSpPr>
        <p:spPr>
          <a:xfrm>
            <a:off x="1133856" y="4919472"/>
            <a:ext cx="6766560" cy="274320"/>
          </a:xfrm>
          <a:prstGeom prst="rect">
            <a:avLst/>
          </a:prstGeom>
          <a:noFill/>
          <a:ln/>
        </p:spPr>
        <p:txBody>
          <a:bodyPr wrap="square" lIns="0" tIns="0" rIns="0" bIns="0" rtlCol="0" anchor="ctr"/>
          <a:lstStyle/>
          <a:p>
            <a:pPr indent="0" marL="0">
              <a:buNone/>
            </a:pPr>
            <a:r>
              <a:rPr lang="en-US" sz="1350" dirty="0">
                <a:solidFill>
                  <a:srgbClr val="AEB6DC"/>
                </a:solidFill>
                <a:latin typeface="Calibri" pitchFamily="34" charset="0"/>
                <a:ea typeface="Calibri" pitchFamily="34" charset="-122"/>
                <a:cs typeface="Calibri" pitchFamily="34" charset="-120"/>
              </a:rPr>
              <a:t>Least privilege, confirmation on writes, log everything.</a:t>
            </a:r>
            <a:endParaRPr lang="en-US" sz="1350" dirty="0"/>
          </a:p>
        </p:txBody>
      </p:sp>
      <p:sp>
        <p:nvSpPr>
          <p:cNvPr id="24" name="Shape 22"/>
          <p:cNvSpPr/>
          <p:nvPr/>
        </p:nvSpPr>
        <p:spPr>
          <a:xfrm>
            <a:off x="8138160" y="1481328"/>
            <a:ext cx="3493008" cy="4023360"/>
          </a:xfrm>
          <a:prstGeom prst="roundRect">
            <a:avLst>
              <a:gd name="adj" fmla="val 1309"/>
            </a:avLst>
          </a:prstGeom>
          <a:solidFill>
            <a:srgbClr val="1E2650"/>
          </a:solidFill>
          <a:ln/>
        </p:spPr>
      </p:sp>
      <p:sp>
        <p:nvSpPr>
          <p:cNvPr id="25" name="Text 23"/>
          <p:cNvSpPr/>
          <p:nvPr/>
        </p:nvSpPr>
        <p:spPr>
          <a:xfrm>
            <a:off x="8412480" y="1700784"/>
            <a:ext cx="3017520" cy="274320"/>
          </a:xfrm>
          <a:prstGeom prst="rect">
            <a:avLst/>
          </a:prstGeom>
          <a:noFill/>
          <a:ln/>
        </p:spPr>
        <p:txBody>
          <a:bodyPr wrap="square" lIns="0" tIns="0" rIns="0" bIns="0" rtlCol="0" anchor="ctr"/>
          <a:lstStyle/>
          <a:p>
            <a:pPr indent="0" marL="0">
              <a:buNone/>
            </a:pPr>
            <a:r>
              <a:rPr lang="en-US" sz="1100" b="1" spc="160" kern="0" dirty="0">
                <a:solidFill>
                  <a:srgbClr val="00A08C"/>
                </a:solidFill>
                <a:latin typeface="Calibri" pitchFamily="34" charset="0"/>
                <a:ea typeface="Calibri" pitchFamily="34" charset="-122"/>
                <a:cs typeface="Calibri" pitchFamily="34" charset="-120"/>
              </a:rPr>
              <a:t>GO DEEPER</a:t>
            </a:r>
            <a:endParaRPr lang="en-US" sz="1100" dirty="0"/>
          </a:p>
        </p:txBody>
      </p:sp>
      <p:sp>
        <p:nvSpPr>
          <p:cNvPr id="26" name="Text 24"/>
          <p:cNvSpPr/>
          <p:nvPr/>
        </p:nvSpPr>
        <p:spPr>
          <a:xfrm>
            <a:off x="8412480" y="2066544"/>
            <a:ext cx="301752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Lewis et al., 2020</a:t>
            </a:r>
            <a:endParaRPr lang="en-US" sz="1350" dirty="0"/>
          </a:p>
        </p:txBody>
      </p:sp>
      <p:sp>
        <p:nvSpPr>
          <p:cNvPr id="27" name="Text 25"/>
          <p:cNvSpPr/>
          <p:nvPr/>
        </p:nvSpPr>
        <p:spPr>
          <a:xfrm>
            <a:off x="8412480" y="2304288"/>
            <a:ext cx="3017520" cy="566928"/>
          </a:xfrm>
          <a:prstGeom prst="rect">
            <a:avLst/>
          </a:prstGeom>
          <a:noFill/>
          <a:ln/>
        </p:spPr>
        <p:txBody>
          <a:bodyPr wrap="square" lIns="0" tIns="0" rIns="0" bIns="0" rtlCol="0" anchor="t"/>
          <a:lstStyle/>
          <a:p>
            <a:pPr indent="0" marL="0">
              <a:buNone/>
            </a:pPr>
            <a:r>
              <a:rPr lang="en-US" sz="1100" dirty="0">
                <a:solidFill>
                  <a:srgbClr val="AEB6DC"/>
                </a:solidFill>
                <a:latin typeface="Calibri" pitchFamily="34" charset="0"/>
                <a:ea typeface="Calibri" pitchFamily="34" charset="-122"/>
                <a:cs typeface="Calibri" pitchFamily="34" charset="-120"/>
              </a:rPr>
              <a:t>"Retrieval-Augmented Generation for Knowledge-Intensive NLP" — the original paper</a:t>
            </a:r>
            <a:endParaRPr lang="en-US" sz="1100" dirty="0"/>
          </a:p>
        </p:txBody>
      </p:sp>
      <p:sp>
        <p:nvSpPr>
          <p:cNvPr id="28" name="Text 26"/>
          <p:cNvSpPr/>
          <p:nvPr/>
        </p:nvSpPr>
        <p:spPr>
          <a:xfrm>
            <a:off x="8412480" y="2926080"/>
            <a:ext cx="301752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Gao et al., 2023</a:t>
            </a:r>
            <a:endParaRPr lang="en-US" sz="1350" dirty="0"/>
          </a:p>
        </p:txBody>
      </p:sp>
      <p:sp>
        <p:nvSpPr>
          <p:cNvPr id="29" name="Text 27"/>
          <p:cNvSpPr/>
          <p:nvPr/>
        </p:nvSpPr>
        <p:spPr>
          <a:xfrm>
            <a:off x="8412480" y="3163824"/>
            <a:ext cx="3017520" cy="566928"/>
          </a:xfrm>
          <a:prstGeom prst="rect">
            <a:avLst/>
          </a:prstGeom>
          <a:noFill/>
          <a:ln/>
        </p:spPr>
        <p:txBody>
          <a:bodyPr wrap="square" lIns="0" tIns="0" rIns="0" bIns="0" rtlCol="0" anchor="t"/>
          <a:lstStyle/>
          <a:p>
            <a:pPr indent="0" marL="0">
              <a:buNone/>
            </a:pPr>
            <a:r>
              <a:rPr lang="en-US" sz="1100" dirty="0">
                <a:solidFill>
                  <a:srgbClr val="AEB6DC"/>
                </a:solidFill>
                <a:latin typeface="Calibri" pitchFamily="34" charset="0"/>
                <a:ea typeface="Calibri" pitchFamily="34" charset="-122"/>
                <a:cs typeface="Calibri" pitchFamily="34" charset="-120"/>
              </a:rPr>
              <a:t>"Retrieval-Augmented Generation for LLMs: A Survey" — the naive/advanced/modular taxonomy</a:t>
            </a:r>
            <a:endParaRPr lang="en-US" sz="1100" dirty="0"/>
          </a:p>
        </p:txBody>
      </p:sp>
      <p:sp>
        <p:nvSpPr>
          <p:cNvPr id="30" name="Text 28"/>
          <p:cNvSpPr/>
          <p:nvPr/>
        </p:nvSpPr>
        <p:spPr>
          <a:xfrm>
            <a:off x="8412480" y="3785616"/>
            <a:ext cx="301752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modelcontextprotocol.io</a:t>
            </a:r>
            <a:endParaRPr lang="en-US" sz="1350" dirty="0"/>
          </a:p>
        </p:txBody>
      </p:sp>
      <p:sp>
        <p:nvSpPr>
          <p:cNvPr id="31" name="Text 29"/>
          <p:cNvSpPr/>
          <p:nvPr/>
        </p:nvSpPr>
        <p:spPr>
          <a:xfrm>
            <a:off x="8412480" y="4023360"/>
            <a:ext cx="3017520" cy="566928"/>
          </a:xfrm>
          <a:prstGeom prst="rect">
            <a:avLst/>
          </a:prstGeom>
          <a:noFill/>
          <a:ln/>
        </p:spPr>
        <p:txBody>
          <a:bodyPr wrap="square" lIns="0" tIns="0" rIns="0" bIns="0" rtlCol="0" anchor="t"/>
          <a:lstStyle/>
          <a:p>
            <a:pPr indent="0" marL="0">
              <a:buNone/>
            </a:pPr>
            <a:r>
              <a:rPr lang="en-US" sz="1100" dirty="0">
                <a:solidFill>
                  <a:srgbClr val="AEB6DC"/>
                </a:solidFill>
                <a:latin typeface="Calibri" pitchFamily="34" charset="0"/>
                <a:ea typeface="Calibri" pitchFamily="34" charset="-122"/>
                <a:cs typeface="Calibri" pitchFamily="34" charset="-120"/>
              </a:rPr>
              <a:t>Specification, SDKs and the Inspector</a:t>
            </a:r>
            <a:endParaRPr lang="en-US" sz="1100" dirty="0"/>
          </a:p>
        </p:txBody>
      </p:sp>
      <p:sp>
        <p:nvSpPr>
          <p:cNvPr id="32" name="Text 30"/>
          <p:cNvSpPr/>
          <p:nvPr/>
        </p:nvSpPr>
        <p:spPr>
          <a:xfrm>
            <a:off x="8412480" y="4645152"/>
            <a:ext cx="301752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RAGAS documentation</a:t>
            </a:r>
            <a:endParaRPr lang="en-US" sz="1350" dirty="0"/>
          </a:p>
        </p:txBody>
      </p:sp>
      <p:sp>
        <p:nvSpPr>
          <p:cNvPr id="33" name="Text 31"/>
          <p:cNvSpPr/>
          <p:nvPr/>
        </p:nvSpPr>
        <p:spPr>
          <a:xfrm>
            <a:off x="8412480" y="4882896"/>
            <a:ext cx="3017520" cy="566928"/>
          </a:xfrm>
          <a:prstGeom prst="rect">
            <a:avLst/>
          </a:prstGeom>
          <a:noFill/>
          <a:ln/>
        </p:spPr>
        <p:txBody>
          <a:bodyPr wrap="square" lIns="0" tIns="0" rIns="0" bIns="0" rtlCol="0" anchor="t"/>
          <a:lstStyle/>
          <a:p>
            <a:pPr indent="0" marL="0">
              <a:buNone/>
            </a:pPr>
            <a:r>
              <a:rPr lang="en-US" sz="1100" dirty="0">
                <a:solidFill>
                  <a:srgbClr val="AEB6DC"/>
                </a:solidFill>
                <a:latin typeface="Calibri" pitchFamily="34" charset="0"/>
                <a:ea typeface="Calibri" pitchFamily="34" charset="-122"/>
                <a:cs typeface="Calibri" pitchFamily="34" charset="-120"/>
              </a:rPr>
              <a:t>Reference implementation of the four metrics</a:t>
            </a:r>
            <a:endParaRPr lang="en-US" sz="1100" dirty="0"/>
          </a:p>
        </p:txBody>
      </p:sp>
      <p:sp>
        <p:nvSpPr>
          <p:cNvPr id="34" name="Text 32"/>
          <p:cNvSpPr/>
          <p:nvPr/>
        </p:nvSpPr>
        <p:spPr>
          <a:xfrm>
            <a:off x="566928" y="5742432"/>
            <a:ext cx="7315200" cy="365760"/>
          </a:xfrm>
          <a:prstGeom prst="rect">
            <a:avLst/>
          </a:prstGeom>
          <a:noFill/>
          <a:ln/>
        </p:spPr>
        <p:txBody>
          <a:bodyPr wrap="square" lIns="0" tIns="0" rIns="0" bIns="0" rtlCol="0" anchor="ctr"/>
          <a:lstStyle/>
          <a:p>
            <a:pPr indent="0" marL="0">
              <a:buNone/>
            </a:pPr>
            <a:r>
              <a:rPr lang="en-US" sz="1500" i="1" dirty="0">
                <a:solidFill>
                  <a:srgbClr val="AEB6DC"/>
                </a:solidFill>
                <a:latin typeface="Calibri" pitchFamily="34" charset="0"/>
                <a:ea typeface="Calibri" pitchFamily="34" charset="-122"/>
                <a:cs typeface="Calibri" pitchFamily="34" charset="-120"/>
              </a:rPr>
              <a:t>Questions? Then open a terminal — the lab brief is on slide 28.</a:t>
            </a:r>
            <a:endParaRPr lang="en-US" sz="1500" dirty="0"/>
          </a:p>
        </p:txBody>
      </p:sp>
      <p:sp>
        <p:nvSpPr>
          <p:cNvPr id="35" name="Text 33"/>
          <p:cNvSpPr/>
          <p:nvPr/>
        </p:nvSpPr>
        <p:spPr>
          <a:xfrm>
            <a:off x="566928" y="6437376"/>
            <a:ext cx="5486400" cy="256032"/>
          </a:xfrm>
          <a:prstGeom prst="rect">
            <a:avLst/>
          </a:prstGeom>
          <a:noFill/>
          <a:ln/>
        </p:spPr>
        <p:txBody>
          <a:bodyPr wrap="square" lIns="0" tIns="0" rIns="0" bIns="0" rtlCol="0" anchor="ctr"/>
          <a:lstStyle/>
          <a:p>
            <a:pPr indent="0" marL="0">
              <a:buNone/>
            </a:pPr>
            <a:r>
              <a:rPr lang="en-US" sz="1000" spc="100" kern="0" dirty="0">
                <a:solidFill>
                  <a:srgbClr val="AEB6DC"/>
                </a:solidFill>
                <a:latin typeface="Calibri" pitchFamily="34" charset="0"/>
                <a:ea typeface="Calibri" pitchFamily="34" charset="-122"/>
                <a:cs typeface="Calibri" pitchFamily="34" charset="-120"/>
              </a:rPr>
              <a:t>Wrap-up</a:t>
            </a:r>
            <a:endParaRPr lang="en-US" sz="1000" dirty="0"/>
          </a:p>
        </p:txBody>
      </p:sp>
      <p:sp>
        <p:nvSpPr>
          <p:cNvPr id="36" name="Text 34"/>
          <p:cNvSpPr/>
          <p:nvPr/>
        </p:nvSpPr>
        <p:spPr>
          <a:xfrm>
            <a:off x="10710367" y="6437376"/>
            <a:ext cx="914400" cy="256032"/>
          </a:xfrm>
          <a:prstGeom prst="rect">
            <a:avLst/>
          </a:prstGeom>
          <a:noFill/>
          <a:ln/>
        </p:spPr>
        <p:txBody>
          <a:bodyPr wrap="square" lIns="0" tIns="0" rIns="0" bIns="0" rtlCol="0" anchor="ctr"/>
          <a:lstStyle/>
          <a:p>
            <a:pPr algn="r" indent="0" marL="0">
              <a:buNone/>
            </a:pPr>
            <a:r>
              <a:rPr lang="en-US" sz="1000" dirty="0">
                <a:solidFill>
                  <a:srgbClr val="AEB6DC"/>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&amp; MCP</dc:title>
  <dc:subject>PptxGenJS Presentation</dc:subject>
  <dc:creator>AI/ML Course</dc:creator>
  <cp:lastModifiedBy>AI/ML Course</cp:lastModifiedBy>
  <cp:revision>1</cp:revision>
  <dcterms:created xsi:type="dcterms:W3CDTF">2026-07-26T16:42:39Z</dcterms:created>
  <dcterms:modified xsi:type="dcterms:W3CDTF">2026-07-26T16:42:39Z</dcterms:modified>
</cp:coreProperties>
</file>