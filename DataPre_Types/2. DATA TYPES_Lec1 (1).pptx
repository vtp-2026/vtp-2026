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91990" y="22936"/>
            <a:ext cx="3208019" cy="11123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64200" y="1962150"/>
            <a:ext cx="6464300" cy="148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63717" y="6465214"/>
            <a:ext cx="14649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94211" y="6465214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36541" y="2407741"/>
            <a:ext cx="3526790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14">
                <a:solidFill>
                  <a:srgbClr val="FF0000"/>
                </a:solidFill>
              </a:rPr>
              <a:t>D</a:t>
            </a:r>
            <a:r>
              <a:rPr dirty="0" sz="6000" spc="-515">
                <a:solidFill>
                  <a:srgbClr val="FF0000"/>
                </a:solidFill>
              </a:rPr>
              <a:t>A</a:t>
            </a:r>
            <a:r>
              <a:rPr dirty="0" sz="6000" spc="-525">
                <a:solidFill>
                  <a:srgbClr val="FF0000"/>
                </a:solidFill>
              </a:rPr>
              <a:t>T</a:t>
            </a:r>
            <a:r>
              <a:rPr dirty="0" sz="6000">
                <a:solidFill>
                  <a:srgbClr val="FF0000"/>
                </a:solidFill>
              </a:rPr>
              <a:t>A</a:t>
            </a:r>
            <a:r>
              <a:rPr dirty="0" sz="6000" spc="-120">
                <a:solidFill>
                  <a:srgbClr val="FF0000"/>
                </a:solidFill>
              </a:rPr>
              <a:t> </a:t>
            </a:r>
            <a:r>
              <a:rPr dirty="0" sz="6000" spc="-40">
                <a:solidFill>
                  <a:srgbClr val="FF0000"/>
                </a:solidFill>
              </a:rPr>
              <a:t>TYPES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056" rIns="0" bIns="0" rtlCol="0" vert="horz">
            <a:spAutoFit/>
          </a:bodyPr>
          <a:lstStyle/>
          <a:p>
            <a:pPr marL="673735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6175" y="1878438"/>
            <a:ext cx="3251200" cy="3350895"/>
            <a:chOff x="746175" y="1878438"/>
            <a:chExt cx="3251200" cy="3350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175" y="1878438"/>
              <a:ext cx="2703919" cy="335062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98647" y="2044191"/>
              <a:ext cx="1092835" cy="3061335"/>
            </a:xfrm>
            <a:custGeom>
              <a:avLst/>
              <a:gdLst/>
              <a:ahLst/>
              <a:cxnLst/>
              <a:rect l="l" t="t" r="r" b="b"/>
              <a:pathLst>
                <a:path w="1092835" h="3061335">
                  <a:moveTo>
                    <a:pt x="597915" y="0"/>
                  </a:moveTo>
                  <a:lnTo>
                    <a:pt x="0" y="335153"/>
                  </a:lnTo>
                </a:path>
                <a:path w="1092835" h="3061335">
                  <a:moveTo>
                    <a:pt x="720216" y="670941"/>
                  </a:moveTo>
                  <a:lnTo>
                    <a:pt x="164591" y="1048385"/>
                  </a:lnTo>
                </a:path>
                <a:path w="1092835" h="3061335">
                  <a:moveTo>
                    <a:pt x="1092327" y="1208786"/>
                  </a:moveTo>
                  <a:lnTo>
                    <a:pt x="578865" y="1403350"/>
                  </a:lnTo>
                </a:path>
                <a:path w="1092835" h="3061335">
                  <a:moveTo>
                    <a:pt x="971550" y="1835531"/>
                  </a:moveTo>
                  <a:lnTo>
                    <a:pt x="200787" y="1973834"/>
                  </a:lnTo>
                </a:path>
                <a:path w="1092835" h="3061335">
                  <a:moveTo>
                    <a:pt x="957961" y="2408301"/>
                  </a:moveTo>
                  <a:lnTo>
                    <a:pt x="106933" y="2476246"/>
                  </a:lnTo>
                </a:path>
                <a:path w="1092835" h="3061335">
                  <a:moveTo>
                    <a:pt x="674877" y="3060827"/>
                  </a:moveTo>
                  <a:lnTo>
                    <a:pt x="119252" y="2861437"/>
                  </a:lnTo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02300" y="1962150"/>
          <a:ext cx="6464300" cy="1480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545"/>
                <a:gridCol w="605790"/>
                <a:gridCol w="998855"/>
                <a:gridCol w="720725"/>
                <a:gridCol w="1048384"/>
                <a:gridCol w="1356360"/>
                <a:gridCol w="843914"/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latin typeface="Calibri"/>
                          <a:cs typeface="Calibri"/>
                        </a:rPr>
                        <a:t>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5">
                          <a:latin typeface="Calibri"/>
                          <a:cs typeface="Calibri"/>
                        </a:rPr>
                        <a:t>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Gender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5">
                          <a:latin typeface="Calibri"/>
                          <a:cs typeface="Calibri"/>
                        </a:rPr>
                        <a:t>DoB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Address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Nationality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Contact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805557" y="5419725"/>
            <a:ext cx="778510" cy="200025"/>
          </a:xfrm>
          <a:custGeom>
            <a:avLst/>
            <a:gdLst/>
            <a:ahLst/>
            <a:cxnLst/>
            <a:rect l="l" t="t" r="r" b="b"/>
            <a:pathLst>
              <a:path w="778510" h="200025">
                <a:moveTo>
                  <a:pt x="778002" y="199847"/>
                </a:moveTo>
                <a:lnTo>
                  <a:pt x="0" y="0"/>
                </a:lnTo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83816" y="1229613"/>
            <a:ext cx="3131820" cy="4450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 b="1">
                <a:solidFill>
                  <a:srgbClr val="001F5F"/>
                </a:solidFill>
                <a:latin typeface="Calibri"/>
                <a:cs typeface="Calibri"/>
              </a:rPr>
              <a:t>Person</a:t>
            </a:r>
            <a:endParaRPr sz="2600">
              <a:latin typeface="Calibri"/>
              <a:cs typeface="Calibri"/>
            </a:endParaRPr>
          </a:p>
          <a:p>
            <a:pPr marL="1945639">
              <a:lnSpc>
                <a:spcPct val="100000"/>
              </a:lnSpc>
              <a:spcBef>
                <a:spcPts val="1620"/>
              </a:spcBef>
            </a:pPr>
            <a:r>
              <a:rPr dirty="0" sz="1800" spc="-25">
                <a:solidFill>
                  <a:srgbClr val="FF0000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800">
              <a:latin typeface="Calibri"/>
              <a:cs typeface="Calibri"/>
            </a:endParaRPr>
          </a:p>
          <a:p>
            <a:pPr marL="2008505">
              <a:lnSpc>
                <a:spcPct val="100000"/>
              </a:lnSpc>
            </a:pPr>
            <a:r>
              <a:rPr dirty="0" sz="1800" spc="-2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630"/>
              </a:spcBef>
            </a:pP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Gender</a:t>
            </a:r>
            <a:endParaRPr sz="1800">
              <a:latin typeface="Calibri"/>
              <a:cs typeface="Calibri"/>
            </a:endParaRPr>
          </a:p>
          <a:p>
            <a:pPr marL="2331720" marR="77470" indent="-28575">
              <a:lnSpc>
                <a:spcPts val="5060"/>
              </a:lnSpc>
              <a:spcBef>
                <a:spcPts val="420"/>
              </a:spcBef>
            </a:pP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Address </a:t>
            </a:r>
            <a:r>
              <a:rPr dirty="0" sz="1800" spc="-25">
                <a:solidFill>
                  <a:srgbClr val="FF0000"/>
                </a:solidFill>
                <a:latin typeface="Calibri"/>
                <a:cs typeface="Calibri"/>
              </a:rPr>
              <a:t>DoB</a:t>
            </a:r>
            <a:endParaRPr sz="1800">
              <a:latin typeface="Calibri"/>
              <a:cs typeface="Calibri"/>
            </a:endParaRPr>
          </a:p>
          <a:p>
            <a:pPr marL="2051685">
              <a:lnSpc>
                <a:spcPct val="100000"/>
              </a:lnSpc>
              <a:spcBef>
                <a:spcPts val="1775"/>
              </a:spcBef>
            </a:pP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Contact</a:t>
            </a:r>
            <a:endParaRPr sz="1800">
              <a:latin typeface="Calibri"/>
              <a:cs typeface="Calibri"/>
            </a:endParaRPr>
          </a:p>
          <a:p>
            <a:pPr algn="r" marR="24130">
              <a:lnSpc>
                <a:spcPct val="100000"/>
              </a:lnSpc>
              <a:spcBef>
                <a:spcPts val="1895"/>
              </a:spcBef>
            </a:pP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Nationality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723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dirty="0" sz="4000" spc="-35"/>
              <a:t>INTRODUCTION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216812"/>
            <a:ext cx="10337800" cy="4493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1524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dataset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variables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different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types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depending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upon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FF0066"/>
                </a:solidFill>
                <a:latin typeface="Calibri"/>
                <a:cs typeface="Calibri"/>
              </a:rPr>
              <a:t>the</a:t>
            </a:r>
            <a:r>
              <a:rPr dirty="0" sz="2200" spc="-45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FF0066"/>
                </a:solidFill>
                <a:latin typeface="Calibri"/>
                <a:cs typeface="Calibri"/>
              </a:rPr>
              <a:t>data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dirty="0" sz="2200" spc="-4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00CC"/>
                </a:solidFill>
                <a:latin typeface="Calibri"/>
                <a:cs typeface="Calibri"/>
              </a:rPr>
              <a:t>request</a:t>
            </a:r>
            <a:r>
              <a:rPr dirty="0" sz="2200" spc="-10">
                <a:latin typeface="Calibri"/>
                <a:cs typeface="Calibri"/>
              </a:rPr>
              <a:t>,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AF50"/>
                </a:solidFill>
                <a:latin typeface="Calibri"/>
                <a:cs typeface="Calibri"/>
              </a:rPr>
              <a:t>the </a:t>
            </a:r>
            <a:r>
              <a:rPr dirty="0" sz="2200" spc="-10" b="1">
                <a:solidFill>
                  <a:srgbClr val="00AF50"/>
                </a:solidFill>
                <a:latin typeface="Calibri"/>
                <a:cs typeface="Calibri"/>
              </a:rPr>
              <a:t>storage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41300" marR="10795" indent="-229235">
              <a:lnSpc>
                <a:spcPct val="1501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important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know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different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variable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different </a:t>
            </a:r>
            <a:r>
              <a:rPr dirty="0" sz="2200">
                <a:latin typeface="Calibri"/>
                <a:cs typeface="Calibri"/>
              </a:rPr>
              <a:t>techniques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various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types.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15"/>
              </a:spcBef>
            </a:pPr>
            <a:r>
              <a:rPr dirty="0" sz="2200" b="1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dirty="0" sz="2200" spc="-1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dirty="0" sz="22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2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FF0000"/>
                </a:solidFill>
                <a:latin typeface="Calibri"/>
                <a:cs typeface="Calibri"/>
              </a:rPr>
              <a:t>Variable?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3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85">
                <a:latin typeface="Calibri"/>
                <a:cs typeface="Calibri"/>
              </a:rPr>
              <a:t>“A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variable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1F5F"/>
                </a:solidFill>
                <a:latin typeface="Calibri"/>
                <a:cs typeface="Calibri"/>
              </a:rPr>
              <a:t>entity</a:t>
            </a:r>
            <a:r>
              <a:rPr dirty="0" sz="220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value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corresponds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characteristic,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quantity,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25"/>
              </a:spcBef>
            </a:pP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counted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measured.”</a:t>
            </a:r>
            <a:endParaRPr sz="22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181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200">
                <a:latin typeface="Calibri"/>
                <a:cs typeface="Calibri"/>
              </a:rPr>
              <a:t>Ex: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Age,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Marks,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18608" y="196342"/>
            <a:ext cx="22009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Data</a:t>
            </a:r>
            <a:r>
              <a:rPr dirty="0" sz="4000" spc="-200"/>
              <a:t> </a:t>
            </a:r>
            <a:r>
              <a:rPr dirty="0" sz="4000" spc="-55"/>
              <a:t>Types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368045" y="2061210"/>
            <a:ext cx="1233170" cy="368935"/>
          </a:xfrm>
          <a:custGeom>
            <a:avLst/>
            <a:gdLst/>
            <a:ahLst/>
            <a:cxnLst/>
            <a:rect l="l" t="t" r="r" b="b"/>
            <a:pathLst>
              <a:path w="1233170" h="368935">
                <a:moveTo>
                  <a:pt x="0" y="368808"/>
                </a:moveTo>
                <a:lnTo>
                  <a:pt x="1232916" y="368808"/>
                </a:lnTo>
                <a:lnTo>
                  <a:pt x="1232916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5414" y="2078863"/>
            <a:ext cx="1065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dirty="0" sz="1800" spc="-6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0025" y="2670810"/>
            <a:ext cx="1668780" cy="368935"/>
          </a:xfrm>
          <a:custGeom>
            <a:avLst/>
            <a:gdLst/>
            <a:ahLst/>
            <a:cxnLst/>
            <a:rect l="l" t="t" r="r" b="b"/>
            <a:pathLst>
              <a:path w="1668780" h="368935">
                <a:moveTo>
                  <a:pt x="0" y="368808"/>
                </a:moveTo>
                <a:lnTo>
                  <a:pt x="1668780" y="368808"/>
                </a:lnTo>
                <a:lnTo>
                  <a:pt x="1668780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48918" y="2688158"/>
            <a:ext cx="14960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Numerical</a:t>
            </a:r>
            <a:r>
              <a:rPr dirty="0" sz="1800" spc="-8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0025" y="3627882"/>
            <a:ext cx="1800225" cy="368935"/>
          </a:xfrm>
          <a:custGeom>
            <a:avLst/>
            <a:gdLst/>
            <a:ahLst/>
            <a:cxnLst/>
            <a:rect l="l" t="t" r="r" b="b"/>
            <a:pathLst>
              <a:path w="1800225" h="368935">
                <a:moveTo>
                  <a:pt x="0" y="368808"/>
                </a:moveTo>
                <a:lnTo>
                  <a:pt x="1799844" y="368808"/>
                </a:lnTo>
                <a:lnTo>
                  <a:pt x="1799844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48918" y="3646170"/>
            <a:ext cx="1576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Categorical</a:t>
            </a:r>
            <a:r>
              <a:rPr dirty="0" sz="180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0025" y="4510278"/>
            <a:ext cx="2529840" cy="368935"/>
          </a:xfrm>
          <a:custGeom>
            <a:avLst/>
            <a:gdLst/>
            <a:ahLst/>
            <a:cxnLst/>
            <a:rect l="l" t="t" r="r" b="b"/>
            <a:pathLst>
              <a:path w="2529840" h="368935">
                <a:moveTo>
                  <a:pt x="0" y="368808"/>
                </a:moveTo>
                <a:lnTo>
                  <a:pt x="2529840" y="368808"/>
                </a:lnTo>
                <a:lnTo>
                  <a:pt x="2529840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8918" y="4528820"/>
            <a:ext cx="2306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Date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0025" y="5537453"/>
            <a:ext cx="1711960" cy="368935"/>
          </a:xfrm>
          <a:custGeom>
            <a:avLst/>
            <a:gdLst/>
            <a:ahLst/>
            <a:cxnLst/>
            <a:rect l="l" t="t" r="r" b="b"/>
            <a:pathLst>
              <a:path w="1711960" h="368935">
                <a:moveTo>
                  <a:pt x="0" y="368808"/>
                </a:moveTo>
                <a:lnTo>
                  <a:pt x="1711452" y="368808"/>
                </a:lnTo>
                <a:lnTo>
                  <a:pt x="1711452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48918" y="5556300"/>
            <a:ext cx="15398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Mixed</a:t>
            </a:r>
            <a:r>
              <a:rPr dirty="0" sz="1800" spc="-8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24377" y="2245614"/>
            <a:ext cx="962025" cy="370840"/>
          </a:xfrm>
          <a:custGeom>
            <a:avLst/>
            <a:gdLst/>
            <a:ahLst/>
            <a:cxnLst/>
            <a:rect l="l" t="t" r="r" b="b"/>
            <a:pathLst>
              <a:path w="962025" h="370839">
                <a:moveTo>
                  <a:pt x="0" y="370332"/>
                </a:moveTo>
                <a:lnTo>
                  <a:pt x="961644" y="370332"/>
                </a:lnTo>
                <a:lnTo>
                  <a:pt x="961644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03245" y="2262885"/>
            <a:ext cx="796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6FC0"/>
                </a:solidFill>
                <a:latin typeface="Calibri"/>
                <a:cs typeface="Calibri"/>
              </a:rPr>
              <a:t>Discrete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24377" y="2864357"/>
            <a:ext cx="1274445" cy="370840"/>
          </a:xfrm>
          <a:custGeom>
            <a:avLst/>
            <a:gdLst/>
            <a:ahLst/>
            <a:cxnLst/>
            <a:rect l="l" t="t" r="r" b="b"/>
            <a:pathLst>
              <a:path w="1274445" h="370839">
                <a:moveTo>
                  <a:pt x="0" y="370332"/>
                </a:moveTo>
                <a:lnTo>
                  <a:pt x="1274064" y="370332"/>
                </a:lnTo>
                <a:lnTo>
                  <a:pt x="1274064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103245" y="2882265"/>
            <a:ext cx="1108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9900"/>
                </a:solidFill>
                <a:latin typeface="Calibri"/>
                <a:cs typeface="Calibri"/>
              </a:rPr>
              <a:t>Continuous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8261" y="2426080"/>
            <a:ext cx="2209165" cy="3302635"/>
            <a:chOff x="818261" y="2426080"/>
            <a:chExt cx="2209165" cy="3302635"/>
          </a:xfrm>
        </p:grpSpPr>
        <p:sp>
          <p:nvSpPr>
            <p:cNvPr id="18" name="object 18"/>
            <p:cNvSpPr/>
            <p:nvPr/>
          </p:nvSpPr>
          <p:spPr>
            <a:xfrm>
              <a:off x="824484" y="2429255"/>
              <a:ext cx="146050" cy="425450"/>
            </a:xfrm>
            <a:custGeom>
              <a:avLst/>
              <a:gdLst/>
              <a:ahLst/>
              <a:cxnLst/>
              <a:rect l="l" t="t" r="r" b="b"/>
              <a:pathLst>
                <a:path w="146050" h="425450">
                  <a:moveTo>
                    <a:pt x="0" y="0"/>
                  </a:moveTo>
                  <a:lnTo>
                    <a:pt x="0" y="425450"/>
                  </a:lnTo>
                  <a:lnTo>
                    <a:pt x="146050" y="42545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24484" y="2697479"/>
              <a:ext cx="141605" cy="1141095"/>
            </a:xfrm>
            <a:custGeom>
              <a:avLst/>
              <a:gdLst/>
              <a:ahLst/>
              <a:cxnLst/>
              <a:rect l="l" t="t" r="r" b="b"/>
              <a:pathLst>
                <a:path w="141605" h="1141095">
                  <a:moveTo>
                    <a:pt x="0" y="0"/>
                  </a:moveTo>
                  <a:lnTo>
                    <a:pt x="0" y="1141095"/>
                  </a:lnTo>
                  <a:lnTo>
                    <a:pt x="141287" y="1141095"/>
                  </a:lnTo>
                  <a:lnTo>
                    <a:pt x="141287" y="11271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1436" y="2429255"/>
              <a:ext cx="2202815" cy="3296285"/>
            </a:xfrm>
            <a:custGeom>
              <a:avLst/>
              <a:gdLst/>
              <a:ahLst/>
              <a:cxnLst/>
              <a:rect l="l" t="t" r="r" b="b"/>
              <a:pathLst>
                <a:path w="2202815" h="3296285">
                  <a:moveTo>
                    <a:pt x="0" y="1165860"/>
                  </a:moveTo>
                  <a:lnTo>
                    <a:pt x="0" y="2306955"/>
                  </a:lnTo>
                  <a:lnTo>
                    <a:pt x="139700" y="2306955"/>
                  </a:lnTo>
                  <a:lnTo>
                    <a:pt x="139700" y="2292985"/>
                  </a:lnTo>
                </a:path>
                <a:path w="2202815" h="3296285">
                  <a:moveTo>
                    <a:pt x="0" y="2154936"/>
                  </a:moveTo>
                  <a:lnTo>
                    <a:pt x="0" y="3296056"/>
                  </a:lnTo>
                  <a:lnTo>
                    <a:pt x="141287" y="3296056"/>
                  </a:lnTo>
                  <a:lnTo>
                    <a:pt x="141287" y="3282061"/>
                  </a:lnTo>
                </a:path>
                <a:path w="2202815" h="3296285">
                  <a:moveTo>
                    <a:pt x="1816608" y="425450"/>
                  </a:moveTo>
                  <a:lnTo>
                    <a:pt x="2202434" y="0"/>
                  </a:lnTo>
                </a:path>
                <a:path w="2202815" h="3296285">
                  <a:moveTo>
                    <a:pt x="1816608" y="425196"/>
                  </a:moveTo>
                  <a:lnTo>
                    <a:pt x="2202434" y="618871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506848" y="1618234"/>
            <a:ext cx="535495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Stores</a:t>
            </a:r>
            <a:r>
              <a:rPr dirty="0" sz="18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18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whole</a:t>
            </a:r>
            <a:r>
              <a:rPr dirty="0" sz="18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children 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person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1,2,3,4</a:t>
            </a:r>
            <a:endParaRPr sz="1800">
              <a:latin typeface="Calibri"/>
              <a:cs typeface="Calibri"/>
            </a:endParaRPr>
          </a:p>
          <a:p>
            <a:pPr marL="108394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laptops,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siblings,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62627" y="2936240"/>
            <a:ext cx="670496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009900"/>
                </a:solidFill>
                <a:latin typeface="Calibri"/>
                <a:cs typeface="Calibri"/>
              </a:rPr>
              <a:t>Holds</a:t>
            </a:r>
            <a:r>
              <a:rPr dirty="0" sz="1800" spc="-45" b="1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9900"/>
                </a:solidFill>
                <a:latin typeface="Calibri"/>
                <a:cs typeface="Calibri"/>
              </a:rPr>
              <a:t>a</a:t>
            </a:r>
            <a:r>
              <a:rPr dirty="0" sz="1800" spc="5" b="1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9900"/>
                </a:solidFill>
                <a:latin typeface="Calibri"/>
                <a:cs typeface="Calibri"/>
              </a:rPr>
              <a:t>continuous</a:t>
            </a:r>
            <a:r>
              <a:rPr dirty="0" sz="1800" spc="-20" b="1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9900"/>
                </a:solidFill>
                <a:latin typeface="Calibri"/>
                <a:cs typeface="Calibri"/>
              </a:rPr>
              <a:t>values</a:t>
            </a:r>
            <a:endParaRPr sz="1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amount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person’s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bank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$1500.55)</a:t>
            </a:r>
            <a:endParaRPr sz="1800">
              <a:latin typeface="Calibri"/>
              <a:cs typeface="Calibri"/>
            </a:endParaRPr>
          </a:p>
          <a:p>
            <a:pPr marL="108394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height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person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5.6”),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weight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(55.5kg),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price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30">
                <a:latin typeface="Calibri"/>
                <a:cs typeface="Calibri"/>
              </a:rPr>
              <a:t>car, </a:t>
            </a:r>
            <a:r>
              <a:rPr dirty="0" sz="1800" spc="-2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19020" y="1092708"/>
            <a:ext cx="2868295" cy="1958339"/>
            <a:chOff x="1819020" y="1092708"/>
            <a:chExt cx="2868295" cy="1958339"/>
          </a:xfrm>
        </p:grpSpPr>
        <p:sp>
          <p:nvSpPr>
            <p:cNvPr id="24" name="object 24"/>
            <p:cNvSpPr/>
            <p:nvPr/>
          </p:nvSpPr>
          <p:spPr>
            <a:xfrm>
              <a:off x="3985260" y="1863852"/>
              <a:ext cx="698500" cy="565150"/>
            </a:xfrm>
            <a:custGeom>
              <a:avLst/>
              <a:gdLst/>
              <a:ahLst/>
              <a:cxnLst/>
              <a:rect l="l" t="t" r="r" b="b"/>
              <a:pathLst>
                <a:path w="698500" h="565150">
                  <a:moveTo>
                    <a:pt x="0" y="565150"/>
                  </a:moveTo>
                  <a:lnTo>
                    <a:pt x="698500" y="0"/>
                  </a:lnTo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297679" y="3048000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 h="0">
                  <a:moveTo>
                    <a:pt x="0" y="0"/>
                  </a:moveTo>
                  <a:lnTo>
                    <a:pt x="385699" y="0"/>
                  </a:lnTo>
                </a:path>
              </a:pathLst>
            </a:custGeom>
            <a:ln w="609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25116" y="1092708"/>
              <a:ext cx="1458595" cy="1544955"/>
            </a:xfrm>
            <a:custGeom>
              <a:avLst/>
              <a:gdLst/>
              <a:ahLst/>
              <a:cxnLst/>
              <a:rect l="l" t="t" r="r" b="b"/>
              <a:pathLst>
                <a:path w="1458595" h="1544955">
                  <a:moveTo>
                    <a:pt x="1458468" y="0"/>
                  </a:moveTo>
                  <a:lnTo>
                    <a:pt x="1458468" y="454151"/>
                  </a:lnTo>
                </a:path>
                <a:path w="1458595" h="1544955">
                  <a:moveTo>
                    <a:pt x="1458468" y="157733"/>
                  </a:moveTo>
                  <a:lnTo>
                    <a:pt x="0" y="1544701"/>
                  </a:lnTo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373373" y="1154429"/>
            <a:ext cx="3575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dirty="0" sz="1800" spc="-4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800" spc="-4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18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dirty="0" sz="18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consists</a:t>
            </a:r>
            <a:r>
              <a:rPr dirty="0" sz="1800" spc="-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8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96434" y="22936"/>
            <a:ext cx="22009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Data</a:t>
            </a:r>
            <a:r>
              <a:rPr dirty="0" sz="4000" spc="-200"/>
              <a:t> </a:t>
            </a:r>
            <a:r>
              <a:rPr dirty="0" sz="4000" spc="-55"/>
              <a:t>Types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97941" y="1908810"/>
            <a:ext cx="1277620" cy="368935"/>
          </a:xfrm>
          <a:custGeom>
            <a:avLst/>
            <a:gdLst/>
            <a:ahLst/>
            <a:cxnLst/>
            <a:rect l="l" t="t" r="r" b="b"/>
            <a:pathLst>
              <a:path w="1277620" h="368935">
                <a:moveTo>
                  <a:pt x="0" y="368808"/>
                </a:moveTo>
                <a:lnTo>
                  <a:pt x="1277112" y="368808"/>
                </a:lnTo>
                <a:lnTo>
                  <a:pt x="1277112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5615" y="1926463"/>
            <a:ext cx="1065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dirty="0" sz="1800" spc="-6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446" y="2518410"/>
            <a:ext cx="1727200" cy="368935"/>
          </a:xfrm>
          <a:custGeom>
            <a:avLst/>
            <a:gdLst/>
            <a:ahLst/>
            <a:cxnLst/>
            <a:rect l="l" t="t" r="r" b="b"/>
            <a:pathLst>
              <a:path w="1727200" h="368935">
                <a:moveTo>
                  <a:pt x="0" y="368808"/>
                </a:moveTo>
                <a:lnTo>
                  <a:pt x="1726691" y="368808"/>
                </a:lnTo>
                <a:lnTo>
                  <a:pt x="1726691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79119" y="2536063"/>
            <a:ext cx="1495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Numerical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1446" y="3475482"/>
            <a:ext cx="1862455" cy="368935"/>
          </a:xfrm>
          <a:custGeom>
            <a:avLst/>
            <a:gdLst/>
            <a:ahLst/>
            <a:cxnLst/>
            <a:rect l="l" t="t" r="r" b="b"/>
            <a:pathLst>
              <a:path w="1862455" h="368935">
                <a:moveTo>
                  <a:pt x="0" y="368808"/>
                </a:moveTo>
                <a:lnTo>
                  <a:pt x="1862327" y="368808"/>
                </a:lnTo>
                <a:lnTo>
                  <a:pt x="1862327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79119" y="3493770"/>
            <a:ext cx="1576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66"/>
                </a:solidFill>
                <a:latin typeface="Calibri"/>
                <a:cs typeface="Calibri"/>
              </a:rPr>
              <a:t>Categorical</a:t>
            </a:r>
            <a:r>
              <a:rPr dirty="0" sz="180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0066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1446" y="4357878"/>
            <a:ext cx="2616835" cy="368935"/>
          </a:xfrm>
          <a:custGeom>
            <a:avLst/>
            <a:gdLst/>
            <a:ahLst/>
            <a:cxnLst/>
            <a:rect l="l" t="t" r="r" b="b"/>
            <a:pathLst>
              <a:path w="2616835" h="368935">
                <a:moveTo>
                  <a:pt x="0" y="368808"/>
                </a:moveTo>
                <a:lnTo>
                  <a:pt x="2616707" y="368808"/>
                </a:lnTo>
                <a:lnTo>
                  <a:pt x="2616707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79119" y="4376420"/>
            <a:ext cx="2306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Date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1446" y="5385053"/>
            <a:ext cx="1771014" cy="368935"/>
          </a:xfrm>
          <a:custGeom>
            <a:avLst/>
            <a:gdLst/>
            <a:ahLst/>
            <a:cxnLst/>
            <a:rect l="l" t="t" r="r" b="b"/>
            <a:pathLst>
              <a:path w="1771014" h="368935">
                <a:moveTo>
                  <a:pt x="0" y="368808"/>
                </a:moveTo>
                <a:lnTo>
                  <a:pt x="1770888" y="368808"/>
                </a:lnTo>
                <a:lnTo>
                  <a:pt x="1770888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79119" y="5403291"/>
            <a:ext cx="15405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Mixed</a:t>
            </a:r>
            <a:r>
              <a:rPr dirty="0" sz="1800" spc="-8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8156" y="2273680"/>
            <a:ext cx="155575" cy="3281045"/>
            <a:chOff x="748156" y="2273680"/>
            <a:chExt cx="155575" cy="3281045"/>
          </a:xfrm>
        </p:grpSpPr>
        <p:sp>
          <p:nvSpPr>
            <p:cNvPr id="14" name="object 14"/>
            <p:cNvSpPr/>
            <p:nvPr/>
          </p:nvSpPr>
          <p:spPr>
            <a:xfrm>
              <a:off x="754379" y="2276855"/>
              <a:ext cx="146050" cy="425450"/>
            </a:xfrm>
            <a:custGeom>
              <a:avLst/>
              <a:gdLst/>
              <a:ahLst/>
              <a:cxnLst/>
              <a:rect l="l" t="t" r="r" b="b"/>
              <a:pathLst>
                <a:path w="146050" h="425450">
                  <a:moveTo>
                    <a:pt x="0" y="0"/>
                  </a:moveTo>
                  <a:lnTo>
                    <a:pt x="0" y="425450"/>
                  </a:lnTo>
                  <a:lnTo>
                    <a:pt x="146050" y="42545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51331" y="2545079"/>
              <a:ext cx="144780" cy="3006725"/>
            </a:xfrm>
            <a:custGeom>
              <a:avLst/>
              <a:gdLst/>
              <a:ahLst/>
              <a:cxnLst/>
              <a:rect l="l" t="t" r="r" b="b"/>
              <a:pathLst>
                <a:path w="144780" h="3006725">
                  <a:moveTo>
                    <a:pt x="3048" y="0"/>
                  </a:moveTo>
                  <a:lnTo>
                    <a:pt x="3048" y="1057021"/>
                  </a:lnTo>
                  <a:lnTo>
                    <a:pt x="144335" y="1057021"/>
                  </a:lnTo>
                  <a:lnTo>
                    <a:pt x="144335" y="1127125"/>
                  </a:lnTo>
                </a:path>
                <a:path w="144780" h="3006725">
                  <a:moveTo>
                    <a:pt x="0" y="897636"/>
                  </a:moveTo>
                  <a:lnTo>
                    <a:pt x="0" y="1998218"/>
                  </a:lnTo>
                  <a:lnTo>
                    <a:pt x="139700" y="1998218"/>
                  </a:lnTo>
                  <a:lnTo>
                    <a:pt x="139700" y="2024761"/>
                  </a:lnTo>
                </a:path>
                <a:path w="144780" h="3006725">
                  <a:moveTo>
                    <a:pt x="0" y="1879092"/>
                  </a:moveTo>
                  <a:lnTo>
                    <a:pt x="0" y="2994152"/>
                  </a:lnTo>
                  <a:lnTo>
                    <a:pt x="141287" y="2994152"/>
                  </a:lnTo>
                  <a:lnTo>
                    <a:pt x="141287" y="3006217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463922" y="2443988"/>
            <a:ext cx="7074534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6390" algn="l"/>
              </a:tabLst>
            </a:pP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Ordinal</a:t>
            </a:r>
            <a:r>
              <a:rPr dirty="0" sz="1800" spc="-4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data</a:t>
            </a:r>
            <a:r>
              <a:rPr dirty="0" sz="1800" spc="-3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is</a:t>
            </a:r>
            <a:r>
              <a:rPr dirty="0" sz="1800" spc="-3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a</a:t>
            </a:r>
            <a:r>
              <a:rPr dirty="0" sz="1800" spc="-2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type</a:t>
            </a:r>
            <a:r>
              <a:rPr dirty="0" sz="1800" spc="-2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of</a:t>
            </a:r>
            <a:r>
              <a:rPr dirty="0" sz="1800" spc="-2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categorical</a:t>
            </a:r>
            <a:r>
              <a:rPr dirty="0" sz="1800" spc="-7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data</a:t>
            </a:r>
            <a:r>
              <a:rPr dirty="0" sz="1800" spc="-3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where</a:t>
            </a:r>
            <a:r>
              <a:rPr dirty="0" sz="1800" spc="-4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values</a:t>
            </a:r>
            <a:r>
              <a:rPr dirty="0" sz="1800" spc="-3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are</a:t>
            </a:r>
            <a:r>
              <a:rPr dirty="0" sz="1800" spc="-4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meaningfully </a:t>
            </a: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	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ordered</a:t>
            </a:r>
            <a:r>
              <a:rPr dirty="0" sz="1800" spc="-7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and</a:t>
            </a:r>
            <a:r>
              <a:rPr dirty="0" sz="1800" spc="-4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have</a:t>
            </a:r>
            <a:r>
              <a:rPr dirty="0" sz="1800" spc="-6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some</a:t>
            </a:r>
            <a:r>
              <a:rPr dirty="0" sz="1800" spc="-7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relationship</a:t>
            </a:r>
            <a:r>
              <a:rPr dirty="0" sz="1800" spc="-5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between</a:t>
            </a:r>
            <a:r>
              <a:rPr dirty="0" sz="1800" spc="-5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them.</a:t>
            </a:r>
            <a:endParaRPr sz="1800">
              <a:latin typeface="Calibri"/>
              <a:cs typeface="Calibri"/>
            </a:endParaRPr>
          </a:p>
          <a:p>
            <a:pPr lvl="1" marL="756285" marR="1745614" indent="-287020">
              <a:lnSpc>
                <a:spcPct val="100000"/>
              </a:lnSpc>
              <a:buFont typeface="Arial MT"/>
              <a:buChar char="•"/>
              <a:tabLst>
                <a:tab pos="1097915" algn="l"/>
              </a:tabLst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Height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person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Short,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Medium,</a:t>
            </a:r>
            <a:r>
              <a:rPr dirty="0" sz="1800" spc="-20">
                <a:latin typeface="Calibri"/>
                <a:cs typeface="Calibri"/>
              </a:rPr>
              <a:t> Tall </a:t>
            </a:r>
            <a:r>
              <a:rPr dirty="0" sz="1800" spc="-2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Marks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C,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etc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8321" y="3797045"/>
            <a:ext cx="73005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Nominal</a:t>
            </a:r>
            <a:r>
              <a:rPr dirty="0" sz="1800" spc="-55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data</a:t>
            </a:r>
            <a:r>
              <a:rPr dirty="0" sz="1800" spc="-35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is</a:t>
            </a:r>
            <a:r>
              <a:rPr dirty="0" sz="1800" spc="-30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a</a:t>
            </a:r>
            <a:r>
              <a:rPr dirty="0" sz="1800" spc="-10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type</a:t>
            </a:r>
            <a:r>
              <a:rPr dirty="0" sz="1800" spc="-40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of</a:t>
            </a:r>
            <a:r>
              <a:rPr dirty="0" sz="1800" spc="-15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data</a:t>
            </a:r>
            <a:r>
              <a:rPr dirty="0" sz="1800" spc="-35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where</a:t>
            </a:r>
            <a:r>
              <a:rPr dirty="0" sz="1800" spc="-45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values</a:t>
            </a:r>
            <a:r>
              <a:rPr dirty="0" sz="1800" spc="-55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have</a:t>
            </a:r>
            <a:r>
              <a:rPr dirty="0" sz="1800" spc="-40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no</a:t>
            </a:r>
            <a:r>
              <a:rPr dirty="0" sz="1800" spc="-30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39966"/>
                </a:solidFill>
                <a:latin typeface="Calibri"/>
                <a:cs typeface="Calibri"/>
              </a:rPr>
              <a:t>meaningful</a:t>
            </a:r>
            <a:r>
              <a:rPr dirty="0" sz="1800" spc="-50" b="1">
                <a:solidFill>
                  <a:srgbClr val="339966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39966"/>
                </a:solidFill>
                <a:latin typeface="Calibri"/>
                <a:cs typeface="Calibri"/>
              </a:rPr>
              <a:t>ordering.</a:t>
            </a:r>
            <a:endParaRPr sz="1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Nationality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person.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08198" y="3062477"/>
            <a:ext cx="923925" cy="370840"/>
          </a:xfrm>
          <a:custGeom>
            <a:avLst/>
            <a:gdLst/>
            <a:ahLst/>
            <a:cxnLst/>
            <a:rect l="l" t="t" r="r" b="b"/>
            <a:pathLst>
              <a:path w="923925" h="370839">
                <a:moveTo>
                  <a:pt x="0" y="370332"/>
                </a:moveTo>
                <a:lnTo>
                  <a:pt x="923544" y="370332"/>
                </a:lnTo>
                <a:lnTo>
                  <a:pt x="923544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85922" y="3080765"/>
            <a:ext cx="729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Ordinal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08198" y="3682746"/>
            <a:ext cx="1031875" cy="367665"/>
          </a:xfrm>
          <a:custGeom>
            <a:avLst/>
            <a:gdLst/>
            <a:ahLst/>
            <a:cxnLst/>
            <a:rect l="l" t="t" r="r" b="b"/>
            <a:pathLst>
              <a:path w="1031875" h="367664">
                <a:moveTo>
                  <a:pt x="0" y="367283"/>
                </a:moveTo>
                <a:lnTo>
                  <a:pt x="1031748" y="367283"/>
                </a:lnTo>
                <a:lnTo>
                  <a:pt x="1031748" y="0"/>
                </a:lnTo>
                <a:lnTo>
                  <a:pt x="0" y="0"/>
                </a:lnTo>
                <a:lnTo>
                  <a:pt x="0" y="367283"/>
                </a:lnTo>
                <a:close/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185922" y="3700017"/>
            <a:ext cx="835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39966"/>
                </a:solidFill>
                <a:latin typeface="Calibri"/>
                <a:cs typeface="Calibri"/>
              </a:rPr>
              <a:t>Nominal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67864" y="1367027"/>
            <a:ext cx="2065020" cy="2537460"/>
            <a:chOff x="2467864" y="1367027"/>
            <a:chExt cx="2065020" cy="2537460"/>
          </a:xfrm>
        </p:grpSpPr>
        <p:sp>
          <p:nvSpPr>
            <p:cNvPr id="23" name="object 23"/>
            <p:cNvSpPr/>
            <p:nvPr/>
          </p:nvSpPr>
          <p:spPr>
            <a:xfrm>
              <a:off x="2720340" y="3247644"/>
              <a:ext cx="386080" cy="424180"/>
            </a:xfrm>
            <a:custGeom>
              <a:avLst/>
              <a:gdLst/>
              <a:ahLst/>
              <a:cxnLst/>
              <a:rect l="l" t="t" r="r" b="b"/>
              <a:pathLst>
                <a:path w="386080" h="424179">
                  <a:moveTo>
                    <a:pt x="0" y="423798"/>
                  </a:moveTo>
                  <a:lnTo>
                    <a:pt x="385826" y="0"/>
                  </a:lnTo>
                </a:path>
              </a:pathLst>
            </a:custGeom>
            <a:ln w="6096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20340" y="3671316"/>
              <a:ext cx="386080" cy="193675"/>
            </a:xfrm>
            <a:custGeom>
              <a:avLst/>
              <a:gdLst/>
              <a:ahLst/>
              <a:cxnLst/>
              <a:rect l="l" t="t" r="r" b="b"/>
              <a:pathLst>
                <a:path w="386080" h="193675">
                  <a:moveTo>
                    <a:pt x="0" y="0"/>
                  </a:moveTo>
                  <a:lnTo>
                    <a:pt x="385826" y="193674"/>
                  </a:lnTo>
                </a:path>
              </a:pathLst>
            </a:custGeom>
            <a:ln w="609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473960" y="1367027"/>
              <a:ext cx="1044575" cy="2063750"/>
            </a:xfrm>
            <a:custGeom>
              <a:avLst/>
              <a:gdLst/>
              <a:ahLst/>
              <a:cxnLst/>
              <a:rect l="l" t="t" r="r" b="b"/>
              <a:pathLst>
                <a:path w="1044575" h="2063750">
                  <a:moveTo>
                    <a:pt x="1044193" y="0"/>
                  </a:moveTo>
                  <a:lnTo>
                    <a:pt x="1044193" y="751332"/>
                  </a:lnTo>
                </a:path>
                <a:path w="1044575" h="2063750">
                  <a:moveTo>
                    <a:pt x="1044193" y="69723"/>
                  </a:moveTo>
                  <a:lnTo>
                    <a:pt x="0" y="2063623"/>
                  </a:lnTo>
                </a:path>
              </a:pathLst>
            </a:custGeom>
            <a:ln w="12192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30980" y="2627375"/>
              <a:ext cx="498475" cy="621030"/>
            </a:xfrm>
            <a:custGeom>
              <a:avLst/>
              <a:gdLst/>
              <a:ahLst/>
              <a:cxnLst/>
              <a:rect l="l" t="t" r="r" b="b"/>
              <a:pathLst>
                <a:path w="498475" h="621030">
                  <a:moveTo>
                    <a:pt x="0" y="620649"/>
                  </a:moveTo>
                  <a:lnTo>
                    <a:pt x="498475" y="0"/>
                  </a:lnTo>
                </a:path>
              </a:pathLst>
            </a:custGeom>
            <a:ln w="6096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139184" y="3864863"/>
              <a:ext cx="390525" cy="36830"/>
            </a:xfrm>
            <a:custGeom>
              <a:avLst/>
              <a:gdLst/>
              <a:ahLst/>
              <a:cxnLst/>
              <a:rect l="l" t="t" r="r" b="b"/>
              <a:pathLst>
                <a:path w="390525" h="36829">
                  <a:moveTo>
                    <a:pt x="0" y="0"/>
                  </a:moveTo>
                  <a:lnTo>
                    <a:pt x="390525" y="36449"/>
                  </a:lnTo>
                </a:path>
              </a:pathLst>
            </a:custGeom>
            <a:ln w="6096">
              <a:solidFill>
                <a:srgbClr val="3399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754373" y="1440307"/>
            <a:ext cx="79209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solidFill>
                  <a:srgbClr val="FF0066"/>
                </a:solidFill>
                <a:latin typeface="Calibri"/>
                <a:cs typeface="Calibri"/>
              </a:rPr>
              <a:t>Categorical</a:t>
            </a:r>
            <a:r>
              <a:rPr dirty="0" sz="1800" spc="-4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data</a:t>
            </a:r>
            <a:r>
              <a:rPr dirty="0" sz="1800" spc="-5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a</a:t>
            </a:r>
            <a:r>
              <a:rPr dirty="0" sz="1800" spc="-45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type</a:t>
            </a:r>
            <a:r>
              <a:rPr dirty="0" sz="1800" spc="-4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of</a:t>
            </a:r>
            <a:r>
              <a:rPr dirty="0" sz="1800" spc="-5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data</a:t>
            </a:r>
            <a:r>
              <a:rPr dirty="0" sz="1800" spc="-3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where</a:t>
            </a:r>
            <a:r>
              <a:rPr dirty="0" sz="1800" spc="-3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values</a:t>
            </a:r>
            <a:r>
              <a:rPr dirty="0" sz="1800" spc="-55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are</a:t>
            </a:r>
            <a:r>
              <a:rPr dirty="0" sz="1800" spc="-3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selected</a:t>
            </a:r>
            <a:r>
              <a:rPr dirty="0" sz="1800" spc="-3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from</a:t>
            </a:r>
            <a:r>
              <a:rPr dirty="0" sz="1800" spc="-4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66"/>
                </a:solidFill>
                <a:latin typeface="Calibri"/>
                <a:cs typeface="Calibri"/>
              </a:rPr>
              <a:t>a</a:t>
            </a:r>
            <a:r>
              <a:rPr dirty="0" sz="1800" spc="-45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66"/>
                </a:solidFill>
                <a:latin typeface="Calibri"/>
                <a:cs typeface="Calibri"/>
              </a:rPr>
              <a:t>predefined</a:t>
            </a:r>
            <a:r>
              <a:rPr dirty="0" sz="1800" spc="-3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0066"/>
                </a:solidFill>
                <a:latin typeface="Calibri"/>
                <a:cs typeface="Calibri"/>
              </a:rPr>
              <a:t>set.</a:t>
            </a:r>
            <a:endParaRPr sz="1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Gender, </a:t>
            </a:r>
            <a:r>
              <a:rPr dirty="0" sz="1800" spc="-10">
                <a:latin typeface="Calibri"/>
                <a:cs typeface="Calibri"/>
              </a:rPr>
              <a:t>Nationality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96434" y="137236"/>
            <a:ext cx="22009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Data</a:t>
            </a:r>
            <a:r>
              <a:rPr dirty="0" sz="4000" spc="-200"/>
              <a:t> </a:t>
            </a:r>
            <a:r>
              <a:rPr dirty="0" sz="4000" spc="-55"/>
              <a:t>Types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68045" y="1507997"/>
            <a:ext cx="1233170" cy="367665"/>
          </a:xfrm>
          <a:prstGeom prst="rect">
            <a:avLst/>
          </a:prstGeom>
          <a:ln w="32004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29"/>
              </a:spcBef>
            </a:pPr>
            <a:r>
              <a:rPr dirty="0" sz="1800" b="1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dirty="0" sz="1800" spc="-6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025" y="2117598"/>
            <a:ext cx="1690370" cy="36766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dirty="0" sz="1800" b="1">
                <a:latin typeface="Calibri"/>
                <a:cs typeface="Calibri"/>
              </a:rPr>
              <a:t>Numerical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025" y="3074670"/>
            <a:ext cx="1800225" cy="36766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35"/>
              </a:spcBef>
            </a:pPr>
            <a:r>
              <a:rPr dirty="0" sz="1800" spc="-10" b="1">
                <a:latin typeface="Calibri"/>
                <a:cs typeface="Calibri"/>
              </a:rPr>
              <a:t>Categorical</a:t>
            </a:r>
            <a:r>
              <a:rPr dirty="0" sz="180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0025" y="3957065"/>
            <a:ext cx="2529840" cy="36893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solidFill>
                  <a:srgbClr val="660066"/>
                </a:solidFill>
                <a:latin typeface="Calibri"/>
                <a:cs typeface="Calibri"/>
              </a:rPr>
              <a:t>Date</a:t>
            </a:r>
            <a:r>
              <a:rPr dirty="0" sz="1800" spc="-35" b="1">
                <a:solidFill>
                  <a:srgbClr val="6600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60066"/>
                </a:solidFill>
                <a:latin typeface="Calibri"/>
                <a:cs typeface="Calibri"/>
              </a:rPr>
              <a:t>and</a:t>
            </a:r>
            <a:r>
              <a:rPr dirty="0" sz="1800" spc="-30" b="1">
                <a:solidFill>
                  <a:srgbClr val="66006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60066"/>
                </a:solidFill>
                <a:latin typeface="Calibri"/>
                <a:cs typeface="Calibri"/>
              </a:rPr>
              <a:t>Time</a:t>
            </a:r>
            <a:r>
              <a:rPr dirty="0" sz="1800" spc="-45" b="1">
                <a:solidFill>
                  <a:srgbClr val="660066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60066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0025" y="4984241"/>
            <a:ext cx="1690370" cy="36766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latin typeface="Calibri"/>
                <a:cs typeface="Calibri"/>
              </a:rPr>
              <a:t>Mixed</a:t>
            </a:r>
            <a:r>
              <a:rPr dirty="0" sz="1800" spc="-8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1436" y="1874520"/>
            <a:ext cx="149225" cy="3297554"/>
          </a:xfrm>
          <a:custGeom>
            <a:avLst/>
            <a:gdLst/>
            <a:ahLst/>
            <a:cxnLst/>
            <a:rect l="l" t="t" r="r" b="b"/>
            <a:pathLst>
              <a:path w="149225" h="3297554">
                <a:moveTo>
                  <a:pt x="3047" y="0"/>
                </a:moveTo>
                <a:lnTo>
                  <a:pt x="3047" y="425450"/>
                </a:lnTo>
                <a:lnTo>
                  <a:pt x="149097" y="425450"/>
                </a:lnTo>
              </a:path>
              <a:path w="149225" h="3297554">
                <a:moveTo>
                  <a:pt x="3047" y="268224"/>
                </a:moveTo>
                <a:lnTo>
                  <a:pt x="3047" y="1409318"/>
                </a:lnTo>
                <a:lnTo>
                  <a:pt x="144335" y="1409318"/>
                </a:lnTo>
                <a:lnTo>
                  <a:pt x="144335" y="1395349"/>
                </a:lnTo>
              </a:path>
              <a:path w="149225" h="3297554">
                <a:moveTo>
                  <a:pt x="0" y="1167383"/>
                </a:moveTo>
                <a:lnTo>
                  <a:pt x="0" y="2308479"/>
                </a:lnTo>
                <a:lnTo>
                  <a:pt x="139700" y="2308479"/>
                </a:lnTo>
                <a:lnTo>
                  <a:pt x="139700" y="2294509"/>
                </a:lnTo>
              </a:path>
              <a:path w="149225" h="3297554">
                <a:moveTo>
                  <a:pt x="0" y="2156460"/>
                </a:moveTo>
                <a:lnTo>
                  <a:pt x="0" y="3297554"/>
                </a:lnTo>
                <a:lnTo>
                  <a:pt x="141287" y="3297554"/>
                </a:lnTo>
                <a:lnTo>
                  <a:pt x="141287" y="3283584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58666" y="2993135"/>
            <a:ext cx="394970" cy="2662555"/>
          </a:xfrm>
          <a:custGeom>
            <a:avLst/>
            <a:gdLst/>
            <a:ahLst/>
            <a:cxnLst/>
            <a:rect l="l" t="t" r="r" b="b"/>
            <a:pathLst>
              <a:path w="394970" h="2662554">
                <a:moveTo>
                  <a:pt x="394588" y="0"/>
                </a:moveTo>
                <a:lnTo>
                  <a:pt x="394588" y="2662428"/>
                </a:lnTo>
              </a:path>
              <a:path w="394970" h="2662554">
                <a:moveTo>
                  <a:pt x="394588" y="1130808"/>
                </a:moveTo>
                <a:lnTo>
                  <a:pt x="0" y="1147064"/>
                </a:lnTo>
              </a:path>
            </a:pathLst>
          </a:custGeom>
          <a:ln w="12192">
            <a:solidFill>
              <a:srgbClr val="6F2F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16451" y="3199891"/>
            <a:ext cx="77076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dirty="0" sz="1800" spc="-3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date</a:t>
            </a:r>
            <a:r>
              <a:rPr dirty="0" sz="1800" spc="-4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dirty="0" sz="1800" spc="-30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time</a:t>
            </a:r>
            <a:r>
              <a:rPr dirty="0" sz="1800" spc="-3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variable</a:t>
            </a:r>
            <a:r>
              <a:rPr dirty="0" sz="1800" spc="-3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dirty="0" sz="1800" spc="-3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consist</a:t>
            </a:r>
            <a:r>
              <a:rPr dirty="0" sz="1800" spc="-6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dirty="0" sz="1800" spc="-20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date</a:t>
            </a:r>
            <a:r>
              <a:rPr dirty="0" sz="1800" spc="-4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dirty="0" sz="1800" spc="-3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time,</a:t>
            </a:r>
            <a:r>
              <a:rPr dirty="0" sz="1800" spc="-4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date</a:t>
            </a:r>
            <a:r>
              <a:rPr dirty="0" sz="1800" spc="-4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F2F9F"/>
                </a:solidFill>
                <a:latin typeface="Calibri"/>
                <a:cs typeface="Calibri"/>
              </a:rPr>
              <a:t>only,</a:t>
            </a:r>
            <a:r>
              <a:rPr dirty="0" sz="1800" spc="-45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dirty="0" sz="1800" spc="-30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F2F9F"/>
                </a:solidFill>
                <a:latin typeface="Calibri"/>
                <a:cs typeface="Calibri"/>
              </a:rPr>
              <a:t>time</a:t>
            </a:r>
            <a:r>
              <a:rPr dirty="0" sz="1800" spc="-40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F2F9F"/>
                </a:solidFill>
                <a:latin typeface="Calibri"/>
                <a:cs typeface="Calibri"/>
              </a:rPr>
              <a:t>only. </a:t>
            </a:r>
            <a:r>
              <a:rPr dirty="0" sz="1800" spc="-25" b="1">
                <a:solidFill>
                  <a:srgbClr val="6F2F9F"/>
                </a:solidFill>
                <a:latin typeface="Calibri"/>
                <a:cs typeface="Calibri"/>
              </a:rPr>
              <a:t>Ex: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4116451" y="3748532"/>
            <a:ext cx="644017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birth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person</a:t>
            </a:r>
            <a:endParaRPr sz="1800">
              <a:latin typeface="Calibri"/>
              <a:cs typeface="Calibri"/>
            </a:endParaRPr>
          </a:p>
          <a:p>
            <a:pPr marL="97853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10-12-</a:t>
            </a:r>
            <a:r>
              <a:rPr dirty="0" sz="1800">
                <a:latin typeface="Calibri"/>
                <a:cs typeface="Calibri"/>
              </a:rPr>
              <a:t>1995,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December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1995,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10th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December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1995.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football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match</a:t>
            </a:r>
            <a:endParaRPr sz="1800">
              <a:latin typeface="Calibri"/>
              <a:cs typeface="Calibri"/>
            </a:endParaRPr>
          </a:p>
          <a:p>
            <a:pPr marL="97853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11:30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am,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December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2021.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which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office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closes</a:t>
            </a:r>
            <a:endParaRPr sz="1800">
              <a:latin typeface="Calibri"/>
              <a:cs typeface="Calibri"/>
            </a:endParaRPr>
          </a:p>
          <a:p>
            <a:pPr marL="97853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3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5:00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pm.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96434" y="137236"/>
            <a:ext cx="22009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Data</a:t>
            </a:r>
            <a:r>
              <a:rPr dirty="0" sz="4000" spc="-200"/>
              <a:t> </a:t>
            </a:r>
            <a:r>
              <a:rPr dirty="0" sz="4000" spc="-55"/>
              <a:t>Types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68045" y="1507997"/>
            <a:ext cx="1233170" cy="367665"/>
          </a:xfrm>
          <a:prstGeom prst="rect">
            <a:avLst/>
          </a:prstGeom>
          <a:ln w="32004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29"/>
              </a:spcBef>
            </a:pPr>
            <a:r>
              <a:rPr dirty="0" sz="1800" b="1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dirty="0" sz="1800" spc="-6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025" y="2117598"/>
            <a:ext cx="1690370" cy="36766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dirty="0" sz="1800" b="1">
                <a:latin typeface="Calibri"/>
                <a:cs typeface="Calibri"/>
              </a:rPr>
              <a:t>Numerical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025" y="3074670"/>
            <a:ext cx="1800225" cy="36766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35"/>
              </a:spcBef>
            </a:pPr>
            <a:r>
              <a:rPr dirty="0" sz="1800" spc="-10" b="1">
                <a:latin typeface="Calibri"/>
                <a:cs typeface="Calibri"/>
              </a:rPr>
              <a:t>Categorical</a:t>
            </a:r>
            <a:r>
              <a:rPr dirty="0" sz="180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0025" y="3957065"/>
            <a:ext cx="2529840" cy="36893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latin typeface="Calibri"/>
                <a:cs typeface="Calibri"/>
              </a:rPr>
              <a:t>Date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0025" y="5202173"/>
            <a:ext cx="1690370" cy="367665"/>
          </a:xfrm>
          <a:prstGeom prst="rect">
            <a:avLst/>
          </a:prstGeom>
          <a:ln w="32003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35"/>
              </a:spcBef>
            </a:pP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Mixed</a:t>
            </a:r>
            <a:r>
              <a:rPr dirty="0" sz="1800" spc="-8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1436" y="1874520"/>
            <a:ext cx="149225" cy="3464560"/>
          </a:xfrm>
          <a:custGeom>
            <a:avLst/>
            <a:gdLst/>
            <a:ahLst/>
            <a:cxnLst/>
            <a:rect l="l" t="t" r="r" b="b"/>
            <a:pathLst>
              <a:path w="149225" h="3464560">
                <a:moveTo>
                  <a:pt x="3047" y="0"/>
                </a:moveTo>
                <a:lnTo>
                  <a:pt x="3047" y="425450"/>
                </a:lnTo>
                <a:lnTo>
                  <a:pt x="149097" y="425450"/>
                </a:lnTo>
              </a:path>
              <a:path w="149225" h="3464560">
                <a:moveTo>
                  <a:pt x="3047" y="268224"/>
                </a:moveTo>
                <a:lnTo>
                  <a:pt x="3047" y="1409318"/>
                </a:lnTo>
                <a:lnTo>
                  <a:pt x="144335" y="1409318"/>
                </a:lnTo>
                <a:lnTo>
                  <a:pt x="144335" y="1395349"/>
                </a:lnTo>
              </a:path>
              <a:path w="149225" h="3464560">
                <a:moveTo>
                  <a:pt x="0" y="1167383"/>
                </a:moveTo>
                <a:lnTo>
                  <a:pt x="0" y="2308479"/>
                </a:lnTo>
                <a:lnTo>
                  <a:pt x="139700" y="2308479"/>
                </a:lnTo>
                <a:lnTo>
                  <a:pt x="139700" y="2294509"/>
                </a:lnTo>
              </a:path>
              <a:path w="149225" h="3464560">
                <a:moveTo>
                  <a:pt x="0" y="2148840"/>
                </a:moveTo>
                <a:lnTo>
                  <a:pt x="0" y="3464179"/>
                </a:lnTo>
                <a:lnTo>
                  <a:pt x="141287" y="3464179"/>
                </a:lnTo>
                <a:lnTo>
                  <a:pt x="141287" y="3275965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41473" y="4585715"/>
            <a:ext cx="442595" cy="1937385"/>
          </a:xfrm>
          <a:custGeom>
            <a:avLst/>
            <a:gdLst/>
            <a:ahLst/>
            <a:cxnLst/>
            <a:rect l="l" t="t" r="r" b="b"/>
            <a:pathLst>
              <a:path w="442594" h="1937384">
                <a:moveTo>
                  <a:pt x="442087" y="0"/>
                </a:moveTo>
                <a:lnTo>
                  <a:pt x="442087" y="1937003"/>
                </a:lnTo>
              </a:path>
              <a:path w="442594" h="1937384">
                <a:moveTo>
                  <a:pt x="442087" y="822705"/>
                </a:moveTo>
                <a:lnTo>
                  <a:pt x="0" y="834516"/>
                </a:lnTo>
              </a:path>
            </a:pathLst>
          </a:custGeom>
          <a:ln w="12192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57169" y="4704715"/>
            <a:ext cx="88334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Mixed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type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variables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those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variables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have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either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numerical</a:t>
            </a:r>
            <a:r>
              <a:rPr dirty="0" sz="1800" spc="-3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dirty="0" sz="1800" spc="-5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categorical</a:t>
            </a:r>
            <a:r>
              <a:rPr dirty="0" sz="1800" spc="-6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CC"/>
                </a:solidFill>
                <a:latin typeface="Calibri"/>
                <a:cs typeface="Calibri"/>
              </a:rPr>
              <a:t>data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in</a:t>
            </a:r>
            <a:r>
              <a:rPr dirty="0" sz="1800" spc="-1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different</a:t>
            </a:r>
            <a:r>
              <a:rPr dirty="0" sz="1800" spc="-2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observations</a:t>
            </a:r>
            <a:r>
              <a:rPr dirty="0" sz="1800" spc="-4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exclusively</a:t>
            </a:r>
            <a:r>
              <a:rPr dirty="0" sz="1800" spc="-4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or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contain</a:t>
            </a:r>
            <a:r>
              <a:rPr dirty="0" sz="1800" spc="-4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numerical</a:t>
            </a:r>
            <a:r>
              <a:rPr dirty="0" sz="1800" spc="-2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dirty="0" sz="1800" spc="-4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categorical</a:t>
            </a:r>
            <a:r>
              <a:rPr dirty="0" sz="1800" spc="-5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data</a:t>
            </a:r>
            <a:r>
              <a:rPr dirty="0" sz="1800" spc="-1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in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 single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observations</a:t>
            </a:r>
            <a:r>
              <a:rPr dirty="0" sz="1800" spc="-6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dirty="0" sz="1800" spc="-2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dirty="0" sz="1800" spc="-2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CC"/>
                </a:solidFill>
                <a:latin typeface="Calibri"/>
                <a:cs typeface="Calibri"/>
              </a:rPr>
              <a:t>data</a:t>
            </a:r>
            <a:r>
              <a:rPr dirty="0" sz="1800" spc="-30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Calibri"/>
                <a:cs typeface="Calibri"/>
              </a:rPr>
              <a:t>column.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alibri"/>
                <a:cs typeface="Calibri"/>
              </a:rPr>
              <a:t>Ex: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3714750" y="5802274"/>
            <a:ext cx="79914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Calibri"/>
                <a:cs typeface="Calibri"/>
              </a:rPr>
              <a:t>Experience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1,2,3,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5.5,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6.8,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Fresher,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quantity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product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bought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customer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Kgs,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3Litres,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dozens,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77917" y="327406"/>
            <a:ext cx="28397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Interval</a:t>
            </a:r>
            <a:r>
              <a:rPr dirty="0" spc="-195"/>
              <a:t> </a:t>
            </a:r>
            <a:r>
              <a:rPr dirty="0" spc="-3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466" y="1549679"/>
            <a:ext cx="10963910" cy="4282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marR="259079" indent="-227329">
              <a:lnSpc>
                <a:spcPct val="119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Interval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builds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top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ordinal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data.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addition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ordering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values,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intervals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subsequent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are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same.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latin typeface="Calibri"/>
                <a:cs typeface="Calibri"/>
              </a:rPr>
              <a:t>Ex: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temperature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measured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degrees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Celsius: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difference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degree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  <a:spcBef>
                <a:spcPts val="1120"/>
              </a:spcBef>
            </a:pP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5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degrees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20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24: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it’s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degrees.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>
              <a:latin typeface="Calibri"/>
              <a:cs typeface="Calibri"/>
            </a:endParaRPr>
          </a:p>
          <a:p>
            <a:pPr algn="just" marL="239395" marR="143510" indent="-226695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Note</a:t>
            </a:r>
            <a:r>
              <a:rPr dirty="0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was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case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dirty="0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ordinal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data: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we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dirty="0" sz="20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say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difference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graduating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school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versus</a:t>
            </a:r>
            <a:r>
              <a:rPr dirty="0" sz="2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dirty="0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dirty="0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elementary</a:t>
            </a:r>
            <a:r>
              <a:rPr dirty="0" sz="20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school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same</a:t>
            </a:r>
            <a:r>
              <a:rPr dirty="0" sz="20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dirty="0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university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20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0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r>
              <a:rPr dirty="0" sz="20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school.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44617" y="326212"/>
            <a:ext cx="23082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Ratio</a:t>
            </a:r>
            <a:r>
              <a:rPr dirty="0" spc="-215"/>
              <a:t> </a:t>
            </a:r>
            <a:r>
              <a:rPr dirty="0" spc="-25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64691"/>
            <a:ext cx="10709910" cy="42037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Ratio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builds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top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interval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difference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ratio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type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variables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meaningful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zero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  <a:p>
            <a:pPr lvl="1" marL="697230" marR="581660" indent="-227965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400">
                <a:latin typeface="Calibri"/>
                <a:cs typeface="Calibri"/>
              </a:rPr>
              <a:t>Ex: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price,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length,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weight,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amount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something,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temperature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measured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Kelvin.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4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meaningful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zero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calculate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ratios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points: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4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apples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twice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much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2,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$5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half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expensive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$10.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case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interval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data: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case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temperature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measured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degrees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Celsius,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cannot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10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degrees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twice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warm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5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degrees.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Ratios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make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sense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scales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without</a:t>
            </a:r>
            <a:r>
              <a:rPr dirty="0" sz="2800" spc="-50">
                <a:latin typeface="Calibri"/>
                <a:cs typeface="Calibri"/>
              </a:rPr>
              <a:t> 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meaningful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zero.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107" rIns="0" bIns="0" rtlCol="0" vert="horz">
            <a:spAutoFit/>
          </a:bodyPr>
          <a:lstStyle/>
          <a:p>
            <a:pPr marL="55626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704" y="1717548"/>
            <a:ext cx="10960785" cy="33844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40"/>
              <a:t>Dr.</a:t>
            </a:r>
            <a:r>
              <a:rPr dirty="0"/>
              <a:t> </a:t>
            </a:r>
            <a:r>
              <a:rPr dirty="0" spc="-10"/>
              <a:t>Mallikharjuna</a:t>
            </a:r>
            <a:r>
              <a:rPr dirty="0" spc="-15"/>
              <a:t> </a:t>
            </a:r>
            <a:r>
              <a:rPr dirty="0"/>
              <a:t>Rao</a:t>
            </a:r>
            <a:r>
              <a:rPr dirty="0" spc="20"/>
              <a:t> </a:t>
            </a:r>
            <a:r>
              <a:rPr dirty="0" spc="-50"/>
              <a:t>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Mallikharjuna Rao K</dc:creator>
  <dc:title>DATA TYPES</dc:title>
  <dcterms:created xsi:type="dcterms:W3CDTF">2026-06-09T13:55:07Z</dcterms:created>
  <dcterms:modified xsi:type="dcterms:W3CDTF">2026-06-09T13:55:07Z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2025-07-03T00:00:00Z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2026-06-09T00:00:00Z</vt:filetime>
  </property>
  <property fmtid="{D5CDD505-2E9C-101B-9397-08002B2CF9AE}" pid="6" name="Producer">
    <vt:lpwstr>Microsoft® PowerPoint® 2019</vt:lpwstr>
  </property>
</Properties>
</file>