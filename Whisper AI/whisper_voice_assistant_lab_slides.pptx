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B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1B2E"/>
                </a:solidFill>
                <a:latin typeface="Calibri"/>
              </a:rPr>
              <a:t>Relative speed (higher is faster)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speed</c:v>
                </c:pt>
              </c:strCache>
            </c:strRef>
          </c:tx>
          <c:spPr>
            <a:solidFill>
              <a:srgbClr val="3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B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3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6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6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6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7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tiny</c:v>
                  </c:pt>
                  <c:pt idx="1">
                    <c:v>base</c:v>
                  </c:pt>
                  <c:pt idx="2">
                    <c:v>small</c:v>
                  </c:pt>
                  <c:pt idx="3">
                    <c:v>medium</c:v>
                  </c:pt>
                  <c:pt idx="4">
                    <c:v>large-v3</c:v>
                  </c:pt>
                  <c:pt idx="5">
                    <c:v>turbo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B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12700" cap="flat">
              <a:solidFill>
                <a:srgbClr val="E7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6A8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6A82"/>
                </a:solidFill>
                <a:latin typeface="Calibri"/>
              </a:rPr>
              <a:t>Example breakdown - students measure their 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3B3A6B"/>
            </a:solidFill>
            <a:effectLst/>
          </c:spPr>
          <c:invertIfNegative val="0"/>
          <c:dLbls>
            <c:numFmt formatCode="0.0&quot;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B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8A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7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Whisper
(speech to text)</c:v>
                  </c:pt>
                  <c:pt idx="1">
                    <c:v>LLM
(thinking)</c:v>
                  </c:pt>
                  <c:pt idx="2">
                    <c:v>TTS
(text to speech)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1.2</c:v>
                </c:pt>
                <c:pt idx="2">
                  <c:v>0.9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B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1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</c:scaling>
        <c:delete val="0"/>
        <c:axPos val="l"/>
        <c:majorGridlines>
          <c:spPr>
            <a:ln w="12700" cap="flat">
              <a:solidFill>
                <a:srgbClr val="E7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Set expectations: by the end of today everyone will have talked to their own laptop and had it answer out loud. Three models chained together, each one is short - the interesting work is what sits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happy path is trivial, which is exactly why this is good teaching material. All the learning is in the gaps between the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break points: after Part 2, which is a high point because their machine just understood them, and after Part 4. Run Part 5 in one uninterrupted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Weakly supervised training on web-scraped audio is the key idea - messy real-world data at enormous scale beat clean curated data at small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must measure this themselves in Exercise 2.1 rather than quoting this chart. Their noisy laptop numbers are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spectrogram plot from the notebook here. Point out harmonics during vowels, smeared noise for fricatives, and the flat padded region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students have already covered Transformers, this slide is a two-minute callback. If not, the takeaway is just: encoder reads audio, decoder writes text, attention connects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transferable idea in the lab: multitask behaviour selected by special tokens fed to the decoder. Same trick appears throughout modern multimodal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warn students before they run this. Let the surprise land - it is a rare chance to show a real model failing in a way that is nothing to do with a bug in their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one student read a markdown-formatted answer aloud verbatim, asterisks and all. It gets the point across faster than any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exercise is the text sanitiser. Unglamorous string work, and it is the difference between a demo that sounds finished and one that sounds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numbers are illustrative only - insist students plot their own timings. The optimisation menu at the end of Part 5 is ordered by payoff.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the line on criterion 3 - students paste the reference table instead of running their own benchmark because published numbers look more authoritative than their noisy laptop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 is the natural follow-on project - async pipelining on a problem where students can hear the improvement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051560"/>
            <a:ext cx="2377440" cy="2377440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691640"/>
            <a:ext cx="1097280" cy="109728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SPEECH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Voice Assistant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Whisper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your laptop. Have it talk back.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1847088" cy="420624"/>
          </a:xfrm>
          <a:prstGeom prst="roundRect">
            <a:avLst>
              <a:gd name="adj" fmla="val 47826"/>
            </a:avLst>
          </a:prstGeom>
          <a:solidFill>
            <a:srgbClr val="3B3A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9160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4709160"/>
            <a:ext cx="2871216" cy="420624"/>
          </a:xfrm>
          <a:prstGeom prst="roundRect">
            <a:avLst>
              <a:gd name="adj" fmla="val 47826"/>
            </a:avLst>
          </a:prstGeom>
          <a:solidFill>
            <a:srgbClr val="E08A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4709160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70448" y="4709160"/>
            <a:ext cx="3163824" cy="420624"/>
          </a:xfrm>
          <a:prstGeom prst="roundRect">
            <a:avLst>
              <a:gd name="adj" fmla="val 47826"/>
            </a:avLst>
          </a:prstGeom>
          <a:solidFill>
            <a:srgbClr val="2E7D7D"/>
          </a:solidFill>
          <a:ln/>
        </p:spPr>
      </p:sp>
      <p:sp>
        <p:nvSpPr>
          <p:cNvPr id="12" name="Text 10"/>
          <p:cNvSpPr/>
          <p:nvPr/>
        </p:nvSpPr>
        <p:spPr>
          <a:xfrm>
            <a:off x="5870448" y="4709160"/>
            <a:ext cx="31638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SYNTHESIS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guided lab   |   beginner to intermediate   |   ~6 hours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BUILD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one conversation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91640" y="228600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3B3A6B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3090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-&gt; 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28900" y="1965960"/>
            <a:ext cx="502920" cy="502920"/>
          </a:xfrm>
          <a:prstGeom prst="ellipse">
            <a:avLst/>
          </a:prstGeom>
          <a:solidFill>
            <a:srgbClr val="1C1B2E"/>
          </a:solidFill>
          <a:ln/>
        </p:spPr>
      </p:sp>
      <p:sp>
        <p:nvSpPr>
          <p:cNvPr id="8" name="Text 6"/>
          <p:cNvSpPr/>
          <p:nvPr/>
        </p:nvSpPr>
        <p:spPr>
          <a:xfrm>
            <a:off x="26289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3950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228600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E08A0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3090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-&gt; reply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20740" y="1965960"/>
            <a:ext cx="502920" cy="502920"/>
          </a:xfrm>
          <a:prstGeom prst="ellipse">
            <a:avLst/>
          </a:prstGeom>
          <a:solidFill>
            <a:srgbClr val="1C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9207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950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228600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2E7D7D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SYNTH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090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-&gt; speech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12580" y="1965960"/>
            <a:ext cx="502920" cy="502920"/>
          </a:xfrm>
          <a:prstGeom prst="ellipse">
            <a:avLst/>
          </a:prstGeom>
          <a:solidFill>
            <a:srgbClr val="1C1B2E"/>
          </a:solidFill>
          <a:ln/>
        </p:spPr>
      </p:sp>
      <p:sp>
        <p:nvSpPr>
          <p:cNvPr id="20" name="Text 18"/>
          <p:cNvSpPr/>
          <p:nvPr/>
        </p:nvSpPr>
        <p:spPr>
          <a:xfrm>
            <a:off x="92125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950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2962656"/>
            <a:ext cx="731520" cy="256032"/>
          </a:xfrm>
          <a:prstGeom prst="rightArrow">
            <a:avLst/>
          </a:prstGeom>
          <a:solidFill>
            <a:srgbClr val="6B6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7452360" y="2962656"/>
            <a:ext cx="731520" cy="256032"/>
          </a:xfrm>
          <a:prstGeom prst="rightArrow">
            <a:avLst/>
          </a:prstGeom>
          <a:solidFill>
            <a:srgbClr val="6B6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29443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74420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8920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about fifteen lines of code.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is about everything around them: rejecting silence, keeping conversation memory, shaping text so it sounds right spoken, and holding total latency under a second and a half.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day runs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F2F1F7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943100"/>
            <a:ext cx="457200" cy="457200"/>
          </a:xfrm>
          <a:prstGeom prst="ellipse">
            <a:avLst/>
          </a:prstGeom>
          <a:solidFill>
            <a:srgbClr val="6B6A82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8928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environment check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89280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F2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" y="2875788"/>
            <a:ext cx="457200" cy="457200"/>
          </a:xfrm>
          <a:prstGeom prst="ellipse">
            <a:avLst/>
          </a:prstGeom>
          <a:solidFill>
            <a:srgbClr val="6B6A82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28757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28254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audio 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82549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48456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F2F1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" y="3808476"/>
            <a:ext cx="457200" cy="457200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8084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37581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Whisper: the ears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7581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81144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F2F1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" y="4741164"/>
            <a:ext cx="457200" cy="45720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7411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81328" y="46908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brain: LLM + memory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6908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78308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F2F1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620256" y="1943100"/>
            <a:ext cx="457200" cy="457200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26" name="Text 24"/>
          <p:cNvSpPr/>
          <p:nvPr/>
        </p:nvSpPr>
        <p:spPr>
          <a:xfrm>
            <a:off x="6620256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42048" y="18928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mouth: text to speech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07040" y="189280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2715768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F2F1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620256" y="2875788"/>
            <a:ext cx="457200" cy="457200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6620256" y="28757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2048" y="28254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the loop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07040" y="282549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648456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F2F1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620256" y="3808476"/>
            <a:ext cx="457200" cy="457200"/>
          </a:xfrm>
          <a:prstGeom prst="ellipse">
            <a:avLst/>
          </a:prstGeom>
          <a:solidFill>
            <a:srgbClr val="6B6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620256" y="38084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42048" y="37581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Endpointing and wake words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607040" y="37581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4581144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F2F1F7"/>
          </a:solidFill>
          <a:ln/>
        </p:spPr>
      </p:sp>
      <p:sp>
        <p:nvSpPr>
          <p:cNvPr id="40" name="Shape 38"/>
          <p:cNvSpPr/>
          <p:nvPr/>
        </p:nvSpPr>
        <p:spPr>
          <a:xfrm>
            <a:off x="6620256" y="4741164"/>
            <a:ext cx="457200" cy="457200"/>
          </a:xfrm>
          <a:prstGeom prst="ellipse">
            <a:avLst/>
          </a:prstGeom>
          <a:solidFill>
            <a:srgbClr val="6B6A82"/>
          </a:solidFill>
          <a:ln/>
        </p:spPr>
      </p:sp>
      <p:sp>
        <p:nvSpPr>
          <p:cNvPr id="41" name="Text 39"/>
          <p:cNvSpPr/>
          <p:nvPr/>
        </p:nvSpPr>
        <p:spPr>
          <a:xfrm>
            <a:off x="6620256" y="47411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42048" y="46908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and submission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607040" y="46908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2 and 5 carry the weight. If you are running behind, compress Part 6 - never Part 2.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Whisper makes this possible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56432" cy="2788920"/>
          </a:xfrm>
          <a:prstGeom prst="roundRect">
            <a:avLst>
              <a:gd name="adj" fmla="val 2951"/>
            </a:avLst>
          </a:prstGeom>
          <a:solidFill>
            <a:srgbClr val="F2F1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680,000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training audio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100x the labelled data of the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benchmarks of its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9976" y="1828800"/>
            <a:ext cx="3456432" cy="2788920"/>
          </a:xfrm>
          <a:prstGeom prst="roundRect">
            <a:avLst>
              <a:gd name="adj" fmla="val 2951"/>
            </a:avLst>
          </a:prstGeom>
          <a:solidFill>
            <a:srgbClr val="F2F1F7"/>
          </a:solidFill>
          <a:ln/>
        </p:spPr>
      </p:sp>
      <p:sp>
        <p:nvSpPr>
          <p:cNvPr id="9" name="Text 7"/>
          <p:cNvSpPr/>
          <p:nvPr/>
        </p:nvSpPr>
        <p:spPr>
          <a:xfrm>
            <a:off x="4654296" y="2057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54296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54296" y="340156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and translation-into-English,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set of weights.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9872" y="1828800"/>
            <a:ext cx="3456432" cy="2788920"/>
          </a:xfrm>
          <a:prstGeom prst="roundRect">
            <a:avLst>
              <a:gd name="adj" fmla="val 2951"/>
            </a:avLst>
          </a:prstGeom>
          <a:solidFill>
            <a:srgbClr val="F2F1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2057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94192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required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94192" y="340156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accents, noise and bad microphones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out of the box.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open, free, and runs on a laptop CPU. Ten lines of code gets you a usable transcript - which is why we can spend the whole day on the hard parts instead.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sizes, one decision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943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828800"/>
            <a:ext cx="4663440" cy="1115568"/>
          </a:xfrm>
          <a:prstGeom prst="roundRect">
            <a:avLst>
              <a:gd name="adj" fmla="val 7377"/>
            </a:avLst>
          </a:prstGeom>
          <a:solidFill>
            <a:srgbClr val="F2F1F7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947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78040" y="22860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this lab. 74 M parameters,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140 MB, good balance for live use.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3127248"/>
            <a:ext cx="4663440" cy="1115568"/>
          </a:xfrm>
          <a:prstGeom prst="roundRect">
            <a:avLst>
              <a:gd name="adj" fmla="val 7377"/>
            </a:avLst>
          </a:prstGeom>
          <a:solidFill>
            <a:srgbClr val="F2F1F7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3246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turbo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78040" y="358444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Near-large accuracy at high speed.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only - it cannot translate.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4425696"/>
            <a:ext cx="4663440" cy="1115568"/>
          </a:xfrm>
          <a:prstGeom prst="roundRect">
            <a:avLst>
              <a:gd name="adj" fmla="val 7377"/>
            </a:avLst>
          </a:prstGeom>
          <a:solidFill>
            <a:srgbClr val="F2F1F7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4544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large-v3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78040" y="488289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accuracy, 1.5 B parameters.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viable real-time on a CPU.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.en variants beat their multilingual counterparts at English - they do not spend capacity on 97 other languages.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WHISPER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one: audio becomes a picture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F2F1F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one-dimensional array of numbers between minus one and one, sampled 16,000 times a second.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carries almost nothing useful above 8 kHz, so 16 kHz is plenty - and it keeps the model small.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3246120"/>
            <a:ext cx="566928" cy="274320"/>
          </a:xfrm>
          <a:prstGeom prst="rightArrow">
            <a:avLst/>
          </a:prstGeom>
          <a:solidFill>
            <a:srgbClr val="E08A00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0" y="1783080"/>
            <a:ext cx="4892040" cy="3200400"/>
          </a:xfrm>
          <a:prstGeom prst="roundRect">
            <a:avLst>
              <a:gd name="adj" fmla="val 2571"/>
            </a:avLst>
          </a:prstGeom>
          <a:solidFill>
            <a:srgbClr val="1C1B2E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log-Mel spectrogram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246888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of sound: 80 frequency bins by 3,000 time frames, always padded to exactly 30 seconds.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Mel scale spaces bins the way human hearing does. The log compresses loudness the way our ears 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166360"/>
            <a:ext cx="10927080" cy="960120"/>
          </a:xfrm>
          <a:prstGeom prst="roundRect">
            <a:avLst>
              <a:gd name="adj" fmla="val 8571"/>
            </a:avLst>
          </a:prstGeom>
          <a:solidFill>
            <a:srgbClr val="FDF3E0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5413248"/>
            <a:ext cx="457200" cy="45720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5285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clip is padded to 30 seconds - so a 2-second question costs exactly the same compute as a 25-second one. That is a real constraint when you are building for live conversation.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WHISPER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two: an encoder-decoder Transformer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1234440"/>
          </a:xfrm>
          <a:prstGeom prst="roundRect">
            <a:avLst>
              <a:gd name="adj" fmla="val 6667"/>
            </a:avLst>
          </a:prstGeom>
          <a:solidFill>
            <a:srgbClr val="F2F1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0312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3B3A6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0312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96596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convolutions downsample the spectrogram, then Transformer blocks with self-attention produce one vector per 20 ms of audio. Every position sees every other - the whole 30-second window at once.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927080" cy="1234440"/>
          </a:xfrm>
          <a:prstGeom prst="roundRect">
            <a:avLst>
              <a:gd name="adj" fmla="val 6667"/>
            </a:avLst>
          </a:prstGeom>
          <a:solidFill>
            <a:srgbClr val="F2F1F7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35204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E08A0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52044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text one token at a time, cross-attending to the encoder output. Standard autoregressive decoding, exactly like a translation model.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is not the clever part.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5138928"/>
            <a:ext cx="10927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same encoder-decoder Transformer as the original machine-translation model from 2017. What makes Whisper unusual is how the audio and the task get represented - which is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FOUR BEHAVIOURS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27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is chosen by a prompt,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by different weights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3B3A6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14600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7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&lt;|startoftranscript|&gt; </a:t>
            </a:r>
            <a:pPr indent="0" marL="0">
              <a:buNone/>
            </a:pPr>
            <a:r>
              <a:rPr lang="en-US" sz="1400" b="1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&lt;|en|&gt; </a:t>
            </a:r>
            <a:pPr indent="0" marL="0">
              <a:buNone/>
            </a:pPr>
            <a:r>
              <a:rPr lang="en-US" sz="1400" b="1" dirty="0">
                <a:solidFill>
                  <a:srgbClr val="6B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&lt;|transcribe|&gt; </a:t>
            </a:r>
            <a:pPr indent="0" marL="0">
              <a:buNone/>
            </a:pPr>
            <a:r>
              <a:rPr lang="en-US" sz="1400" dirty="0">
                <a:solidFill>
                  <a:srgbClr val="B9B7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&lt;|notimestamps|&gt;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quick brown fox ...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pPr indent="0" marL="0"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language token          </a:t>
            </a:r>
            <a:pPr indent="0" marL="0">
              <a:buNone/>
            </a:pPr>
            <a:r>
              <a:rPr lang="en-US" sz="1150" b="1" dirty="0">
                <a:solidFill>
                  <a:srgbClr val="6B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pPr indent="0" marL="0"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task token          the rest are formatting controls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A2842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4005072"/>
            <a:ext cx="310896" cy="310896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407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4754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&lt;|transcribe|&gt;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51023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 in the same language.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0712" y="374904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A2842"/>
          </a:solidFill>
          <a:ln/>
        </p:spPr>
      </p:sp>
      <p:sp>
        <p:nvSpPr>
          <p:cNvPr id="13" name="Shape 11"/>
          <p:cNvSpPr/>
          <p:nvPr/>
        </p:nvSpPr>
        <p:spPr>
          <a:xfrm>
            <a:off x="3666744" y="4005072"/>
            <a:ext cx="310896" cy="310896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66744" y="4407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66744" y="4754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&lt;|translate|&gt;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66744" y="51023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audio in, English text out. Same weights.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374904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A284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37376" y="4005072"/>
            <a:ext cx="310896" cy="310896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4407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language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7376" y="4754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omit &lt;|en|&gt;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37376" y="51023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the language token itself.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51976" y="374904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A2842"/>
          </a:solidFill>
          <a:ln/>
        </p:spPr>
      </p:sp>
      <p:sp>
        <p:nvSpPr>
          <p:cNvPr id="23" name="Shape 21"/>
          <p:cNvSpPr/>
          <p:nvPr/>
        </p:nvSpPr>
        <p:spPr>
          <a:xfrm>
            <a:off x="9208008" y="4005072"/>
            <a:ext cx="310896" cy="310896"/>
          </a:xfrm>
          <a:prstGeom prst="ellipse">
            <a:avLst/>
          </a:prstGeom>
          <a:solidFill>
            <a:srgbClr val="6B6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208008" y="4407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08008" y="4754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&lt;|notimestamps|&gt;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08008" y="51023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tokens interleaved with the words.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THAT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Whisper hallucinates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text from silence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it five seconds of nothing and it will often return a plausible sentence - frequently a subtitle-style artefact from its training data. For a voice assistant this is a real bug: the user says nothing, and the assistant answers a question that was never asked.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46304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2A2842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09560" y="2103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segment Whisper returns carries its own confidence signals. Filter on them.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no_speech_prob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9560" y="328269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own estimate that a segment has no speech at all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0956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avg_logprob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9560" y="44714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token confidence - catches gibberish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2.2 - students build the filter themselves, and tune the threshold for their own room.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for the ear, not the eye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27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habit an LLM has - markdown, bullet lists, long structured answers - is wrong when the output is spoken aloud.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6B6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ANSWER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2E7D7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488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ANSWER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927080" cy="566928"/>
          </a:xfrm>
          <a:prstGeom prst="rect">
            <a:avLst/>
          </a:prstGeom>
          <a:solidFill>
            <a:srgbClr val="F2F1F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43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- the reader can skim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2743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- the listener cannot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383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carries the structure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383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carry it: "first ... then ..."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566928"/>
          </a:xfrm>
          <a:prstGeom prst="rect">
            <a:avLst/>
          </a:prstGeom>
          <a:solidFill>
            <a:srgbClr val="F2F1F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233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Numerals and symbols are fine: 20%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40233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them out: "twenty percent"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efficient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6634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past three items are exhausting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10927080" cy="566928"/>
          </a:xfrm>
          <a:prstGeom prst="rect">
            <a:avLst/>
          </a:prstGeom>
          <a:solidFill>
            <a:srgbClr val="F2F1F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035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sentence can be re-read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53035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only - keep sentences short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08076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this is fixed in the system prompt - which makes it a very cheap lesson with a very audible payoff.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voice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27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trade-off you have now met three times: quality against latency, cloud against local.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F2F1F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2E7D7D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86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26700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web endpoint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7552" y="3282696"/>
            <a:ext cx="201168" cy="201168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10" name="Text 8"/>
          <p:cNvSpPr/>
          <p:nvPr/>
        </p:nvSpPr>
        <p:spPr>
          <a:xfrm>
            <a:off x="1353312" y="3200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natural sounding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87552" y="3813048"/>
            <a:ext cx="201168" cy="201168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12" name="Text 10"/>
          <p:cNvSpPr/>
          <p:nvPr/>
        </p:nvSpPr>
        <p:spPr>
          <a:xfrm>
            <a:off x="1353312" y="37307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internet on every reply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87552" y="4343400"/>
            <a:ext cx="201168" cy="201168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42611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0.5 to 1.5 s of network round-trip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87552" y="4873752"/>
            <a:ext cx="201168" cy="201168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16" name="Text 14"/>
          <p:cNvSpPr/>
          <p:nvPr/>
        </p:nvSpPr>
        <p:spPr>
          <a:xfrm>
            <a:off x="1353312" y="47914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for a demo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219456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F2F1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2194560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3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6601968" y="2286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pyttsx3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01968" y="26700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operating system's synthesiser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56832" y="3282696"/>
            <a:ext cx="201168" cy="201168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7022592" y="3200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but perfectly intelligible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56832" y="3813048"/>
            <a:ext cx="201168" cy="201168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7022592" y="37307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offline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56832" y="4343400"/>
            <a:ext cx="201168" cy="201168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7022592" y="42611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Near-instant, no network cost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56832" y="4873752"/>
            <a:ext cx="201168" cy="201168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7022592" y="47914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for a responsive loop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FDF3E0"/>
          </a:solidFill>
          <a:ln/>
        </p:spPr>
      </p:sp>
      <p:sp>
        <p:nvSpPr>
          <p:cNvPr id="30" name="Shape 28"/>
          <p:cNvSpPr/>
          <p:nvPr/>
        </p:nvSpPr>
        <p:spPr>
          <a:xfrm>
            <a:off x="896112" y="5742432"/>
            <a:ext cx="438912" cy="438912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" y="5742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17904" y="56692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you pick, strip the markdown first. A synthesiser will happily read asterisks and backticks aloud.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before you optimise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122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turn latency feels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12280" y="2286000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F2F1F7"/>
          </a:solidFill>
          <a:ln/>
        </p:spPr>
      </p:sp>
      <p:sp>
        <p:nvSpPr>
          <p:cNvPr id="7" name="Shape 4"/>
          <p:cNvSpPr/>
          <p:nvPr/>
        </p:nvSpPr>
        <p:spPr>
          <a:xfrm>
            <a:off x="7040880" y="2505456"/>
            <a:ext cx="256032" cy="256032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8" name="Text 5"/>
          <p:cNvSpPr/>
          <p:nvPr/>
        </p:nvSpPr>
        <p:spPr>
          <a:xfrm>
            <a:off x="7443216" y="23408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0.5 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006840" y="23408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 from a person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12280" y="3090672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F2F1F7"/>
          </a:solidFill>
          <a:ln/>
        </p:spPr>
      </p:sp>
      <p:sp>
        <p:nvSpPr>
          <p:cNvPr id="11" name="Shape 8"/>
          <p:cNvSpPr/>
          <p:nvPr/>
        </p:nvSpPr>
        <p:spPr>
          <a:xfrm>
            <a:off x="7040880" y="3310128"/>
            <a:ext cx="256032" cy="256032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12" name="Text 9"/>
          <p:cNvSpPr/>
          <p:nvPr/>
        </p:nvSpPr>
        <p:spPr>
          <a:xfrm>
            <a:off x="7443216" y="31455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0.5 - 1.5 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006840" y="31455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Natural. This is the target.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12280" y="3895344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F2F1F7"/>
          </a:solidFill>
          <a:ln/>
        </p:spPr>
      </p:sp>
      <p:sp>
        <p:nvSpPr>
          <p:cNvPr id="15" name="Shape 12"/>
          <p:cNvSpPr/>
          <p:nvPr/>
        </p:nvSpPr>
        <p:spPr>
          <a:xfrm>
            <a:off x="7040880" y="411480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6" name="Text 13"/>
          <p:cNvSpPr/>
          <p:nvPr/>
        </p:nvSpPr>
        <p:spPr>
          <a:xfrm>
            <a:off x="7443216" y="39502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1.5 - 3 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006840" y="3950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slow, still usable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12280" y="4700016"/>
            <a:ext cx="4754880" cy="685800"/>
          </a:xfrm>
          <a:prstGeom prst="roundRect">
            <a:avLst>
              <a:gd name="adj" fmla="val 12000"/>
            </a:avLst>
          </a:prstGeom>
          <a:solidFill>
            <a:srgbClr val="F2F1F7"/>
          </a:solidFill>
          <a:ln/>
        </p:spPr>
      </p:sp>
      <p:sp>
        <p:nvSpPr>
          <p:cNvPr id="19" name="Shape 16"/>
          <p:cNvSpPr/>
          <p:nvPr/>
        </p:nvSpPr>
        <p:spPr>
          <a:xfrm>
            <a:off x="7040880" y="4919472"/>
            <a:ext cx="256032" cy="256032"/>
          </a:xfrm>
          <a:prstGeom prst="ellipse">
            <a:avLst/>
          </a:prstGeom>
          <a:solidFill>
            <a:srgbClr val="B4443C"/>
          </a:solidFill>
          <a:ln/>
        </p:spPr>
      </p:sp>
      <p:sp>
        <p:nvSpPr>
          <p:cNvPr id="20" name="Text 17"/>
          <p:cNvSpPr/>
          <p:nvPr/>
        </p:nvSpPr>
        <p:spPr>
          <a:xfrm>
            <a:off x="7443216" y="4754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 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06840" y="4754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repeat themselves. Illusion broken.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5715000"/>
            <a:ext cx="10927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you assume is slow usually is not. Profile first, then choose: a smaller Whisper, a shorter token cap, offline TTS - or overlap the stages, which is the biggest win of all.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hand 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F2F1F7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011680"/>
            <a:ext cx="502920" cy="502920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completed notebook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TODO cells filled in, outputs saved.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9976" y="178308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F2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72584" y="2011680"/>
            <a:ext cx="502920" cy="5029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2584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audio 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72584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assistant answering a question, so it can be heard.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F2F1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011680"/>
            <a:ext cx="502920" cy="502920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half-page README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written answers.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questions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334256"/>
            <a:ext cx="201168" cy="20116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log-Mel spectrogram instead of the raw waveform?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82896"/>
            <a:ext cx="201168" cy="20116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754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size did you choose, and what measurement justifies it?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431536"/>
            <a:ext cx="201168" cy="20116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303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stage dominated your latency, and what would help most?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5980176"/>
            <a:ext cx="201168" cy="20116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5852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specific way your assistant fails, and how you would fix it.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78240" y="4114800"/>
            <a:ext cx="2788920" cy="2148840"/>
          </a:xfrm>
          <a:prstGeom prst="roundRect">
            <a:avLst>
              <a:gd name="adj" fmla="val 3830"/>
            </a:avLst>
          </a:prstGeom>
          <a:solidFill>
            <a:srgbClr val="1C1B2E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4297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9006840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across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criteria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006840" y="5715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bonus for a stretch challenge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2011680" cy="2011680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FINISH EARLY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27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one and make it work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2A284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04872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replies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speaking sentence one while the model writes sentence two. The biggest perceived-latency win there 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9976" y="2148840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2A2842"/>
          </a:solidFill>
          <a:ln/>
        </p:spPr>
      </p:sp>
      <p:sp>
        <p:nvSpPr>
          <p:cNvPr id="10" name="Shape 8"/>
          <p:cNvSpPr/>
          <p:nvPr/>
        </p:nvSpPr>
        <p:spPr>
          <a:xfrm>
            <a:off x="4654296" y="2404872"/>
            <a:ext cx="274320" cy="274320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11" name="Text 9"/>
          <p:cNvSpPr/>
          <p:nvPr/>
        </p:nvSpPr>
        <p:spPr>
          <a:xfrm>
            <a:off x="5038344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Whisper's detected language to answer in the language the user spoke.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2148840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2A2842"/>
          </a:solidFill>
          <a:ln/>
        </p:spPr>
      </p:sp>
      <p:sp>
        <p:nvSpPr>
          <p:cNvPr id="14" name="Shape 12"/>
          <p:cNvSpPr/>
          <p:nvPr/>
        </p:nvSpPr>
        <p:spPr>
          <a:xfrm>
            <a:off x="8394192" y="2404872"/>
            <a:ext cx="274320" cy="274320"/>
          </a:xfrm>
          <a:prstGeom prst="ellipse">
            <a:avLst/>
          </a:prstGeom>
          <a:solidFill>
            <a:srgbClr val="3B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tool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94192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timer, a clock, a unit converter. The bridge from chatbot to agent.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2A2842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233672"/>
            <a:ext cx="274320" cy="274320"/>
          </a:xfrm>
          <a:prstGeom prst="ellipse">
            <a:avLst/>
          </a:prstGeom>
          <a:solidFill>
            <a:srgbClr val="8C6BA8"/>
          </a:solidFill>
          <a:ln/>
        </p:spPr>
      </p:sp>
      <p:sp>
        <p:nvSpPr>
          <p:cNvPr id="19" name="Text 17"/>
          <p:cNvSpPr/>
          <p:nvPr/>
        </p:nvSpPr>
        <p:spPr>
          <a:xfrm>
            <a:off x="1298448" y="4160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Barge-in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user interrupt a reply mid-sentence. Fiddly, and it is what most makes it feel real.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79976" y="3977640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2A2842"/>
          </a:solidFill>
          <a:ln/>
        </p:spPr>
      </p:sp>
      <p:sp>
        <p:nvSpPr>
          <p:cNvPr id="22" name="Shape 20"/>
          <p:cNvSpPr/>
          <p:nvPr/>
        </p:nvSpPr>
        <p:spPr>
          <a:xfrm>
            <a:off x="4654296" y="4233672"/>
            <a:ext cx="274320" cy="274320"/>
          </a:xfrm>
          <a:prstGeom prst="ellipse">
            <a:avLst/>
          </a:prstGeom>
          <a:solidFill>
            <a:srgbClr val="2E7D7D"/>
          </a:solidFill>
          <a:ln/>
        </p:spPr>
      </p:sp>
      <p:sp>
        <p:nvSpPr>
          <p:cNvPr id="23" name="Text 21"/>
          <p:cNvSpPr/>
          <p:nvPr/>
        </p:nvSpPr>
        <p:spPr>
          <a:xfrm>
            <a:off x="5038344" y="4160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word error rate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54296" y="4663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clips, known transcripts, compare three model sizes properly.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19872" y="3977640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2A2842"/>
          </a:solidFill>
          <a:ln/>
        </p:spPr>
      </p:sp>
      <p:sp>
        <p:nvSpPr>
          <p:cNvPr id="26" name="Shape 24"/>
          <p:cNvSpPr/>
          <p:nvPr/>
        </p:nvSpPr>
        <p:spPr>
          <a:xfrm>
            <a:off x="8394192" y="4233672"/>
            <a:ext cx="274320" cy="27432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0" y="4160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voice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94192" y="4663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pyttsx3 for Piper or Coqui XTTS. Naturalness against install pain.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paper: Radford et al., 2022  |  faster-whisper  |  Silero VAD  |  openWakeWord  |  Piper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Voice Assistant with Whisper</dc:title>
  <dc:subject>PptxGenJS Presentation</dc:subject>
  <dc:creator>Voice &amp; Speech AI</dc:creator>
  <cp:lastModifiedBy>Voice &amp; Speech AI</cp:lastModifiedBy>
  <cp:revision>1</cp:revision>
  <dcterms:created xsi:type="dcterms:W3CDTF">2026-07-28T14:28:59Z</dcterms:created>
  <dcterms:modified xsi:type="dcterms:W3CDTF">2026-07-28T14:28:59Z</dcterms:modified>
</cp:coreProperties>
</file>